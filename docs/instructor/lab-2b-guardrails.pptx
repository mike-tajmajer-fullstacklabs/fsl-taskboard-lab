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2.b. The challenge in one breath: take the rule your group wrote last week and give it teeth — a hook that stops the agent while it writes, and a CI gate that stops anyone at merge time, both verified in both directions, with the unenforceable clauses honestly decided rather than quietly dropped. The interesting output today is not the hook — it is the list of things the hook could not check. ~1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The blocks sum to ~103 — the slack is deliberate; protect it for verification, which is the step people skip. Prereq check right now, in chat: "type 2A-DONE and HOOKS-DONE if both are true" — anyone missing either follows along on the shared screen for the build sections and catches up async per the handout (Slack for 1:1 help; Meet chat has no DMs). Assessment disclosure: same rubric, and today's hook or gate is also the Framework Practitioner artifact.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Fast. The only new idea is the last bullet — the premise of the block. Today REVISITS the 2.a NFR: the residue decisions recorded this session update that same document, not a new one.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Industry consensus, not our opinion — say so. The phrase to land: "model-independent governance." Connect to their own interview complaints about the agent being a yes-man and ignoring stated patterns — this is the failure mode it addresses.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honesty about this repo matters — it models the behaviour we want. Note the build framing precisely: layers 1–2 plus one layer-4 gate; a governance doc that overstates its own coverage is the failure mode. Layer 5 is not a gap in the others — it is what makes them credible.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Everyone, together, five minutes. This is the honest answer to "no restore points" and "it did something I did not expect" — the cheapest guardrail with the largest payoff, in every repo they own tomorrow. Teach ask-vs-deny while they type: deny the unrecoverable, ask the annoying — if everything asks, people stop reading, which is prompt fatigue and it kills the layer. Remote verification: "paste the refusal line Claude gave you into chat" — and the paste-over-the-file failure shows up as "seed.json rule gone"; the handout has the before-state and names settings.local.json.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message structure is the teaching point: BLOCKED / Why / Instead / Done means. A guardrail that only says no makes the agent guess, and it guesses creatively. Four lines turn a refusal into a redirection.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material for most of the room. The nudge shape (PostToolUse + exit 2) is genuinely useful and almost nobody knows it: the edit lands, and Claude is told to fix it. Name the taxonomy refinement explicitly — mechanical, PARTLY, fuzzy — because their 2.a lists were binary and the middle bucket is where their hook will live.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 on this in the exercise. The usual death of a guardrail is not failing to block — it is blocking something legitimate on day three, getting disabled, and taking the layer with it. The evidence standard matters: a claim without the refusal text is not verified.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senior idea in the block. The bypass rate is a signal about the RULE, not about discipline — if people constantly go around it, the rule is mis-scoped. That reframe lands well with leads.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Sanitised exemplar — no client, product, or domain detail; if asked, "another engagement." The proportion is the insight: nine validators sounds heavy until you see the bypass is a single comment convention.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seconds; it collapses a distinction people assume exists. If the room heads toward "we need an AI policy", the answer is: you need an NFR, and you wrote one last week.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Two instructions: build along in your own copy as I go, and watch where the time goes — I will spend more time verifying than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demo AGAINST this slide — call the step number as you go so anyone who drops can rejoin; on Meet nobody can glance at a neighbour's screen. COMMON QUESTIONS — Q: "Why three layers for one rule?" A: they fail differently — the line informs a reader, the deny stops the common case cheaply, the hook explains itself when it fires; you will not always build all three. Q: "My settings.json already has a hooks block — another one?" A: no — add a second entry to the EXISTING PreToolUse array (the handout shows the merged shape). Q: "Does the hook slow every edit?" A: it runs per matched tool call, milliseconds; if a hook is slow, that is the hook's fault, not the mechanism. Q: "Hook never fires?" A: nine times in ten, no new session — hooks load at session start; the rest: matcher or path normalisation (Windows backslashes).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parallel to the exhibit they just read — the shape is the point, not this rule. Make the two-rules distinction explicitly; the review agent flagged it as the most likely novice confusion of the block.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it live if the room is comfortable; paste if behind. Say the Windows path normalisation out loud — it is the bug every group hits and why the hook is Node, not shell. Then register it together and restart sessions — the forgotten-restart is the "my hook never fires" stuck point.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 and say why: this is the step people skip. Both tests visibly. If your own hook false-positives live, that is a gift — work it through on the shared screen.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Chat is the room-walk: refusal texts land where you can read them, and silence from a name is your signal to check in (Slack, not the whole call). Common failure: a path check that also catches db.json.example or a test fixture. Fast finishers: read protect-seed.js and diff the two hooks' messages.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minutes, no hands-on. Why it is here: their real world is SQL Server and stored procedures, and the pattern they just built on a JSON file needs to visibly transfer. The false-positive row is the most valuable one — it is the PARTLY tag from the severity slide, in the wild. The takeaway card now carries a SECOND worked example ("all backends must use SQLite" — ADR for the why, NFR for the must + CI dependency scan, deny rule on npm install pg*), whose org-wide reach also previews the hand-off two slides from now. Point at it; do not teach it.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Remote circulation = one whole-call chat nudge at ~7 min ("what does your allow case replay?" — no answer means verification is about to be skipped) + Slack for 1:1s. WHAT EACH TRACK BUILDS (rescue detail in the teachers guide, never on screen): test-discipline = PostToolUse nudge when an edited server/src *.ts has no sibling *.test.ts; store-boundary = PreToolUse block when a written file outside repositories/ contains an import of db/store. COMMON QUESTIONS — Q: "My clause is fuzzy — what do I build?" A: build the mechanical core of your list instead, and your fuzzy clause becomes a residue decision; nobody builds nothing. Q: "Block or nudge for mine?" A: run the PARTLY test — if your check can false-positive, nudge; write the reason down either way. Q: "Do I need the hook AND the gate?" A: yes — different audiences: the hook stops the agent, the gate stops anyone. ~15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Gate hard here: the CI-gate step depends on the clause being genuinely mechanical, which this checkpoint proves. Fast finishers: the policy-bundle stretch, or offer an allow-case replay to whoever asks in Slack.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THE GOTCHA that will eat this step remotely: the gate runs on pull_request — a student who commits to their branch and waits will conclude it does not work. Say it before they start: push, open a draft PR, watch the check. CONCRETE CORES (rescue detail; guide has the code): test-discipline = fail if the PR diff touches server/src/** with no *.test.ts in the diff; store-boundary = fail if grep finds db/store imports outside repositories/. The docs-only-PR question is where block-vs-warn becomes real — do not answer it for them. Residue is an acceptance criterion: "the test must have failed first" needs a named owner or an explicit drop, back in the 2.a NFR. 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and satisfying: the reviewer quoting their own NFR back at them is the moment governance stops being paperwork. The giget fallback matters — copies made before Jul 29 lack the agents folder. COMMON QUESTIONS — Q: "How do I run it?" A: ask Claude to "review my branch with the taskboard-code-reviewer agent", or @-mention the agent; it reads CLAUDE.md, then your docs, then the diff. Q: "It did not cite my NFR." A: check your doc is in its process list AND your clause applies to something in the diff — a reviewer with nothing to catch cites nothing. Q: "Report in chat?" A: paste one finding that cites your standard — that is the loop-closing moment, share it. ~4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hardest on the residue question — it reveals whether the lesson landed. A group with an empty residue column has either a trivial rule or has not looked. ~10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minutes; framing over content. The guide is written for a team new to governance — it opens with the four terms, Crawl is one person's afternoon, and every tool option carries its trap named. Callback: this handout reached you as one canonical repo plus a pointer — crawl — and giget if you ran it, most of walk. Done = the template filled: rung, FIRST MOVE, and an owner who is a person. The two fields people skip are Owner and Not-doing-yet, and they are the two that matter. "We will decide later" is the only answer that costs more than acting. ~3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[CALIBRATED from Lab 1.b, 2026-08-12: agenda held · checkpoint gates worked · keep as built] Close on the deny/ask list — the thing every person applies tomorrow regardless of how far they got. Read the ship checklist as one list; it mirrors the handout exactly. Retro as a chat waterfall: type, hold, 3-2-1 send. COPY THE CHAT BEFORE ENDING THE CALL — Meet deletes it, and the refusal texts + retro lines feed the capture entry. INSTRUCTOR, within 24h: file the lab-capture entry (AI-Transformation-Playbook/04-labs/lab-capture-template.md) — outcomes, stuck points, timings, Format B observations. ~5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Arial"/>
              </a:rPr>
              <a:t>Guardrails, and Making Standards Travel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CCD9FF"/>
                </a:solidFill>
                <a:latin typeface="Arial"/>
              </a:rPr>
              <a:t>Lab 2.b — making a written rule refuse to be violated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A9B7F7"/>
                </a:solidFill>
                <a:latin typeface="Arial"/>
              </a:rPr>
              <a:t>FSL AI Training · Phase 1 · Week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Two hours, hands-on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5506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8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04772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Recap + 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2306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You have documents. Nothing enforces them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29967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130551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08026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Warm-up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098548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The five-minute guardrail everyone leaves with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05456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606040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19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555748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Layers &amp; severity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574036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Where enforcement lives; block vs nudge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80944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081527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19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031236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Demo — build along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049524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One guardrail, verified, in YOUR copy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456432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557016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34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3506724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Your clause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525012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Hook → CI gate → reviewer, each checkpointed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931920"/>
            <a:ext cx="80467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032504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10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3982211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000500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False positives, bypasses, residue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407408"/>
            <a:ext cx="8046720" cy="4114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507992"/>
            <a:ext cx="8686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8 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445770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3135E"/>
                </a:solidFill>
                <a:latin typeface="Arial"/>
              </a:rPr>
              <a:t>Hand-off, wrap &amp; retro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4475988"/>
            <a:ext cx="4069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666666"/>
                </a:solidFill>
                <a:latin typeface="Arial"/>
              </a:rPr>
              <a:t>The sixth artifact; reflect; capture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Where 2.a left 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One sentence: you wrote the law, and there is no police force.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 have an ADR.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store boundary has a recorded reason.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 have an NFR you derived. </a:t>
            </a:r>
            <a:r>
              <a:rPr sz="1250" b="0">
                <a:solidFill>
                  <a:srgbClr val="434343"/>
                </a:solidFill>
                <a:latin typeface="Arial"/>
              </a:rPr>
              <a:t>With per-clause checks — and the unenforceable clauses marked.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Both are wired into CLAUDE.md. </a:t>
            </a:r>
            <a:r>
              <a:rPr sz="1250" b="0">
                <a:solidFill>
                  <a:srgbClr val="434343"/>
                </a:solidFill>
                <a:latin typeface="Arial"/>
              </a:rPr>
              <a:t>Trigger rows + a binding line.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And nothing enforces any of it. </a:t>
            </a:r>
            <a:r>
              <a:rPr sz="1250" b="0">
                <a:solidFill>
                  <a:srgbClr val="434343"/>
                </a:solidFill>
                <a:latin typeface="Arial"/>
              </a:rPr>
              <a:t>That is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PREMISE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7863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800" b="1">
                <a:solidFill>
                  <a:srgbClr val="13135E"/>
                </a:solidFill>
                <a:latin typeface="Arial"/>
              </a:rPr>
              <a:t>The model layer cannot be the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Arial"/>
              </a:rPr>
              <a:t>Models are non-deterministic and persuadable. A rule in CLAUDE.md holds most of the time and fails exactly when someone asks for something reasonable-sounding that violates it. Three words for the rest of the block: a GUARDRAIL is any deterministic mechanism — permission rule, hook, CI check — that refuses a violation instead of describing one. A HOOK is an interception point before or after a consequential action. A POLICY is the deterministic rule evaluated against it. Because the check does not depend on which model ran, it survives a model upgrade.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Five layers of enforcement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Each layer catches a different audience. You need fewer than five — but know which.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08940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Where it lives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08940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Holds against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1 Instruction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377440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CLAUDE.md, docs behind a trigger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377440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Nothing reliably — it informs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2 Client-side deterministic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2761488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.claude/settings.json permissions + hooks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2761488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agent, at authoring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3 Commit-time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145536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git hooks, commit lint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3145536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Anyone committing locally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529584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workflows, static analysis, custom validators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3529584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Anyone merging — agent or human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913631"/>
            <a:ext cx="173736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3913631"/>
            <a:ext cx="30175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written escape hatch with a named approver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3913631"/>
            <a:ext cx="27432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Nothing — it keeps 1–4 honest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This repo ships guardrails only at layers 1–2 (its CI runs lint and tests, but no governance gate yet). Today you build in 1–2 and wire ONE layer-4 gate so you feel what it costs. Layers 3 and 5 are taught, not built.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WARM-UP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five-minute guardrail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Three verdicts, not two: allow (silent), ask (stop and check), deny (never). The middle one is the one teams forget.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8046720" cy="220370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41148" cy="22037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635240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"permissions": 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"ask":  ["Bash(rm *)"],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"deny": 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"Edit(server/data/seed.json)",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"Write(server/data/seed.json)",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"Bash(rm -rf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push --force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reset --hard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"Bash(git clean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"Bash(npm publish *)",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  "Bash(curl * | bash)"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  ]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  }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00" b="0">
                <a:solidFill>
                  <a:srgbClr val="434343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9392"/>
            <a:ext cx="78638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MERGE, never paste: the first two deny entries are ALREADY in your file, shown so you see where yours go — and your hooks block must survive. The handout shows the before/after. Then: ask Claude to force-push, watch it refuse; confirm seed.json is still protected.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72821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999999"/>
                </a:solidFill>
                <a:latin typeface="Arial"/>
              </a:rPr>
              <a:t>.claude/settings.json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hook already in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Read this hook before you write yours — particularly its message.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DEFENSE IN DEPTH,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Don't line in CLAUDE.md.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permissions.deny entry.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 PreToolUse hook.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All three name the same path and the same fix.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.CLAUDE/HOOKS/PROTECT-SEED.JS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console.error([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'BLOCKED: Modifying seed.json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is not allowed.',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'Why: it is the canonical reset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baseline every lab depends on.',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'Instead: change data via the API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or db.json, then reset-db.',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'Done means: seed.json has no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 diff.',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].join('\n'));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process.exit(2);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SEVERITY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Block or nudge? Decide, do not default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event you register on, plus the exit code, IS the severity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89404"/>
            <a:ext cx="3474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exit 2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2089404"/>
            <a:ext cx="29260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Use it for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PreToolUse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377440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BLOCKS the call. stderr goes to Claude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377440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Unrecoverable or unambiguous violations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PostToolUse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761488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Cannot block — the tool already ran — but stderr still reaches 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761488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Heuristic rules; things you should not interrupt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exit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145536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Allows, silently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145536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99% case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29584"/>
            <a:ext cx="10972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any other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3529584"/>
            <a:ext cx="34747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Non-blocking; the user sees a hook-error notice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3529584"/>
            <a:ext cx="29260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Almost never on purpose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986783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This adds a third tag to 2.a's mechanical/fuzzy: PARTLY — checkable by heuristic, with false positives. That middle case is exactly what nudges are for. Not every guardrail should block: a gate that fires on legitimate work teaches people to route around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An unverified guardrail is a belief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procedure, concretely — the 1.b PR on your prep list is the allow case.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BLOCKS THE BAD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Claude to do the violation on purpose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Save the refusal text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That text is your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ALLOWS THE GOOD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Replay your Lab 1.b change through it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The hook must stay silent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This is the half everyone skips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STAYS TRUE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Re-verify after every narrowing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Fixing a false positive often reopens the hole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Both directions, every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Evidence standard: paste the refusal text into your PR description. That is what "demonstrated in a live agent run" means.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bypass you write 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layer that makes the other four honest.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There is always one. </a:t>
            </a:r>
            <a:r>
              <a:rPr sz="1250" b="0">
                <a:solidFill>
                  <a:srgbClr val="434343"/>
                </a:solidFill>
                <a:latin typeface="Arial"/>
              </a:rPr>
              <a:t>A label, a commit trailer, an APPROVED- comment, a person with merge rights.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Undocumented bypasses are the real hole. </a:t>
            </a:r>
            <a:r>
              <a:rPr sz="1250" b="0">
                <a:solidFill>
                  <a:srgbClr val="434343"/>
                </a:solidFill>
                <a:latin typeface="Arial"/>
              </a:rPr>
              <a:t>Not the missing gate — the escape hatch nobody wrote down.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Name the approver. </a:t>
            </a:r>
            <a:r>
              <a:rPr sz="1250" b="0">
                <a:solidFill>
                  <a:srgbClr val="434343"/>
                </a:solidFill>
                <a:latin typeface="Arial"/>
              </a:rPr>
              <a:t>"APPROVED-X: &lt;reason + who&gt;" beats a silent override every time.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Count how often it is used. </a:t>
            </a:r>
            <a:r>
              <a:rPr sz="1250" b="0">
                <a:solidFill>
                  <a:srgbClr val="434343"/>
                </a:solidFill>
                <a:latin typeface="Arial"/>
              </a:rPr>
              <a:t>A bypass fired weekly is a rule that is wrong, not a team that is lax.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LAYERS 3–5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Taught today, built at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A mature corpus we know runs all five — including four custom static-analysis rule files and nine merge-blocking validators.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645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089404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it looks like at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089404"/>
            <a:ext cx="20116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Today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3 Commit-time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377440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commit lint, pre-commit checks on staged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377440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Taught 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61488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761488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custom static-analysis rules, spec lint, merge-blocking validators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61488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You wire ONE, in your copy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45536"/>
            <a:ext cx="164592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3145536"/>
            <a:ext cx="384048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APPROVED- comments with named sign-off, plus telemetry on fire/bypass rates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145536"/>
            <a:ext cx="201167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You document 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02736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Their layer 5 is one comment convention — the smallest thing on the list, and what keeps the other four trustworthy. Governance is not volume.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THE META-CASE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7863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800" b="1">
                <a:solidFill>
                  <a:srgbClr val="13135E"/>
                </a:solidFill>
                <a:latin typeface="Arial"/>
              </a:rPr>
              <a:t>Rules about AI are just rules.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434343"/>
                </a:solidFill>
                <a:latin typeface="Arial"/>
              </a:rPr>
              <a:t>The same corpus governs its own AI agent with an NFR — numbered MUST clauses, a thresholds table, and per-clause verification methods, covering human confirmation on destructive operations, masking sensitive data before it reaches a model, and structured output validation. There is no separate discipline for governing AI. It is the artifact you wrote last week, pointed at a new subject.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392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48840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Demo — build along, one guardrail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7180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CCD9FF"/>
                </a:solidFill>
                <a:latin typeface="Arial"/>
              </a:rPr>
              <a:t>The read-only database rule, in YOUR copy. Watch the verify step, not the code.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Seven steps — build along 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Steps 6 and 7 are the ones that matter — an unverified guardrail is a belief. Full walkthrough with the code: docs/labs/lab-2b-demo-walkthrough.md.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2743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089404"/>
            <a:ext cx="292607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we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089404"/>
            <a:ext cx="4297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What you should see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8046720" cy="34094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40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377440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npm run reset-db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377440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db.json exists (it is generated and git-ignored)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63516"/>
            <a:ext cx="8046720" cy="3409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718380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718380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Add the Don't line to CLAUDE.md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718380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Layer 1: "db.json is generated — change data via the API or a reset"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04457"/>
            <a:ext cx="8046720" cy="34094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59321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59321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Add the deny entries to settings.json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059321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Layer 2a: Edit/Write(server/data/db.json) in the existing deny array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45397"/>
            <a:ext cx="8046720" cy="3409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400261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400261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Write the hook: .claude/hooks/protect-db.js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6240" y="3400261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Layer 2b: the 20 lines on the next slide — BLOCKED/Why/Instead/Done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686338"/>
            <a:ext cx="8046720" cy="34094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741202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3741202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Register it; start a NEW session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3741202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settings.json hooks block gains the entry; hooks load at session start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027278"/>
            <a:ext cx="8046720" cy="3409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082142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4082142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Verify the BLOCK: ask Claude to edit db.json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06240" y="4082142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Refusal text — save it; confirm the file is untouched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368219"/>
            <a:ext cx="8046720" cy="34094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423083"/>
            <a:ext cx="27432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1">
                <a:solidFill>
                  <a:srgbClr val="13135E"/>
                </a:solidFill>
                <a:latin typeface="Arial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4423083"/>
            <a:ext cx="2926079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Verify the ALLOW: edit a repositories/ file; npm test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4423083"/>
            <a:ext cx="4297680" cy="24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00" b="0">
                <a:solidFill>
                  <a:srgbClr val="434343"/>
                </a:solidFill>
                <a:latin typeface="Arial"/>
              </a:rPr>
              <a:t>No refusal, no noise, suite green — then document the bypass in CLAUDE.md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Read-only database unless approved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The same three-layer shape as the seed guard, on a new subject — built along with 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First: </a:t>
            </a:r>
            <a:r>
              <a:rPr sz="1250" b="0">
                <a:solidFill>
                  <a:srgbClr val="434343"/>
                </a:solidFill>
                <a:latin typeface="Arial"/>
              </a:rPr>
              <a:t>`npm run reset-db` — db.json is generated and git-ignored, so a fresh copy does not have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rule. </a:t>
            </a:r>
            <a:r>
              <a:rPr sz="1250" b="0">
                <a:solidFill>
                  <a:srgbClr val="434343"/>
                </a:solidFill>
                <a:latin typeface="Arial"/>
              </a:rPr>
              <a:t>`db.json` gets changed through the API or a reset — not edited directly.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Not the same rule as 2.a's.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store boundary is about *imports* (`db/store.ts`); this is about *editing a file*. Same family, two rules — today's hook enforces this one.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Three layers, again. </a:t>
            </a:r>
            <a:r>
              <a:rPr sz="1250" b="0">
                <a:solidFill>
                  <a:srgbClr val="434343"/>
                </a:solidFill>
                <a:latin typeface="Arial"/>
              </a:rPr>
              <a:t>A Don't line → a `permissions.deny` entry → a PreToolUse hook that explains itself.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THE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Twenty lines, no dependencies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Node, cross-platform, no packages. Half this room is on Windows.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8046720" cy="220370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41148" cy="22037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635240" cy="1947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const path = filePath.replaceAll('\\', '/');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if (path.endsWith('server/data/db.json')) {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console.error([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'BLOCKED: db.json is generated, not edited.',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'Why: hand-edits are lost on the next reset and',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  are invisible to everyone else.',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'Instead: change data through the API, or edit',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  seed.json via PR and run npm run reset-db.',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'Done means: your data change survives a reset.',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].join('\n'));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process.exit(2);   // PreToolUse -&gt; blocks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}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process.exit(0);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79392"/>
            <a:ext cx="78638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Registered on PreToolUse for Edit|Write — registration JSON is in the handout, and a NEW session is needed after registering: hooks load at session start.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72821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999999"/>
                </a:solidFill>
                <a:latin typeface="Arial"/>
              </a:rPr>
              <a:t>.claude/hooks/protect-db.js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DEMO · VERIFY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Both directions, then the bypass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is the part of the demo worth your attention.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BLOCKS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Claude to edit db.json directly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Refusal message is useful, not just "no"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Confirm it did NOT touch the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0504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70504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3384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ALLOWS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3384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Ask it to edit a file in server/src/repositories/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 refusal, no noise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npm test — still green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2368" y="2103120"/>
            <a:ext cx="2602992" cy="2011680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2368" y="2103120"/>
            <a:ext cx="2602992" cy="4114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5248" y="2286000"/>
            <a:ext cx="2237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BYPASS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5248" y="2816352"/>
            <a:ext cx="2237232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Documented in CLAUDE.md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Instructor approval, via PR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00" b="1">
                <a:solidFill>
                  <a:srgbClr val="A9B7F7"/>
                </a:solidFill>
                <a:latin typeface="Arial"/>
              </a:rPr>
              <a:t>•  </a:t>
            </a:r>
            <a:r>
              <a:rPr sz="1000" b="0">
                <a:solidFill>
                  <a:srgbClr val="434343"/>
                </a:solidFill>
                <a:latin typeface="Arial"/>
              </a:rPr>
              <a:t>Not "disable the hook"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61104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6666"/>
                </a:solidFill>
                <a:latin typeface="Arial"/>
              </a:rPr>
              <a:t>If the allow case fails, the guardrail is worse than nothing — it now blocks work, and someone will remove it by Friday.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In YOUR copy: Claude is refused when it edits server/data/db.json, and succeeds when it edits a file in server/src/repositories/.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Paste your refusal text into chat. If you only tested the block, you have not finished — run the allow case now.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same pattern, somewhere you will recognise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Illustration, not today's exercise. A rule most teams have written down and almost nobody checks.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8046720" cy="310896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89404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89404"/>
            <a:ext cx="58521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Applied to a stored-procedure convention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22576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1 Instruction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377440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One line: parameters only — never concatenate into executable SQL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06624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61488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2 Client-side deterministic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761488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 hook inspecting the CONTENT of the .sql being written, not just the path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0672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45536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4 CI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145536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same rule module, run again at merge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74720"/>
            <a:ext cx="80467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29584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5 Documented bypass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529584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APPROVED-DYNAMIC-SQL: &lt;reason + reviewer&gt;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58768"/>
            <a:ext cx="8046720" cy="384048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13631"/>
            <a:ext cx="1828800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13135E"/>
                </a:solidFill>
                <a:latin typeface="Arial"/>
              </a:rPr>
              <a:t>The honest part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3913631"/>
            <a:ext cx="5852159" cy="29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50" b="0">
                <a:solidFill>
                  <a:srgbClr val="434343"/>
                </a:solidFill>
                <a:latin typeface="Arial"/>
              </a:rPr>
              <a:t>The check has real false positives — a static parameterised sp_executesql is fine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315968"/>
            <a:ext cx="78638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66666"/>
                </a:solidFill>
                <a:latin typeface="Arial"/>
              </a:rPr>
              <a:t>Takeaway card: docs/best-practices/enforcing-a-convention.md works the whole shape through — including the clauses no gate can decide. Independent follow-up; office hours supports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1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hook — enforce what you wrote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Fifteen minutes. The plumbing is given; the policy is yours — test-discipline group: the sibling-test nudge. Store-boundary group: the import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Your 2.a clause, revisited. </a:t>
            </a:r>
            <a:r>
              <a:rPr sz="1250" b="0">
                <a:solidFill>
                  <a:srgbClr val="434343"/>
                </a:solidFill>
                <a:latin typeface="Arial"/>
              </a:rPr>
              <a:t>The residue decisions you record today update that same NFR.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Start from the skeleton. </a:t>
            </a:r>
            <a:r>
              <a:rPr sz="1250" b="0">
                <a:solidFill>
                  <a:srgbClr val="434343"/>
                </a:solidFill>
                <a:latin typeface="Arial"/>
              </a:rPr>
              <a:t>`docs/labs/snippets/hook-skeleton.js` → `.claude/hooks/check-convention.js`; delete the two example rules; put yours in.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Register it, then NEW session. </a:t>
            </a:r>
            <a:r>
              <a:rPr sz="1250" b="0">
                <a:solidFill>
                  <a:srgbClr val="434343"/>
                </a:solidFill>
                <a:latin typeface="Arial"/>
              </a:rPr>
              <a:t>The settings JSON is in the handout — matcher, event, `$CLAUDE_PROJECT_DIR`. Hooks load at session start.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Choose the severity on purpose. </a:t>
            </a:r>
            <a:r>
              <a:rPr sz="1250" b="0">
                <a:solidFill>
                  <a:srgbClr val="434343"/>
                </a:solidFill>
                <a:latin typeface="Arial"/>
              </a:rPr>
              <a:t>PreToolUse blocks; PostToolUse nudges. If your clause is PARTLY, nudge — and write down why.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Verify both directions. </a:t>
            </a:r>
            <a:r>
              <a:rPr sz="1250" b="0">
                <a:solidFill>
                  <a:srgbClr val="434343"/>
                </a:solidFill>
                <a:latin typeface="Arial"/>
              </a:rPr>
              <a:t>Violation on purpose → save the refusal. Your 1.b change → silence. Refusal text goes in the PR.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Checkpoint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046720" cy="1417320"/>
          </a:xfrm>
          <a:prstGeom prst="rect">
            <a:avLst/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" cy="1417320"/>
          </a:xfrm>
          <a:prstGeom prst="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749807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1B7F4B"/>
                </a:solidFill>
                <a:latin typeface="Arial"/>
              </a:rPr>
              <a:t>NOBODY ADVANCES UNTIL THIS IS TRUE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3135E"/>
                </a:solidFill>
                <a:latin typeface="Arial"/>
              </a:rPr>
              <a:t>Your hook refuses the violation, stays silent on your Lab 1.b change, and the refusal text is pasted in your PR description.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434343"/>
                </a:solidFill>
                <a:latin typeface="Arial"/>
              </a:rPr>
              <a:t>The refusal text is the evidence standard — "it worked" is not verification.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2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same clause at merge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Ten minutes. This is the one layer-4 gate you build today — and it only runs when a PR exists, so open one (draft is fine) to see it fire.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The hook stops the agent. This stops anyone. </a:t>
            </a:r>
            <a:r>
              <a:rPr sz="1250" b="0">
                <a:solidFill>
                  <a:srgbClr val="434343"/>
                </a:solidFill>
                <a:latin typeface="Arial"/>
              </a:rPr>
              <a:t>Including a human who never opened Claude Code.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Start from the gate skeleton. </a:t>
            </a:r>
            <a:r>
              <a:rPr sz="1250" b="0">
                <a:solidFill>
                  <a:srgbClr val="434343"/>
                </a:solidFill>
                <a:latin typeface="Arial"/>
              </a:rPr>
              <a:t>`docs/labs/snippets/governance-gate.yml` → `.github/workflows/governance.yml`; encode the mechanical core only.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`fetch-depth: 0` or it breaks. </a:t>
            </a:r>
            <a:r>
              <a:rPr sz="1250" b="0">
                <a:solidFill>
                  <a:srgbClr val="434343"/>
                </a:solidFill>
                <a:latin typeface="Arial"/>
              </a:rPr>
              <a:t>The default shallow clone makes any diff against the base branch fail with an unhelpful error.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Fail or annotate — decide. </a:t>
            </a:r>
            <a:r>
              <a:rPr sz="1250" b="0">
                <a:solidFill>
                  <a:srgbClr val="434343"/>
                </a:solidFill>
                <a:latin typeface="Arial"/>
              </a:rPr>
              <a:t>What does a docs-only PR do? Path filter, warn, or accept — on purpose, written down.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Record the residue. </a:t>
            </a:r>
            <a:r>
              <a:rPr sz="1250" b="0">
                <a:solidFill>
                  <a:srgbClr val="434343"/>
                </a:solidFill>
                <a:latin typeface="Arial"/>
              </a:rPr>
              <a:t>Every clause the gate cannot hold: accepted risk, human gate, or dropped — with a name, back in the 2.a NFR.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YOUR CLAUSE · 3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Point the reviewer at your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This is what "fed to the agent as explicit constraints" actually looks like.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FEEDING THE AGENT CONSTRAINTS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The repo ships a review subagent that reads CLAUDE.md, then whichever ADRs / NFRs / rules apply.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Add YOUR two docs to its reading list.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Run it on your own branch.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Its findings now cite your standard — that is the loop closing.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4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.claude/agents/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  taskboard-code-reviewer.md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add to its process list: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- docs/adr/0002-&lt;yours&gt;.md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- docs/nfr/0002-&lt;yours&gt;.md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no .claude/agents/ folder?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# your copy predates it — pull it: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npx giget gh:mike-tajmajer-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fullstacklabs/fsl-taskboard-lab/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.claude/agents .claude/agents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Let us compare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Ten minutes. Two or three volunteers share their screen — not everyone.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Whose guardrail has a false positive — and how did you find out?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 chose nudge over block, and what was the reasoning?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Whose bypass is documented, and who approves it?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What went in the residue column — and whose name is against it?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0">
                <a:solidFill>
                  <a:srgbClr val="434343"/>
                </a:solidFill>
                <a:latin typeface="Arial"/>
              </a:rPr>
              <a:t>What does your gate do on a docs-only PR — and was that on purpose?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HAND-OFF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The sixth artifact, and it is yours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2.a named five artifacts that live in a repo. The sixth is the only Collective-layer one — how a standard reaches every repo — and we are deliberately not handing you the answer, because choosing the mechanism, the rung, and the owner IS the roll-up.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WHAT THE GUIDE GIVES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703320" cy="2249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Four words that carry it: standard, drift, pin, enforce.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CRAWL: one repo + two CLAUDE.md lines — a 4-step checklist, ~30 min.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WALK: queryable (3 tool options, traps named) + pinned copies.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RUN: gates, served docs, a versioned plugin — each needs an owner.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100" b="1">
                <a:solidFill>
                  <a:srgbClr val="A9B7F7"/>
                </a:solidFill>
                <a:latin typeface="Arial"/>
              </a:rPr>
              <a:t>•  </a:t>
            </a:r>
            <a:r>
              <a:rPr sz="1100" b="0">
                <a:solidFill>
                  <a:srgbClr val="434343"/>
                </a:solidFill>
                <a:latin typeface="Arial"/>
              </a:rPr>
              <a:t>And a fill-in template for recording what you chose.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11680"/>
            <a:ext cx="4023360" cy="2706624"/>
          </a:xfrm>
          <a:prstGeom prst="rect">
            <a:avLst/>
          </a:prstGeom>
          <a:solidFill>
            <a:srgbClr val="F4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011680"/>
            <a:ext cx="41148" cy="270662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139696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999999"/>
                </a:solidFill>
                <a:latin typeface="Arial"/>
              </a:rPr>
              <a:t>THE DECISION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414016"/>
            <a:ext cx="3657600" cy="2212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docs/best-practices/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  distributing-standards.md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what "done" looks like: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Owner:      &lt;a person, not a team&gt;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Rung:       crawl | walk | run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First move: &lt;the ~30-min step&gt;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Decided:    YYYY-MM-DD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Next review: YYYY-MM-DD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...plus: where standards live,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how a project gets them, current-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ness, enforced vs advisory,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# bypass, NOT-doing-yet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232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486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403FE8"/>
                </a:solidFill>
                <a:latin typeface="Arial"/>
              </a:rPr>
              <a:t>WRAP &amp; RETRO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8368"/>
            <a:ext cx="7589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3135E"/>
                </a:solidFill>
                <a:latin typeface="Arial"/>
              </a:rPr>
              <a:t>What leaves this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16736"/>
            <a:ext cx="7863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Arial"/>
              </a:rPr>
              <a:t>Questions &amp; support: #extra-duty-solutions-ai-training — your instructor and the Applied AI Engineer are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999999"/>
                </a:solidFill>
                <a:latin typeface="Arial"/>
              </a:rPr>
              <a:t>FSL AI Training · Lab 2.b — Guardrails, and Making Standards Travel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7863840" cy="2935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Ship checklist. </a:t>
            </a:r>
            <a:r>
              <a:rPr sz="1250" b="0">
                <a:solidFill>
                  <a:srgbClr val="434343"/>
                </a:solidFill>
                <a:latin typeface="Arial"/>
              </a:rPr>
              <a:t>Warm-up merged (seed rules intact) · hook + CI gate, both verified both ways, refusal text in the PR · severity reasons written · bypass documented · residue owned in the 2.a NFR · reviewer reading your docs · "how we use these" README (async OK, still reviewed) · roll-up decision with an owner · port target named.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Reflection note, now. </a:t>
            </a:r>
            <a:r>
              <a:rPr sz="1250" b="0">
                <a:solidFill>
                  <a:srgbClr val="434343"/>
                </a:solidFill>
                <a:latin typeface="Arial"/>
              </a:rPr>
              <a:t>3–5 sentences in your PR: what you learned, what surprised you, what you'd apply tomorrow. Acceptance criterion, not homework.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One retro question. </a:t>
            </a:r>
            <a:r>
              <a:rPr sz="1250" b="0">
                <a:solidFill>
                  <a:srgbClr val="434343"/>
                </a:solidFill>
                <a:latin typeface="Arial"/>
              </a:rPr>
              <a:t>What was hard, what was easy — one line each, in chat, waterfall style.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 b="1">
                <a:solidFill>
                  <a:srgbClr val="13135E"/>
                </a:solidFill>
                <a:latin typeface="Arial"/>
              </a:rPr>
              <a:t>Three continuations. </a:t>
            </a:r>
            <a:r>
              <a:rPr sz="1250" b="0">
                <a:solidFill>
                  <a:srgbClr val="434343"/>
                </a:solidFill>
                <a:latin typeface="Arial"/>
              </a:rPr>
              <a:t>Port one artifact in office hours (bring the repo, not a question) · define how standards travel (owner + template) · apply the pattern to a convention of your own (the takeaway card).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