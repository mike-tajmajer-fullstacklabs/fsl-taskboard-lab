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2.b. Last week you wrote standards. Today you find out which parts of them a machine can actually hold, and what to do about the rest. Open with the honest framing: the interesting output of today is not the hook — it is the list of things the hook could not check.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[PROVISIONAL — recalibrate after Lab 1.b feedback] This block has genuine slack because the distribution discussion moved out. Protect the verify-both-directions step — it is the one people skip and the one that separates a guardrail from a belief.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Fast. The only new idea on this slide is the last bullet, and it is the premise of the whole block. Do not re-teach 2.a. ~3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industry consensus, not our opinion — say so. The phrase worth landing is "model-independent governance": the check survives a model upgrade. Connect it to their own complaints from the interviews about the agent being a yes-man and ignoring stated patterns — that is exactly the failure mode this addresses. ~4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honesty about the repo having only two layers matters — it models the behaviour we want from them. A governance doc that overstates its own coverage is the failure mode. Note that layer 5 is not a gap in the others, it is what makes them credible. ~4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does this together, right now, five minutes. This is the honest answer to "there are no restore points" and "it did something I did not expect" from their interviews — the cheapest guardrail with the largest payoff, and it works in every repo they own tomorrow. Watch for people pasting over the file and destroying the seed rules; call it out before they start. ~5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prompt-fatigue point is the insight here. A permission scheme that asks about everything trains people to approve without reading, which is worse than a narrower scheme they actually attend to. ~3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message structure is the teaching point: BLOCKED / Why / Instead / Done means. A guardrail that only says "no" makes the agent guess, and it will guess wrong in a creative direction. Four lines turn a refusal into a redirection. ~4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material for most of the room. The nudge shape (PostToolUse + exit 2) is genuinely useful and almost nobody knows it exists: the edit lands, and Claude is told to fix it. Emphasise the footnote — over-blocking is how the whole layer gets disabled. ~4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 on this in the exercise. The most common outcome of an unverified guardrail is not that it fails to block — it is that it blocks something legitimate on day three, gets disabled, and takes the whole layer with it. ~3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senior idea in the block and it is worth the time. The bypass rate is a signal about the RULE, not about discipline — if people are constantly going around it, the rule is mis-scoped. That reframe usually lands well with leads. ~3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Sanitised exemplar — no client, product, or domain detail; if asked, "another engagement." The useful contrast is proportion: nine validators sounds like a lot until you notice their bypass mechanism is a single comment convention. Governance is not volume. ~3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90 seconds because it collapses a distinction people assume exists. If the room is heading toward "we need an AI policy", this is the answer: you need an NFR, and you already wrote one last week.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Tell them what to watch for: I will spend more time verifying than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parallel to the exhibit they just read — the point is that the shape is reusable, not that this rule is important. Keep the code minimal; the interesting slides are the next two. ~5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it live if the room is comfortable; paste if you are behind. The one thing to say out loud is the Windows path normalisation — it is the bug every group will hit and the reason the hook is Node rather than a shell script. ~8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here deliberately, and say why you are slowing down: this is the step people skip. Do both tests visibly. If your own hook has a false positive live, that is a gift — work it through in front of them. ~7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[PROVISIONAL — recalibrate after Lab 1.b feedback] Walk the room. The common failure is a path check that also catches db.json.example or a test fixture. Two minutes of checking here saves the exercise. ~3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minutes, no hands-on. The reason it is here: their real world is SQL Server and stored procs, and the pattern they just watched on a JSON file needs to visibly transfer. The false-positive row is the most valuable one — do not skip it to save time. ~4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[PROVISIONAL — recalibrate after Lab 1.b feedback] Thirty-five minutes. Circulate with one question: "what happens on a docs-only PR?" That is where the block-vs-nudge decision becomes real. Remind them the residue decision is an acceptance criterion, not an optional extra — "the test must have failed first" needs a named owner or an explicit drop. ~35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hardest on the residue question — it is the one that reveals whether the lesson landed. A group with an empty residue column either has a trivial rule or has not looked hard enough. ~15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minutes, and the framing matters more than the content. The guide (docs/best-practices/distributing-standards.md) is written for a team new to governance — it opens with the four terms on this slide, Crawl is a checklist one person can finish in an afternoon, and every tool option carries its trap named (semble needs --content docs; gh search code returns silent empty results). Callback: this handout reached you as one canonical repo plus a pointer — giget if you ran it — so the room has already used Crawl and Walk today without deciding anything. The third rung needs a decision. What "done" looks like: the template on the right, filled in — a rung, a first move, and an owner who is a person rather than a committee. The two fields people skip are Owner and Not-doing-yet, and they are the two that matter. "We will decide later" is the only answer that costs more than acting. ~3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deny/ask list, not the hook — it is the thing every single person can apply tomorrow regardless of how far they got today. Then the three continuations, with office hours named as the place for the first one: bring the repo, not a question. ~5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39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6596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CCD9FF"/>
                </a:solidFill>
                <a:latin typeface="Arial"/>
              </a:rPr>
              <a:t>Lab 2.b — making a written rule refuse to be violated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9B7F7"/>
                </a:solidFill>
                <a:latin typeface="Arial"/>
              </a:rPr>
              <a:t>FSL AI Training · Phase 1 · Week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Two hours, hands-on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046720" cy="41148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55064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04772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3135E"/>
                </a:solidFill>
                <a:latin typeface="Arial"/>
              </a:rPr>
              <a:t>Recap +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23060"/>
            <a:ext cx="4069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Arial"/>
              </a:rPr>
              <a:t>You have documents. Nothing enforces them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29967"/>
            <a:ext cx="804672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30551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080260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3135E"/>
                </a:solidFill>
                <a:latin typeface="Arial"/>
              </a:rPr>
              <a:t>Warm-up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98548"/>
            <a:ext cx="4069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Arial"/>
              </a:rPr>
              <a:t>The five-minute guardrail everyone leaves with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05456"/>
            <a:ext cx="8046720" cy="41148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0604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20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555748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3135E"/>
                </a:solidFill>
                <a:latin typeface="Arial"/>
              </a:rPr>
              <a:t>The five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574036"/>
            <a:ext cx="4069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Arial"/>
              </a:rPr>
              <a:t>Where enforcement can live, and what each holds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80944"/>
            <a:ext cx="804672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081527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25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031236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3135E"/>
                </a:solidFill>
                <a:latin typeface="Arial"/>
              </a:rPr>
              <a:t>Demo — one 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049524"/>
            <a:ext cx="4069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Arial"/>
              </a:rPr>
              <a:t>Built, verified both ways, bypass documented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56432"/>
            <a:ext cx="8046720" cy="41148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57016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35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506724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3135E"/>
                </a:solidFill>
                <a:latin typeface="Arial"/>
              </a:rPr>
              <a:t>Enforce your own clause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525012"/>
            <a:ext cx="4069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Arial"/>
              </a:rPr>
              <a:t>Your rule from 2.a, at two enforcement points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31920"/>
            <a:ext cx="804672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032504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15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3982211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3135E"/>
                </a:solidFill>
                <a:latin typeface="Arial"/>
              </a:rPr>
              <a:t>Review + hand-off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000500"/>
            <a:ext cx="4069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Arial"/>
              </a:rPr>
              <a:t>And the artifact your team still owes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17136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999999"/>
                </a:solidFill>
                <a:latin typeface="Arial"/>
              </a:rPr>
              <a:t>Ten minutes of slack in this block. Spend it on the verify step, not the slides.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Where 2.a left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One sentence: you wrote the law, and there is no police force.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7863840" cy="2935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You have an ADR. </a:t>
            </a:r>
            <a:r>
              <a:rPr sz="1250" b="0">
                <a:solidFill>
                  <a:srgbClr val="434343"/>
                </a:solidFill>
                <a:latin typeface="Arial"/>
              </a:rPr>
              <a:t>The store boundary has a recorded reason.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You have an NFR you derived. </a:t>
            </a:r>
            <a:r>
              <a:rPr sz="1250" b="0">
                <a:solidFill>
                  <a:srgbClr val="434343"/>
                </a:solidFill>
                <a:latin typeface="Arial"/>
              </a:rPr>
              <a:t>With the checks named — and the fuzzy clauses marked.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Both are wired into CLAUDE.md. </a:t>
            </a:r>
            <a:r>
              <a:rPr sz="1250" b="0">
                <a:solidFill>
                  <a:srgbClr val="434343"/>
                </a:solidFill>
                <a:latin typeface="Arial"/>
              </a:rPr>
              <a:t>Claude reads them when the situation applies.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And nothing enforces any of it. </a:t>
            </a:r>
            <a:r>
              <a:rPr sz="1250" b="0">
                <a:solidFill>
                  <a:srgbClr val="434343"/>
                </a:solidFill>
                <a:latin typeface="Arial"/>
              </a:rPr>
              <a:t>That is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THE PREMISE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7863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800" b="1">
                <a:solidFill>
                  <a:srgbClr val="13135E"/>
                </a:solidFill>
                <a:latin typeface="Arial"/>
              </a:rPr>
              <a:t>The model layer cannot be the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434343"/>
                </a:solidFill>
                <a:latin typeface="Arial"/>
              </a:rPr>
              <a:t>Models are non-deterministic and persuadable. A rule in CLAUDE.md is a strong suggestion — it holds most of the time and fails exactly when someone asks for something reasonable-sounding that happens to violate it. If a rule matters, something deterministic has to check it. A hook is an interception point; a policy is the deterministic rule evaluated against it. Because the check does not depend on which model ran, it still holds when you swap models or add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THE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Five layers of enforcement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Each layer catches a different audience. You need fewer than five, but you need to know which.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8046720" cy="310896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89404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089404"/>
            <a:ext cx="33832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Where it lives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089404"/>
            <a:ext cx="2926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Holds against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8046720" cy="384048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11887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1 Instruction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77440"/>
            <a:ext cx="33832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CLAUDE.md, docs behind a trigger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377440"/>
            <a:ext cx="29260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Nothing reliably — it informs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06624"/>
            <a:ext cx="8046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61488"/>
            <a:ext cx="11887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2 Client-side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761488"/>
            <a:ext cx="33832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.claude/settings.json permissions + 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761488"/>
            <a:ext cx="29260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The agent, while it writes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90672"/>
            <a:ext cx="8046720" cy="384048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45536"/>
            <a:ext cx="11887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3 Commit-time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145536"/>
            <a:ext cx="33832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git hooks, commit lint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145536"/>
            <a:ext cx="29260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Anyone committing locally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74720"/>
            <a:ext cx="8046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29584"/>
            <a:ext cx="11887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4 CI 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529584"/>
            <a:ext cx="33832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workflows, static analysis, validators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529584"/>
            <a:ext cx="29260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Anyone merging — agent or human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58768"/>
            <a:ext cx="8046720" cy="384048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13631"/>
            <a:ext cx="11887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5 Bypass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3913631"/>
            <a:ext cx="33832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a written escape hatch with a named approver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913631"/>
            <a:ext cx="29260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Nothing — it keeps 1–4 honest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315968"/>
            <a:ext cx="78638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This repo has 1 and 2. Its own instructor notes say so out loud rather than pretending otherwise. You will build in layer 2 and see what layer 4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WARM-UP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The five-minute guardrail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Three verdicts, not two: allow, ask, deny. No code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8046720" cy="2203704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41148" cy="22037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7635240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{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"permissions": {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  "ask":  ["Bash(rm *)"],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  "deny": [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    "Edit(server/data/seed.json)",   // already in your file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    "Write(server/data/seed.json)",  // already in your file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    "Bash(rm -rf *)",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    "Bash(git push --force *)",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    "Bash(git reset --hard *)",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    "Bash(git clean *)",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    "Bash(npm publish *)",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    "Bash(curl * | bash)"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  ]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  }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434343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79392"/>
            <a:ext cx="7863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MERGE this — do not paste over the file. The two seed rules and your hooks block must survive. Then ask Claude to force-push and watch it refuse — and confirm seed.json is still protected.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728216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.claude/settings.json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LAYER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Why three verdicts and not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The middle one is the one teams forget, and it is the most useful.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02992" cy="201168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2602992" cy="4114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2237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ALLOW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22372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Pre-approved — no prompt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Use for the safe and frequent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Cuts prompt fatigue, which is itself a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0504" y="2103120"/>
            <a:ext cx="2602992" cy="201168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0504" y="2103120"/>
            <a:ext cx="2602992" cy="4114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3384" y="2286000"/>
            <a:ext cx="2237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3384" y="2816352"/>
            <a:ext cx="22372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Stop and check with me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For recoverable-but-annoying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rm, schema changes, anything you would want to see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2368" y="2103120"/>
            <a:ext cx="2602992" cy="201168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92368" y="2103120"/>
            <a:ext cx="2602992" cy="4114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5248" y="2286000"/>
            <a:ext cx="2237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DENY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5248" y="2816352"/>
            <a:ext cx="22372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Never, no prompt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Unrecoverable or unambiguous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Force-push, destructive infra, curl | bash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61104"/>
            <a:ext cx="78638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Arial"/>
              </a:rPr>
              <a:t>Prompt fatigue is a real failure mode: if everything asks, people stop reading and click through. Deny the truly unacceptable so that "ask" still means something.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LAYER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The hook already in your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Read this hook before you write yours — particularly its message.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DEFENSE IN DEPTH, THREE 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3703320" cy="2249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>
                <a:solidFill>
                  <a:srgbClr val="A9B7F7"/>
                </a:solidFill>
                <a:latin typeface="Arial"/>
              </a:rPr>
              <a:t>•  </a:t>
            </a:r>
            <a:r>
              <a:rPr sz="1100" b="0">
                <a:solidFill>
                  <a:srgbClr val="434343"/>
                </a:solidFill>
                <a:latin typeface="Arial"/>
              </a:rPr>
              <a:t>A Don't line in CLAUDE.md.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>
                <a:solidFill>
                  <a:srgbClr val="A9B7F7"/>
                </a:solidFill>
                <a:latin typeface="Arial"/>
              </a:rPr>
              <a:t>•  </a:t>
            </a:r>
            <a:r>
              <a:rPr sz="1100" b="0">
                <a:solidFill>
                  <a:srgbClr val="434343"/>
                </a:solidFill>
                <a:latin typeface="Arial"/>
              </a:rPr>
              <a:t>A permissions.deny entry.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>
                <a:solidFill>
                  <a:srgbClr val="A9B7F7"/>
                </a:solidFill>
                <a:latin typeface="Arial"/>
              </a:rPr>
              <a:t>•  </a:t>
            </a:r>
            <a:r>
              <a:rPr sz="1100" b="0">
                <a:solidFill>
                  <a:srgbClr val="434343"/>
                </a:solidFill>
                <a:latin typeface="Arial"/>
              </a:rPr>
              <a:t>A PreToolUse hook.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>
                <a:solidFill>
                  <a:srgbClr val="A9B7F7"/>
                </a:solidFill>
                <a:latin typeface="Arial"/>
              </a:rPr>
              <a:t>•  </a:t>
            </a:r>
            <a:r>
              <a:rPr sz="1100" b="0">
                <a:solidFill>
                  <a:srgbClr val="434343"/>
                </a:solidFill>
                <a:latin typeface="Arial"/>
              </a:rPr>
              <a:t>All three name the same path and the same fix.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011680"/>
            <a:ext cx="4023360" cy="2706624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011680"/>
            <a:ext cx="41148" cy="270662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139696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999999"/>
                </a:solidFill>
                <a:latin typeface="Arial"/>
              </a:rPr>
              <a:t>.CLAUDE/HOOKS/PROTECT-SEED.JS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414016"/>
            <a:ext cx="3657600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console.error([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  'BLOCKED: Modifying seed.json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   is not allowed.',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  'Why: it is the canonical reset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   baseline every lab depends on.',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  'Instead: change data via the API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   or db.json, then reset-db.',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  'Done means: seed.json has no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   diff.',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].join('\n'));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process.exit(2);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Block or nudge? Decide, do not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The event you register on, plus the exit code, IS the severity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8046720" cy="310896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8940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89404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What exit 2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089404"/>
            <a:ext cx="2926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Use it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8046720" cy="384048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109728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PreToolUse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377440"/>
            <a:ext cx="34747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BLOCKS the call. stderr goes to 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377440"/>
            <a:ext cx="29260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Unrecoverable or unambiguous violations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06624"/>
            <a:ext cx="8046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61488"/>
            <a:ext cx="109728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PostToolUse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761488"/>
            <a:ext cx="34747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Cannot block — the tool already ran — but stderr still reaches 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761488"/>
            <a:ext cx="29260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Heuristic rules; things you should not interrupt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90672"/>
            <a:ext cx="8046720" cy="384048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45536"/>
            <a:ext cx="109728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exit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145536"/>
            <a:ext cx="34747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Allows, silently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145536"/>
            <a:ext cx="29260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The 99% case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74720"/>
            <a:ext cx="8046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29584"/>
            <a:ext cx="109728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any other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529584"/>
            <a:ext cx="34747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Non-blocking; the user sees a hook-error notice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529584"/>
            <a:ext cx="29260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Almost never on 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986783"/>
            <a:ext cx="78638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Not every guardrail should block. A gate that fires on legitimate work teaches people to route around it — and a bypassed gate is worse than none, because it looks like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An unverified guardrail is a belief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Two tests, always. The second one is what stops your guardrail being uninstalled.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02992" cy="201168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2602992" cy="4114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2237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BLOCKS THE BAD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22372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Try the violation deliberately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Confirm the refusal message is useful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Not just "it errored"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0504" y="2103120"/>
            <a:ext cx="2602992" cy="201168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0504" y="2103120"/>
            <a:ext cx="2602992" cy="4114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3384" y="2286000"/>
            <a:ext cx="2237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ALLOWS THE GOOD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3384" y="2816352"/>
            <a:ext cx="22372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Run a real recent change through it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No false positive on legitimate work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This is the half everyone skips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2368" y="2103120"/>
            <a:ext cx="2602992" cy="201168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92368" y="2103120"/>
            <a:ext cx="2602992" cy="4114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5248" y="2286000"/>
            <a:ext cx="2237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STAYS 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5248" y="2816352"/>
            <a:ext cx="22372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Re-verify after every narrowing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Fixing a false positive often reopens the hole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Both directions, every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61104"/>
            <a:ext cx="78638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Arial"/>
              </a:rPr>
              <a:t>Narrowing a trigger to kill a false positive is the moment a rule quietly stops catching anything. Re-verify the block case immediately after.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LAYER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The bypass you write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The layer that makes the other four honest.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7863840" cy="2935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There is always one. </a:t>
            </a:r>
            <a:r>
              <a:rPr sz="1250" b="0">
                <a:solidFill>
                  <a:srgbClr val="434343"/>
                </a:solidFill>
                <a:latin typeface="Arial"/>
              </a:rPr>
              <a:t>A label, a commit trailer, an APPROVED- comment, a person with merge rights.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Undocumented bypasses are the real hole. </a:t>
            </a:r>
            <a:r>
              <a:rPr sz="1250" b="0">
                <a:solidFill>
                  <a:srgbClr val="434343"/>
                </a:solidFill>
                <a:latin typeface="Arial"/>
              </a:rPr>
              <a:t>Not the missing gate — the escape hatch nobody wrote down.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Name the approver. </a:t>
            </a:r>
            <a:r>
              <a:rPr sz="1250" b="0">
                <a:solidFill>
                  <a:srgbClr val="434343"/>
                </a:solidFill>
                <a:latin typeface="Arial"/>
              </a:rPr>
              <a:t>"APPROVED-X: &lt;reason + who&gt; " beats a silent override every time.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Count how often it is used. </a:t>
            </a:r>
            <a:r>
              <a:rPr sz="1250" b="0">
                <a:solidFill>
                  <a:srgbClr val="434343"/>
                </a:solidFill>
                <a:latin typeface="Arial"/>
              </a:rPr>
              <a:t>A bypass fired weekly is a rule that is wrong, not a team that is lax.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LAYERS 3–5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What we are teaching but not building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A mature corpus we have seen runs all five, including four custom static-analysis rule files and nine merge-blocking validators.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8046720" cy="310896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89404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089404"/>
            <a:ext cx="4023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What it looks like at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19" y="2089404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Why not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8046720" cy="384048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11887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3 Commit-time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77440"/>
            <a:ext cx="402335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commit lint, pre-commit checks on staged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19" y="2377440"/>
            <a:ext cx="228600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Adds setup this repo does not need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06624"/>
            <a:ext cx="8046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61488"/>
            <a:ext cx="11887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4 CI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761488"/>
            <a:ext cx="402335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custom static-analysis rules, spec lint, validators that block merge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19" y="2761488"/>
            <a:ext cx="228600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You will build one today, in your own copy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90672"/>
            <a:ext cx="8046720" cy="384048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45536"/>
            <a:ext cx="11887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5 Bypass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145536"/>
            <a:ext cx="402335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APPROVED- comments with named sign-off, and telemetry on how often they fire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19" y="3145536"/>
            <a:ext cx="228600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You will document one 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02736"/>
            <a:ext cx="78638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Their layer 5 is one comment convention. It is the smallest thing on the list and it is what keeps the other four trustworthy.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THE META-CASE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7863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800" b="1">
                <a:solidFill>
                  <a:srgbClr val="13135E"/>
                </a:solidFill>
                <a:latin typeface="Arial"/>
              </a:rPr>
              <a:t>Rules about AI are just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434343"/>
                </a:solidFill>
                <a:latin typeface="Arial"/>
              </a:rPr>
              <a:t>The same corpus governs its own AI agent with an NFR — numbered MUST clauses, a thresholds table, and eight named verification methods, covering human confirmation on destructive operations, masking sensitive data before it reaches a model, and structured output validation. There is no separate discipline for governing AI. It is the artifact you already know how to write, pointed at a new subject.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39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4884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Demo — one guardrail,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CCD9FF"/>
                </a:solidFill>
                <a:latin typeface="Arial"/>
              </a:rPr>
              <a:t>The read-only database rule. Watch the verify step, not the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DEMO · THE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Read-only database unless approved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The same three-layer shape as the seed guard, on a new subject.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7863840" cy="2935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The rule. </a:t>
            </a:r>
            <a:r>
              <a:rPr sz="1250" b="0">
                <a:solidFill>
                  <a:srgbClr val="434343"/>
                </a:solidFill>
                <a:latin typeface="Arial"/>
              </a:rPr>
              <a:t>`db.json` is generated. It gets changed through the API or a reset — not edited directly.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Layer 1. </a:t>
            </a:r>
            <a:r>
              <a:rPr sz="1250" b="0">
                <a:solidFill>
                  <a:srgbClr val="434343"/>
                </a:solidFill>
                <a:latin typeface="Arial"/>
              </a:rPr>
              <a:t>A Don't line in CLAUDE.md. Already there.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Layer 2a. </a:t>
            </a:r>
            <a:r>
              <a:rPr sz="1250" b="0">
                <a:solidFill>
                  <a:srgbClr val="434343"/>
                </a:solidFill>
                <a:latin typeface="Arial"/>
              </a:rPr>
              <a:t>A `permissions.deny` entry for direct writes.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Layer 2b. </a:t>
            </a:r>
            <a:r>
              <a:rPr sz="1250" b="0">
                <a:solidFill>
                  <a:srgbClr val="434343"/>
                </a:solidFill>
                <a:latin typeface="Arial"/>
              </a:rPr>
              <a:t>A PreToolUse hook, so the refusal explains itself.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DEMO · THE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Twenty lines, no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Node, cross-platform, no packages. Half this room is on Windows.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8046720" cy="2203704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41148" cy="22037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7635240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const path = filePath.replaceAll('\\', '/');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/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if (path.endsWith('server/data/db.json')) {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console.error([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'BLOCKED: db.json is generated, not edited.',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'Why: hand-edits are lost on the next reset and',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'  are invisible to everyone else.',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'Instead: change data through the API, or edit',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'  seed.json via PR and run npm run reset-db.',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'Done means: your data change survives a reset.',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].join('\n'));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process.exit(2);   // PreToolUse -&gt; blocks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}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process.exit(0);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79392"/>
            <a:ext cx="7863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Registered on PreToolUse for Edit|Write. Note the four-part message — the same shape as the seed hook, because a refusal that does not redirect just gets worked around.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728216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.claude/hooks/protect-db.js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DEMO ·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Both directions, then the bypass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This is the part of the demo worth your attention.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02992" cy="201168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2602992" cy="4114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2237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BLOCKS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22372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Ask Claude to edit db.json directly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Confirm refusal + a useful message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Confirm it did NOT touch the 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0504" y="2103120"/>
            <a:ext cx="2602992" cy="201168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0504" y="2103120"/>
            <a:ext cx="2602992" cy="4114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3384" y="2286000"/>
            <a:ext cx="2237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ALLOWS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3384" y="2816352"/>
            <a:ext cx="22372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Ask it to edit a repository file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Confirm no refusal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Run npm test — still green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2368" y="2103120"/>
            <a:ext cx="2602992" cy="201168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92368" y="2103120"/>
            <a:ext cx="2602992" cy="4114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5248" y="2286000"/>
            <a:ext cx="2237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BYPASS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5248" y="2816352"/>
            <a:ext cx="22372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Documented in CLAUDE.md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Instructor approval, via PR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00" b="1">
                <a:solidFill>
                  <a:srgbClr val="A9B7F7"/>
                </a:solidFill>
                <a:latin typeface="Arial"/>
              </a:rPr>
              <a:t>•  </a:t>
            </a:r>
            <a:r>
              <a:rPr sz="1000" b="0">
                <a:solidFill>
                  <a:srgbClr val="434343"/>
                </a:solidFill>
                <a:latin typeface="Arial"/>
              </a:rPr>
              <a:t>Not "disable the hook"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61104"/>
            <a:ext cx="78638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Arial"/>
              </a:rPr>
              <a:t>If the allow case fails, the guardrail is worse than nothing — it is now blocking work and someone will remove it by Friday.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Checkpoint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8046720" cy="1417320"/>
          </a:xfrm>
          <a:prstGeom prst="rect">
            <a:avLst/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4864" cy="14173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B7F4B"/>
                </a:solidFill>
                <a:latin typeface="Arial"/>
              </a:rPr>
              <a:t>NOBODY ADVANCES UNTIL THIS IS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74980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3135E"/>
                </a:solidFill>
                <a:latin typeface="Arial"/>
              </a:rPr>
              <a:t>Your agent is refused when it edits db.json, and succeeds when it edits a repository 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434343"/>
                </a:solidFill>
                <a:latin typeface="Arial"/>
              </a:rPr>
              <a:t>Both directions, out loud. If you only tested the block, you have not finished — go run the allow case now.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YOUR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The same pattern, somewhere you will recognise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Illustration, not today's exercise. A rule most teams have written down and almost nobody checks.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8046720" cy="310896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89404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89404"/>
            <a:ext cx="6309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Applied to a stored-procedure convention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8046720" cy="384048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137160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1 Instruction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377440"/>
            <a:ext cx="630936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One line: parameters only — never concatenate into executable 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06624"/>
            <a:ext cx="8046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61488"/>
            <a:ext cx="137160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2 Deterministic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761488"/>
            <a:ext cx="630936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A hook inspecting the CONTENT of the .sql being written, not just the path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90672"/>
            <a:ext cx="8046720" cy="384048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45536"/>
            <a:ext cx="137160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4 CI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145536"/>
            <a:ext cx="630936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The same rule module, run again at merge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74720"/>
            <a:ext cx="8046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29584"/>
            <a:ext cx="137160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5 Bypass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529584"/>
            <a:ext cx="630936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APPROVED-DYNAMIC-SQL: &lt;reason + reviewer&gt;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58768"/>
            <a:ext cx="8046720" cy="384048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13631"/>
            <a:ext cx="137160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5E"/>
                </a:solidFill>
                <a:latin typeface="Arial"/>
              </a:rPr>
              <a:t>The honest part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913631"/>
            <a:ext cx="630936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34343"/>
                </a:solidFill>
                <a:latin typeface="Arial"/>
              </a:rPr>
              <a:t>The check has real false positives — a static parameterised sp_executesql is fine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15968"/>
            <a:ext cx="78638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Takeaway card: docs/best-practices/enforcing-a-convention.md works the whole shape through, including the clauses no gate can decide. Independent follow-up, office hours supports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YOUR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Enforce the clause you wrote last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Start from docs/labs/snippets/ — the plumbing is given, the policy is yours.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7863840" cy="2404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Both enforcement points. </a:t>
            </a:r>
            <a:r>
              <a:rPr sz="1250" b="0">
                <a:solidFill>
                  <a:srgbClr val="434343"/>
                </a:solidFill>
                <a:latin typeface="Arial"/>
              </a:rPr>
              <a:t>A PostToolUse nudge when an edited file has no sibling test, and a CI gate on the PR diff.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Choose the severity, on purpose. </a:t>
            </a:r>
            <a:r>
              <a:rPr sz="1250" b="0">
                <a:solidFill>
                  <a:srgbClr val="434343"/>
                </a:solidFill>
                <a:latin typeface="Arial"/>
              </a:rPr>
              <a:t>Block or nudge, per point — and write down why.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Verify both directions. </a:t>
            </a:r>
            <a:r>
              <a:rPr sz="1250" b="0">
                <a:solidFill>
                  <a:srgbClr val="434343"/>
                </a:solidFill>
                <a:latin typeface="Arial"/>
              </a:rPr>
              <a:t>Refuses the violation; permits a real recent change.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Document the bypass. </a:t>
            </a:r>
            <a:r>
              <a:rPr sz="1250" b="0">
                <a:solidFill>
                  <a:srgbClr val="434343"/>
                </a:solidFill>
                <a:latin typeface="Arial"/>
              </a:rPr>
              <a:t>And record a decision for every clause you could not enforce.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61104"/>
            <a:ext cx="41148" cy="402336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61104"/>
            <a:ext cx="7662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Arial"/>
              </a:rPr>
              <a:t>fetch-depth: 0 on the checkout step, or your CI diff fails with an unhelpful error.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Let us compare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Fifteen minutes. Two or three screens, not everyone.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7863840" cy="2935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0">
                <a:solidFill>
                  <a:srgbClr val="434343"/>
                </a:solidFill>
                <a:latin typeface="Arial"/>
              </a:rPr>
              <a:t>Whose guardrail has a false positive — and how did you find out?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0">
                <a:solidFill>
                  <a:srgbClr val="434343"/>
                </a:solidFill>
                <a:latin typeface="Arial"/>
              </a:rPr>
              <a:t>Who chose nudge over block, and what was the reasoning?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0">
                <a:solidFill>
                  <a:srgbClr val="434343"/>
                </a:solidFill>
                <a:latin typeface="Arial"/>
              </a:rPr>
              <a:t>Whose bypass is documented, and who approves it?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0">
                <a:solidFill>
                  <a:srgbClr val="434343"/>
                </a:solidFill>
                <a:latin typeface="Arial"/>
              </a:rPr>
              <a:t>What went in the residue column — and whose name is against it?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0">
                <a:solidFill>
                  <a:srgbClr val="434343"/>
                </a:solidFill>
                <a:latin typeface="Arial"/>
              </a:rPr>
              <a:t>Did anyone's gate fire on a legitimate change during the exercise?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HAND-OFF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One artifact left, and it is yours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How a standard reaches every repo is a governance artifact — and we are deliberately not handing you the answer, because choosing the mechanism, the rung, and the owner IS the roll-up.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WHAT THE GUIDE GIVES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3703320" cy="2249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>
                <a:solidFill>
                  <a:srgbClr val="A9B7F7"/>
                </a:solidFill>
                <a:latin typeface="Arial"/>
              </a:rPr>
              <a:t>•  </a:t>
            </a:r>
            <a:r>
              <a:rPr sz="1100" b="0">
                <a:solidFill>
                  <a:srgbClr val="434343"/>
                </a:solidFill>
                <a:latin typeface="Arial"/>
              </a:rPr>
              <a:t>Four words that carry it: standard, drift, pin, enforce.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>
                <a:solidFill>
                  <a:srgbClr val="A9B7F7"/>
                </a:solidFill>
                <a:latin typeface="Arial"/>
              </a:rPr>
              <a:t>•  </a:t>
            </a:r>
            <a:r>
              <a:rPr sz="1100" b="0">
                <a:solidFill>
                  <a:srgbClr val="434343"/>
                </a:solidFill>
                <a:latin typeface="Arial"/>
              </a:rPr>
              <a:t>CRAWL: one repo + two CLAUDE.md lines — a 4-step checklist, ~30 min.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>
                <a:solidFill>
                  <a:srgbClr val="A9B7F7"/>
                </a:solidFill>
                <a:latin typeface="Arial"/>
              </a:rPr>
              <a:t>•  </a:t>
            </a:r>
            <a:r>
              <a:rPr sz="1100" b="0">
                <a:solidFill>
                  <a:srgbClr val="434343"/>
                </a:solidFill>
                <a:latin typeface="Arial"/>
              </a:rPr>
              <a:t>WALK: queryable (3 tool options, traps named) + pinned copies.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>
                <a:solidFill>
                  <a:srgbClr val="A9B7F7"/>
                </a:solidFill>
                <a:latin typeface="Arial"/>
              </a:rPr>
              <a:t>•  </a:t>
            </a:r>
            <a:r>
              <a:rPr sz="1100" b="0">
                <a:solidFill>
                  <a:srgbClr val="434343"/>
                </a:solidFill>
                <a:latin typeface="Arial"/>
              </a:rPr>
              <a:t>RUN: gates, served docs, a versioned plugin — each needs an owner.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>
                <a:solidFill>
                  <a:srgbClr val="A9B7F7"/>
                </a:solidFill>
                <a:latin typeface="Arial"/>
              </a:rPr>
              <a:t>•  </a:t>
            </a:r>
            <a:r>
              <a:rPr sz="1100" b="0">
                <a:solidFill>
                  <a:srgbClr val="434343"/>
                </a:solidFill>
                <a:latin typeface="Arial"/>
              </a:rPr>
              <a:t>And a fill-in template for recording what you chose.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011680"/>
            <a:ext cx="4023360" cy="2706624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011680"/>
            <a:ext cx="41148" cy="270662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139696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999999"/>
                </a:solidFill>
                <a:latin typeface="Arial"/>
              </a:rPr>
              <a:t>THE DECISION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414016"/>
            <a:ext cx="3657600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# docs/best-practices/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#   distributing-standards.md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/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# what "done" looks like: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Owner:   &lt;a person, not a team&gt;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Rung:    crawl | walk | run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Decided: YYYY-MM-DD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Next review: YYYY-MM-DD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/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# ...plus: where standards live,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# how a project gets them, how you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# know you are current, enforced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# vs advisory, bypass, NOT-doing-yet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232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03FE8"/>
                </a:solidFill>
                <a:latin typeface="Arial"/>
              </a:rPr>
              <a:t>WRAP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589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3135E"/>
                </a:solidFill>
                <a:latin typeface="Arial"/>
              </a:rPr>
              <a:t>What leaves this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Arial"/>
              </a:rPr>
              <a:t>Ship checklist: hook registered · verified both ways · bypass documented · residue owned · peer-reviewed.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FSL AI Training · Lab 2.b —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7863840" cy="2935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A guardrail that fires. </a:t>
            </a:r>
            <a:r>
              <a:rPr sz="1250" b="0">
                <a:solidFill>
                  <a:srgbClr val="434343"/>
                </a:solidFill>
                <a:latin typeface="Arial"/>
              </a:rPr>
              <a:t>Verified both directions, with a documented bypass.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A residue list with names on it. </a:t>
            </a:r>
            <a:r>
              <a:rPr sz="1250" b="0">
                <a:solidFill>
                  <a:srgbClr val="434343"/>
                </a:solidFill>
                <a:latin typeface="Arial"/>
              </a:rPr>
              <a:t>The clauses tooling cannot hold, and who accepted each.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The deny/ask list. </a:t>
            </a:r>
            <a:r>
              <a:rPr sz="1250" b="0">
                <a:solidFill>
                  <a:srgbClr val="434343"/>
                </a:solidFill>
                <a:latin typeface="Arial"/>
              </a:rPr>
              <a:t>Five minutes, works in every repo you own. Do it tomorrow.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 b="1">
                <a:solidFill>
                  <a:srgbClr val="13135E"/>
                </a:solidFill>
                <a:latin typeface="Arial"/>
              </a:rPr>
              <a:t>Three things to continue. </a:t>
            </a:r>
            <a:r>
              <a:rPr sz="1250" b="0">
                <a:solidFill>
                  <a:srgbClr val="434343"/>
                </a:solidFill>
                <a:latin typeface="Arial"/>
              </a:rPr>
              <a:t>Port one artifact to a real repo · define how standards travel · apply the pattern to a convention of your 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