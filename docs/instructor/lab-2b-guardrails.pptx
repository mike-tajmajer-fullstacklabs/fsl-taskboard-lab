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2.b. The challenge in one breath: pick one of this repo's written rules and give it teeth — a hook that stops (or nudges) the agent while it writes, and a CI gate that stops anyone at merge time, both verified in both directions. The win today is simple and real: a rule with teeth, proven to fire and proven to stay quiet.</a:t>
            </a:r>
          </a:p>
          <a:p/>
          <a:p>
            <a:r>
              <a:t>~1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team-lead feedback, 2026-08-18: shorter demos · git hook as the vehicle for Claude hooks · table talk]</a:t>
            </a:r>
          </a:p>
          <a:p/>
          <a:p>
            <a:r>
              <a:t>ANNOUNCE THE ADJUSTMENT as deliberate, not an apology: "we restructured this session from your feedback — shorter demos, the guardrails you already run, and time to talk at your tables." Then the standing permission: side discussion at the tables is encouraged all session — mute unless addressing the call; the only structured moments are the checkpoints, which stay individual (paste your own evidence in chat). The blocks sum to ~110 — the slack is deliberate; protect it for verification, which is the step people skip. Prereq check right now, in chat: "type HOOKS-DONE if you did the Hooks lesson" — anyone missing it follows along on the shared screen for the build sections and catches up async per the handout (Slack for 1:1 help; Meet chat has no DMs). Assessment disclosure: same rubric, and today's hook or gate is also the Framework Practitioner artifact; helping your table mates counts FOR you on the Independence dimension, not against.</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review, 2026-08-19: reworked — no prior NFR assumed; the repo's own written rules are the stimulus]</a:t>
            </a:r>
          </a:p>
          <a:p/>
          <a:p>
            <a:r>
              <a:t>Fast. The only new idea is the last bullet — the premise of the block. These three documents are also the MENU the exercise picks from later — say so: "remember these; you will choose one to enforce this afternoon."</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Industry consensus, not our opinion — say so. Landing line (spoken): because the check does not depend on which model ran, it survives a model upgrade. The phrase: "model-independent governance." Connect to their own interview complaints about the agent being a yes-man and ignoring stated patterns — this is the failure mode it addresses.</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team-lead feedback, 2026-08-18: shorter demos · git hook as the vehicle for Claude hooks · table talk]</a:t>
            </a:r>
          </a:p>
          <a:p/>
          <a:p>
            <a:r>
              <a:t>The honesty about this repo matters — it models the behaviour we want. Note the build framing precisely: layers 1–2 plus one layer-4 gate; a governance doc that overstates its own coverage is the failure mode. Layer 5 is not a gap in the others — it is what makes them credible.</a:t>
            </a:r>
          </a:p>
          <a:p/>
          <a:p>
            <a:r>
              <a:t>SAY THE ORDER out loud: we meet layer 3 first, because the room already runs a commit-time hook at work — the familiar one explains the new one.</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review, 2026-08-19: re-toned twice — org-level now; the earlier framings read as a maturity gap aimed at the room]</a:t>
            </a:r>
          </a:p>
          <a:p/>
          <a:p>
            <a:r>
              <a:t>The table describes ORGANIZATIONS in general, deliberately — if someone says "that starting column is us", the answer is "that's everyone; it's the normal starting point, and it's why this session exists." Sanitised exemplar — no client, product, or domain detail; if asked, "another engagement." TONE RULE: never "they have it, you don't" — aspiration, not gap. The proportion is still the insight: nine validators sounds heavy until you see the bypass is a single comment convention — governance is not volume, it accretes one earned rule at a time. If the room heads toward "we need an AI policy", the answer is you need an NFR, and you wrote one last week.</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together, five minutes. This is the honest answer to "no restore points" and "it did something I did not expect" — the cheapest guardrail with the largest payoff, in every repo they own tomorrow. Teach ask-vs-deny while they type: deny the unrecoverable, ask the annoying — if everything asks, people stop reading, which is prompt fatigue and it kills the layer. The allow array is shown EMPTY on purpose: it is the third verdict's home — where you later promote the commands you never want to be asked about (npm test, npm run lint) — and empty is the right day-one default; earn entries into it. Remote verification: "paste the refusal line Claude gave you into chat" — and the paste-over-the-file failure shows up as "seed.json rule gone"; the handout has the before-state and names settings.local.json. This is config, not a hook — the hook arc starts on the next slide, at the layer they already know.</a:t>
            </a:r>
          </a:p>
          <a:p/>
          <a:p>
            <a:r>
              <a:t>~5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team-lead feedback, 2026-08-18: shorter demos · git hook as the vehicle for Claude hooks · table talk]</a:t>
            </a:r>
          </a:p>
          <a:p/>
          <a:p>
            <a:r>
              <a:t>INSTRUCTOR-ONLY DEMO — the room watches; their replay is docs/labs/lab-2b-demo-2-git-hook-walkthrough.md and adding it to their copy is a stretch. Run it against this slide, call row numbers. Row 3 is the CROSS-PLATFORM BEAT (verified empirically 2026-08-19: the hook fires with the exec bit stripped): git runs husky's SHIM — core.hooksPath is .husky/_ — and the shim runs your file as an ARGUMENT to sh (sh -e), so the OS never executes the file: no chmod, no extension, no shebang, on any OS; on Windows, git ships its own sh plus grep and head. The anatomy to land, out loud, at row 4: AN EVENT FIRED A SCRIPT, AND THE EXIT CODE DECIDED — that sentence is the whole hook concept, and it repeats unchanged at authoring time and merge time. At row 6, the layer-5 teaching lands here now: there is always a bypass; undocumented bypasses are the real governance hole — not the missing gate, the escape hatch nobody wrote down; name the approver ("APPROVED-X: &lt;reason + who&gt;" beats a silent override); and count how often it fires — a bypass used weekly is a rule that is wrong, not a team that is lax.</a:t>
            </a:r>
          </a:p>
          <a:p/>
          <a:p>
            <a:r>
              <a:t>COMMON QUESTIONS</a:t>
            </a:r>
          </a:p>
          <a:p/>
          <a:p>
            <a:r>
              <a:t>Q: "Why not commitlint?"</a:t>
            </a:r>
          </a:p>
          <a:p>
            <a:r>
              <a:t>A: commitlint is the grown-up version — a dependency that parses properly and scales to rule sets; five lines of grep teach the anatomy, and you graduate when the rule set grows.</a:t>
            </a:r>
          </a:p>
          <a:p/>
          <a:p>
            <a:r>
              <a:t>Q: "We already run husky — start over?"</a:t>
            </a:r>
          </a:p>
          <a:p>
            <a:r>
              <a:t>A: no — add a new file next to your existing pre-commit; hooks are per-event files, they compose.</a:t>
            </a:r>
          </a:p>
          <a:p/>
          <a:p>
            <a:r>
              <a:t>Q: "Does --no-verify defeat the whole thing?"</a:t>
            </a:r>
          </a:p>
          <a:p>
            <a:r>
              <a:t>A: locally, yes — that is exactly why the same rule runs again at merge time, where --no-verify does not exist.</a:t>
            </a:r>
          </a:p>
          <a:p/>
          <a:p>
            <a:r>
              <a:t>Q: "Do the agent's commits hit this hook?"</a:t>
            </a:r>
          </a:p>
          <a:p>
            <a:r>
              <a:t>A: yes — the agent runs git like anyone; the layers stack, they do not divide by author.</a:t>
            </a:r>
          </a:p>
          <a:p/>
          <a:p>
            <a:r>
              <a:t>Q: "Windows — no .ps1 extension?"</a:t>
            </a:r>
          </a:p>
          <a:p>
            <a:r>
              <a:t>A: hooks never go through Windows program resolution — git.exe finds and runs them itself, with the shell it ships; extension and exec bit are irrelevant on every OS, and PowerShell aliases cp so even the copy line is identical.</a:t>
            </a:r>
          </a:p>
          <a:p/>
          <a:p>
            <a:r>
              <a:t>Q: "So chmod is NEVER needed?"</a:t>
            </a:r>
          </a:p>
          <a:p>
            <a:r>
              <a:t>A: not with husky — RAW git hooks (.git/hooks, no husky) are executed directly by git and there chmod +x IS required, and the bit travels to teammates via git update-index --chmod=+x; the walkthrough carries that nuance.</a:t>
            </a:r>
          </a:p>
          <a:p/>
          <a:p>
            <a:r>
              <a:t>Q: "Every commit fails with npm error Missing script: test?"</a:t>
            </a:r>
          </a:p>
          <a:p>
            <a:r>
              <a:t>A: that is husky's STARTER pre-commit (npm test), not your hook — pre-commit runs BEFORE commit-msg, so it blocks first; delete it or add a test script (observed live on a real Windows repo, 2026-08-19).</a:t>
            </a:r>
          </a:p>
          <a:p/>
          <a:p>
            <a:r>
              <a:t>Q: "Every commit blocked with command not found, code 127, or a syntax error?"</a:t>
            </a:r>
          </a:p>
          <a:p>
            <a:r>
              <a:t>A: the hook file has Windows CRLF line endings — an editor default, or core.autocrlf converting at checkout; save as LF (VS Code: click CRLF in the status bar). Verified: a CRLF hook FAILS CLOSED — it blocks even valid commits.</a:t>
            </a:r>
          </a:p>
          <a:p/>
          <a:p>
            <a:r>
              <a:t>~8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team-lead feedback, 2026-08-18: shorter demos · git hook as the vehicle for Claude hooks · table talk]</a:t>
            </a:r>
          </a:p>
          <a:p/>
          <a:p>
            <a:r>
              <a:t>THIS SLIDE IS THE VEHICLE — the git-hook demo exists so this table can make the Claude hook a variation on something the room already runs, not a new thing. Say the sentence: "everything you just watched is about to happen again — the event moves from your commit to the agent's tool call." Walk ONE column at a time, not one row: commit column is what they just saw; authoring column is the demo they are about to build; merge column is the gate they wire in the exercise. The protect-seed note is the callback: they were blocked by a Claude hook in Lab 1 without being told the word.</a:t>
            </a:r>
          </a:p>
          <a:p/>
          <a:p>
            <a:r>
              <a:t>COMMON QUESTIONS</a:t>
            </a:r>
          </a:p>
          <a:p/>
          <a:p>
            <a:r>
              <a:t>Q: "If CI catches it anyway, why the Claude hook?"</a:t>
            </a:r>
          </a:p>
          <a:p>
            <a:r>
              <a:t>A: cost of the catch — at authoring time the fix is one message to an agent mid-task; at merge time it is a failed build after the work felt done. Same rule, cheaper moment.</a:t>
            </a:r>
          </a:p>
          <a:p/>
          <a:p>
            <a:r>
              <a:t>Q: "Which layer do I pick for a new rule?"</a:t>
            </a:r>
          </a:p>
          <a:p>
            <a:r>
              <a:t>A: the cheapest one that holds against the audience you are worried about — that question is the table-talk prompt coming shortly.</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review, 2026-08-19: refresher added — the prereq Hooks lesson is weeks old for most of the room, and the severity slide assumes its vocabulary]</a:t>
            </a:r>
          </a:p>
          <a:p/>
          <a:p>
            <a:r>
              <a:t>Sixty to ninety seconds down the left column, then point at the JSON: it is the SAME shape the handout gives for registering their exercise hook, shown here wired to protect-seed.js — the hook that blocked them in Lab 1. This is a REFRESHER, not first teaching — anyone who missed the Hooks lesson gets their teaching in the build-along. Other events exist (SessionStart, UserPromptSubmit, Stop) — name them only if asked; today is the two tool-call events. The exit-code bullet hands off to the next slide: WHICH event you register on is the severity decision. The new-session bullet previews the #1 stuck point of the exercise.</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room now knows both hook kinds, so this reads as the Claude-side refinement of the anatomy: git hooks have one lever (block or not); Claude hooks add WHICH EVENT, and that choice is the severity. The nudge shape (PostToolUse + exit 2) is genuinely useful and almost nobody knows it: the edit lands, and Claude is told to fix it.</a:t>
            </a:r>
          </a:p>
          <a:p/>
          <a:p>
            <a:r>
              <a:t>WORKED POSTTOOLUSE EXAMPLE, say it out loud (it is on the exercise menu, so this foreshadows): a PostToolUse hook on Edit|Write watches for an edited server/src *.ts with no sibling *.test.ts. The agent writes todos.service.ts — the edit LANDS, PostToolUse cannot stop it — the hook exits 2, and its stderr goes straight to the agent: "NOTE: todos.service.ts has no sibling test — add or extend todos.service.test.ts before opening the PR." The agent reads that mid-task and writes the test without being asked. Why nudge, not block? The rule is PARTLY — a comment fix or a rename would false-positive a block; the nudge informs without ever interrupting legitimate work. Name the taxonomy explicitly — mechanical, PARTLY, fuzzy — because most of the exercise menu lives in the middle bucket, and that is where their hook will live too.</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team-lead feedback, 2026-08-18: shorter demos · git hook as the vehicle for Claude hooks · table talk]</a:t>
            </a:r>
          </a:p>
          <a:p/>
          <a:p>
            <a:r>
              <a:t>THE STRUCTURED BEAT the tables asked for — you go on mute and watch chat; a reporter per table types the line; solo attendees answer individually. If the team sends a topics list before the session, seed it here by reading two items aloud as candidate rules. Silence from a table → Slack someone at it, never a call-out on the open call. The chat lines are tomorrow's guardrail backlog — say so, and copy the chat before call end (it feeds the capture entry too). This beat doubles as the mental break before the 19-minute build-along. Expected shapes: formatting/lint rules land at commit; test-discipline and boundary rules split between authoring-nudge and merge-gate — both defensible, ask "who are you holding it against?"</a:t>
            </a:r>
          </a:p>
          <a:p/>
          <a:p>
            <a:r>
              <a:t>~4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Two instructions: build along in your own copy as I go, and watch where the time goes — I will spend more time verifying than writing. Frame with the bridge: same anatomy as the git hook you just watched; the event is now the agent's tool call, the message file is now JSON on stdin, and non-zero is now exit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AGAINST this slide — call the step number as you go so anyone who drops can rejoin; on Meet nobody can glance at a neighbour's screen (though tables can — let them). STEP 6 IS THE TWO-MESSAGE BEAT and the demo's strongest minute — permission rules evaluate BEFORE PreToolUse hooks (verified live, 2026-08-19), so the deny answers first with the generic wall; pull the two db.json deny entries, NEW session, ask again — the hook answers with the four-part signpost; restore the entries. Say it: "the wall stops; the signpost redirects — and your clause this afternoon can ONLY be a hook, because deny rules match paths and hooks run logic."</a:t>
            </a:r>
          </a:p>
          <a:p/>
          <a:p>
            <a:r>
              <a:t>COMMON QUESTIONS</a:t>
            </a:r>
          </a:p>
          <a:p/>
          <a:p>
            <a:r>
              <a:t>Q: "The deny already blocks db.json — why would we ever need the hook?"</a:t>
            </a:r>
          </a:p>
          <a:p>
            <a:r>
              <a:t>A: three reasons — the deny is a WALL (generic refusal; the agent knows it was stopped, not why, so it guesses creatively) while the hook is a SIGNPOST (BLOCKED / Why / Instead / Done redirects it to the sanctioned path); deny rules can only match paths while hooks run LOGIC — the exercise clauses (sibling test, import boundary) cannot be deny rules at all; and the layers fail independently — the warm-up's paste-over failure kills a deny rule silently while the hook stands.</a:t>
            </a:r>
          </a:p>
          <a:p/>
          <a:p>
            <a:r>
              <a:t>Q: "Why three layers for one rule?"</a:t>
            </a:r>
          </a:p>
          <a:p>
            <a:r>
              <a:t>A: they fail differently — the line informs a reader, the deny stops the common case cheaply, the hook explains itself when it fires; you will not always build all three.</a:t>
            </a:r>
          </a:p>
          <a:p/>
          <a:p>
            <a:r>
              <a:t>Q: "My settings.json already has a hooks block — another one?"</a:t>
            </a:r>
          </a:p>
          <a:p>
            <a:r>
              <a:t>A: no — add a second entry to the EXISTING PreToolUse array (the handout shows the merged shape).</a:t>
            </a:r>
          </a:p>
          <a:p/>
          <a:p>
            <a:r>
              <a:t>Q: "Does the hook slow every edit?"</a:t>
            </a:r>
          </a:p>
          <a:p>
            <a:r>
              <a:t>A: it runs per matched tool call, milliseconds; if a hook is slow, that is the hook's fault, not the mechanism.</a:t>
            </a:r>
          </a:p>
          <a:p/>
          <a:p>
            <a:r>
              <a:t>Q: "Hook never fires?"</a:t>
            </a:r>
          </a:p>
          <a:p>
            <a:r>
              <a:t>A: nine times in ten, no new session — hooks load at session start, the way git hooks arrive at npm install; the rest: matcher or path normalisation (Windows backslashes).</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parallel to protect-seed, which they met on the bridge slide and can read in the repo — the shape is the point, not this rule. Make the two-rules distinction explicitly; the review agent flagged it as the most likely novice confusion of the block.</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it live if the room is comfortable; paste if behind. Call back the commit-msg hook as you type: same read-input → test → refuse shape — the input is JSON on stdin instead of a message file, and the block is exit 2 because exit codes are the contract everywhere. Say the Windows path normalisation out loud — it is the bug every cohort hits and why the hook is Node, not shell. Then register it together and restart sessions — the forgotten-restart is the "my hook never fires" stuck point.</a:t>
            </a:r>
          </a:p>
          <a:p/>
          <a:p>
            <a:r>
              <a:t>~5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review, 2026-08-19: expanded — the old cards were fragments that assumed the story]</a:t>
            </a:r>
          </a:p>
          <a:p/>
          <a:p>
            <a:r>
              <a:t>SAY THE FRAME FIRST, pointing at the lede: two failure modes, so two tests — an unverified guardrail is a belief. STEP 6 IS THE TWO-MESSAGE BEAT (slide 14 row 6): first ask — the DENY answers, the generic wall; pull the two db.json deny entries, NEW session, ask again — the HOOK answers, BLOCKED/Why/Instead/Done, the signpost; restore the entries. The hook's text is the evidence they save into the PR — that is what "demonstrated in a live agent run" means. STEP 7 IS THE HALF EVERYONE SKIPS — say why: novices prove the guardrail blocks and stop, but the killer failure is the FALSE POSITIVE discovered on Friday — it blocks legitimate work, someone disables the hook, and the layer dies. Silence + a green suite is a real test result, not an absence of one; and re-verify BOTH directions after every narrowing, because fixing a false positive often reopens the hole.</a:t>
            </a:r>
          </a:p>
          <a:p/>
          <a:p>
            <a:r>
              <a:t>THE BYPASS CARD is not a third verification — it is writing down the LEGAL ROUTE for the thing the rule blocks: data changes happen by editing seed.json in a PR flagged to the instructor, then npm run reset-db. Callback to the git demo: every layer has an escape hatch (--no-verify there); an undocumented one is the real governance hole, so one line in CLAUDE.md next to the rule, with the approver named. If your own hook false-positives live, that is a gift — work it through on the shared screen.</a:t>
            </a:r>
          </a:p>
          <a:p/>
          <a:p>
            <a:r>
              <a:t>~5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checkpoint gates worked · keep as built]</a:t>
            </a:r>
          </a:p>
          <a:p/>
          <a:p>
            <a:r>
              <a:t>Chat is the room-walk: refusal texts land where you can read them, and silence from a name is your signal to check in (Slack, not the whole call — though a table often fixes its own straggler before you get there; give it a beat). Common failure: a path check that also catches db.json.example or a test fixture. Fast finishers: read protect-seed.js and diff the two hooks' messages.</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review, 2026-08-19: exercise reworked — pick any written rule; no NFR assumed, no default named]</a:t>
            </a:r>
          </a:p>
          <a:p/>
          <a:p>
            <a:r>
              <a:t>PURE CHOICE on purpose — read all four rows aloud, then give the tables a quiet minute to pick; choosing at the table together is fine, clustering on one rule is fine. Every row traces to a doc the recap named — say the callback: "these are the laws from slide 3; you are hiring the police." Rescue detail per rule is in the teachers guide, never on screen. If someone brings their own rule, one filter only: can a script detect it from a file path or file content? Then build it.</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review, 2026-08-19: simplified — build the hook, verify it, done; no severity essays, no residue ceremony]</a:t>
            </a:r>
          </a:p>
          <a:p/>
          <a:p>
            <a:r>
              <a:t>FRAME IT IN ONE BREATH: the rule is already written; you are adding the police. Table talk during the build is welcome — compare approaches, debug a neighbour — but the artifact is individual: your rule, your hook, your evidence. Remote circulation = one whole-call chat nudge at ~7 min ("what does your allow case replay?" — no answer means verification is about to be skipped) + Slack for 1:1s. Rescue detail per menu rule is in the teachers guide — Slack it one piece at a time, never on screen.</a:t>
            </a:r>
          </a:p>
          <a:p/>
          <a:p>
            <a:r>
              <a:t>COMMON QUESTIONS</a:t>
            </a:r>
          </a:p>
          <a:p/>
          <a:p>
            <a:r>
              <a:t>Q: "Torn between rules?"</a:t>
            </a:r>
          </a:p>
          <a:p>
            <a:r>
              <a:t>A: the sibling-test nudge is the gentlest start; the store boundary is the most satisfying block.</a:t>
            </a:r>
          </a:p>
          <a:p/>
          <a:p>
            <a:r>
              <a:t>Q: "Do I need the hook AND the gate?"</a:t>
            </a:r>
          </a:p>
          <a:p>
            <a:r>
              <a:t>A: yes — different audiences: the hook stops the agent, the gate stops anyone.</a:t>
            </a:r>
          </a:p>
          <a:p/>
          <a:p>
            <a:r>
              <a:t>Q: "My detection regex is imperfect."</a:t>
            </a:r>
          </a:p>
          <a:p>
            <a:r>
              <a:t>A: that is exactly what nudges are for — an imperfect block stops real work; an imperfect nudge costs one ignorable note.</a:t>
            </a:r>
          </a:p>
          <a:p/>
          <a:p>
            <a:r>
              <a:t>~15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checkpoint gates worked · keep as built]</a:t>
            </a:r>
          </a:p>
          <a:p/>
          <a:p>
            <a:r>
              <a:t>Gate hard here: the CI-gate step reuses the same detection, which this checkpoint proves works. Fast finishers: build a second rule from the menu, or offer an allow-case replay to whoever asks in Slack.</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team-lead feedback, 2026-08-18: shorter demos · git hook as the vehicle for Claude hooks · table talk]</a:t>
            </a:r>
          </a:p>
          <a:p/>
          <a:p>
            <a:r>
              <a:t>WHAT THIS SLIDE TEACHES — say it as one breath at the top: (1) layer 4 is not new, it already runs — lint, typecheck, tests ARE merge-time governance, so the gate you build next is one more check in an existing file, not a new platform; (2) merge time is the layer of last resort — --no-verify cannot skip it, a fresh clone cannot miss it, it holds against anyone merging, agent or human; (3) gap analysis, rehearsed live. Open the real file, one minute, then ask "what rule is written but never run?" and WAIT — someone will find format:check (a package.json script CI never calls); the skill being taught is the gap analysis, not prettier. Land the division of labour: the repo's review agent is explicitly told NOT to re-report what lint and typecheck already catch — non-AI guardrails are the floor; spend the AI layer on what only it can see. Connect to their world: their own Actions pipeline is this same layer, built in-house.</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checkpoint gates worked · keep as built]</a:t>
            </a:r>
          </a:p>
          <a:p/>
          <a:p>
            <a:r>
              <a:t>THE GOTCHA that will eat this step remotely: the gate runs on pull_request — a student who commits to their branch and waits will conclude it does not work. Say it before they start: push, open a draft PR, watch the check.</a:t>
            </a:r>
          </a:p>
          <a:p/>
          <a:p>
            <a:r>
              <a:t>CONCRETE CORES for all four menu rules are in the teachers guide (rescue detail — Slack, never on screen); each is a diff-scoped grep, so pre-existing code never trips it. If someone notices their gate fires on a docs-only PR, nice catch — a path filter is the one-line fix; do not make it a required decision, keep the momentum on build-and-verify.</a:t>
            </a:r>
          </a:p>
          <a:p/>
          <a:p>
            <a:r>
              <a:t>~10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team-lead feedback, 2026-08-18: shorter demos · git hook as the vehicle for Claude hooks · table talk]</a:t>
            </a:r>
          </a:p>
          <a:p/>
          <a:p>
            <a:r>
              <a:t>The usual straggler is the draft-PR gotcha (a pushed branch alone runs nothing) and the shallow-clone diff failure (fetch-depth: 0). CI runs take a minute or two — use the wait to skim the chat links as they land. Fast finishers: a second menu rule, or the telemetry stretch.</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review, 2026-08-19: questions reworked for the pick-a-rule exercise]</a:t>
            </a:r>
          </a:p>
          <a:p/>
          <a:p>
            <a:r>
              <a:t>Push hardest on the false-positive question — it reveals whether anyone actually ran the allow case. The last question bridges to the table-talk backlog from slide 12 — pull those chat lines back up if the room stalls. If a table had a good argument during the build, invite THAT to the mic — a disagreement about severity is better review material than a working demo.</a:t>
            </a:r>
          </a:p>
          <a:p/>
          <a:p>
            <a:r>
              <a:t>~10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framing over content. The guide is written for a team new to governance — it opens with the four terms, Crawl is one person's afternoon, and every tool option carries its trap named. Callback: this handout reached you as one canonical repo plus a pointer — crawl — and giget if you ran it, most of walk. Done = the template filled: rung, FIRST MOVE, and an owner who is a person. The two fields people skip are Owner and Not-doing-yet, and they are the two that matter. "We will decide later" is the only answer that costs more than acting.</a:t>
            </a:r>
          </a:p>
          <a:p/>
          <a:p>
            <a:r>
              <a:t>IF AI MEMORY SERVICES COME UP (Mem0, Zep, OpenMemory — or Claude Code's own auto-memory): they are an emerging DISTRIBUTION channel, not an enforcement layer — a shared memory can make team conventions ambient across sessions and repos, which is attractive at the run rung, but recalled memory is layer 1: it informs, it never enforces, and it recalls probabilistically. Two honest caveats to give: provenance and currency are harder to audit than a pinned file (which copy is authoritative? when did it change?), so if the team adopts one, the standard's HOME stays the governance repo and memory is a projection of it; and the enforcing layers — hooks, gates — still need the deterministic files either way. Good fit: preferences and recurring context; wrong fit: the law.</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checkpoint gates worked · keep as built]</a:t>
            </a:r>
          </a:p>
          <a:p/>
          <a:p>
            <a:r>
              <a:t>Close on the deny/ask list — the thing every person applies tomorrow regardless of how far they got. Read the ship checklist as one list; it mirrors the handout exactly. Retro as a chat waterfall: type, hold, 3-2-1 send.</a:t>
            </a:r>
          </a:p>
          <a:p/>
          <a:p>
            <a:r>
              <a:t>COPY THE CHAT BEFORE ENDING THE CALL — Meet deletes it, and the refusal texts + gate run URLs + table-talk lines + retro lines feed the capture entry. INSTRUCTOR, within 24h: file the lab-capture entry (AI-Transformation-Playbook/04-labs/lab-capture-template.md) — outcomes, stuck points, timings, and the interactive-format observations (table talk, git-hook-first bridge): this session is the validation data point for that variant.</a:t>
            </a:r>
          </a:p>
          <a:p/>
          <a:p>
            <a:r>
              <a:t>~5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1965960"/>
            <a:ext cx="7863840" cy="914400"/>
          </a:xfrm>
          <a:prstGeom prst="rect">
            <a:avLst/>
          </a:prstGeom>
          <a:noFill/>
        </p:spPr>
        <p:txBody>
          <a:bodyPr wrap="square" anchor="t" lIns="0" rIns="0" tIns="0" bIns="0">
            <a:spAutoFit/>
          </a:bodyPr>
          <a:lstStyle/>
          <a:p>
            <a:pPr algn="l">
              <a:spcAft>
                <a:spcPts val="400"/>
              </a:spcAft>
            </a:pPr>
            <a:r>
              <a:rPr sz="3600" b="1">
                <a:solidFill>
                  <a:srgbClr val="FFFFFF"/>
                </a:solidFill>
                <a:latin typeface="Arial"/>
              </a:rPr>
              <a:t>Guardrails, and Making Standards Travel</a:t>
            </a:r>
          </a:p>
        </p:txBody>
      </p:sp>
      <p:sp>
        <p:nvSpPr>
          <p:cNvPr id="5" name="TextBox 4"/>
          <p:cNvSpPr txBox="1"/>
          <p:nvPr/>
        </p:nvSpPr>
        <p:spPr>
          <a:xfrm>
            <a:off x="548640" y="2926080"/>
            <a:ext cx="7863840" cy="457200"/>
          </a:xfrm>
          <a:prstGeom prst="rect">
            <a:avLst/>
          </a:prstGeom>
          <a:noFill/>
        </p:spPr>
        <p:txBody>
          <a:bodyPr wrap="square" anchor="t" lIns="0" rIns="0" tIns="0" bIns="0">
            <a:spAutoFit/>
          </a:bodyPr>
          <a:lstStyle/>
          <a:p>
            <a:pPr algn="l">
              <a:lnSpc>
                <a:spcPct val="130000"/>
              </a:lnSpc>
              <a:spcAft>
                <a:spcPts val="400"/>
              </a:spcAft>
            </a:pPr>
            <a:r>
              <a:rPr sz="1400" b="0">
                <a:solidFill>
                  <a:srgbClr val="CCD9FF"/>
                </a:solidFill>
                <a:latin typeface="Arial"/>
              </a:rPr>
              <a:t>Lab 2.b — making a written rule refuse to be violated</a:t>
            </a:r>
          </a:p>
        </p:txBody>
      </p:sp>
      <p:sp>
        <p:nvSpPr>
          <p:cNvPr id="6" name="TextBox 5"/>
          <p:cNvSpPr txBox="1"/>
          <p:nvPr/>
        </p:nvSpPr>
        <p:spPr>
          <a:xfrm>
            <a:off x="548640" y="4434840"/>
            <a:ext cx="7863840" cy="274320"/>
          </a:xfrm>
          <a:prstGeom prst="rect">
            <a:avLst/>
          </a:prstGeom>
          <a:noFill/>
        </p:spPr>
        <p:txBody>
          <a:bodyPr wrap="square" anchor="t" lIns="0" rIns="0" tIns="0" bIns="0">
            <a:spAutoFit/>
          </a:bodyPr>
          <a:lstStyle/>
          <a:p>
            <a:pPr algn="l">
              <a:spcAft>
                <a:spcPts val="400"/>
              </a:spcAft>
            </a:pPr>
            <a:r>
              <a:rPr sz="1000" b="0">
                <a:solidFill>
                  <a:srgbClr val="A9B7F7"/>
                </a:solidFill>
                <a:latin typeface="Arial"/>
              </a:rPr>
              <a:t>FSL AI Training · Phase 1 · Week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TODAY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Two hours, hands-on</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Rectangle 7"/>
          <p:cNvSpPr/>
          <p:nvPr/>
        </p:nvSpPr>
        <p:spPr>
          <a:xfrm>
            <a:off x="548640" y="1554480"/>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5506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8 min</a:t>
            </a:r>
          </a:p>
        </p:txBody>
      </p:sp>
      <p:sp>
        <p:nvSpPr>
          <p:cNvPr id="10" name="TextBox 9"/>
          <p:cNvSpPr txBox="1"/>
          <p:nvPr/>
        </p:nvSpPr>
        <p:spPr>
          <a:xfrm>
            <a:off x="1691640" y="1604772"/>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Recap + why</a:t>
            </a:r>
          </a:p>
        </p:txBody>
      </p:sp>
      <p:sp>
        <p:nvSpPr>
          <p:cNvPr id="11" name="TextBox 10"/>
          <p:cNvSpPr txBox="1"/>
          <p:nvPr/>
        </p:nvSpPr>
        <p:spPr>
          <a:xfrm>
            <a:off x="4389120" y="162306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You have documents. Nothing enforces them</a:t>
            </a:r>
          </a:p>
        </p:txBody>
      </p:sp>
      <p:sp>
        <p:nvSpPr>
          <p:cNvPr id="12" name="Rectangle 11"/>
          <p:cNvSpPr/>
          <p:nvPr/>
        </p:nvSpPr>
        <p:spPr>
          <a:xfrm>
            <a:off x="548640" y="2029967"/>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130551"/>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10 min</a:t>
            </a:r>
          </a:p>
        </p:txBody>
      </p:sp>
      <p:sp>
        <p:nvSpPr>
          <p:cNvPr id="14" name="TextBox 13"/>
          <p:cNvSpPr txBox="1"/>
          <p:nvPr/>
        </p:nvSpPr>
        <p:spPr>
          <a:xfrm>
            <a:off x="1691640" y="2080260"/>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The map + warm-up</a:t>
            </a:r>
          </a:p>
        </p:txBody>
      </p:sp>
      <p:sp>
        <p:nvSpPr>
          <p:cNvPr id="15" name="TextBox 14"/>
          <p:cNvSpPr txBox="1"/>
          <p:nvPr/>
        </p:nvSpPr>
        <p:spPr>
          <a:xfrm>
            <a:off x="4389120" y="2098548"/>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Five layers on a timeline; the five-minute guardrail</a:t>
            </a:r>
          </a:p>
        </p:txBody>
      </p:sp>
      <p:sp>
        <p:nvSpPr>
          <p:cNvPr id="16" name="Rectangle 15"/>
          <p:cNvSpPr/>
          <p:nvPr/>
        </p:nvSpPr>
        <p:spPr>
          <a:xfrm>
            <a:off x="548640" y="2505456"/>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06040"/>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21 min</a:t>
            </a:r>
          </a:p>
        </p:txBody>
      </p:sp>
      <p:sp>
        <p:nvSpPr>
          <p:cNvPr id="18" name="TextBox 17"/>
          <p:cNvSpPr txBox="1"/>
          <p:nvPr/>
        </p:nvSpPr>
        <p:spPr>
          <a:xfrm>
            <a:off x="1691640" y="2555748"/>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The hook, twice</a:t>
            </a:r>
          </a:p>
        </p:txBody>
      </p:sp>
      <p:sp>
        <p:nvSpPr>
          <p:cNvPr id="19" name="TextBox 18"/>
          <p:cNvSpPr txBox="1"/>
          <p:nvPr/>
        </p:nvSpPr>
        <p:spPr>
          <a:xfrm>
            <a:off x="4389120" y="2574036"/>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A git hook you already run → the Claude hook it explains · table talk</a:t>
            </a:r>
          </a:p>
        </p:txBody>
      </p:sp>
      <p:sp>
        <p:nvSpPr>
          <p:cNvPr id="20" name="Rectangle 19"/>
          <p:cNvSpPr/>
          <p:nvPr/>
        </p:nvSpPr>
        <p:spPr>
          <a:xfrm>
            <a:off x="548640" y="2980944"/>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081527"/>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19 min</a:t>
            </a:r>
          </a:p>
        </p:txBody>
      </p:sp>
      <p:sp>
        <p:nvSpPr>
          <p:cNvPr id="22" name="TextBox 21"/>
          <p:cNvSpPr txBox="1"/>
          <p:nvPr/>
        </p:nvSpPr>
        <p:spPr>
          <a:xfrm>
            <a:off x="1691640" y="3031236"/>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Demo — build along</a:t>
            </a:r>
          </a:p>
        </p:txBody>
      </p:sp>
      <p:sp>
        <p:nvSpPr>
          <p:cNvPr id="23" name="TextBox 22"/>
          <p:cNvSpPr txBox="1"/>
          <p:nvPr/>
        </p:nvSpPr>
        <p:spPr>
          <a:xfrm>
            <a:off x="4389120" y="3049524"/>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One guardrail, verified, in YOUR copy</a:t>
            </a:r>
          </a:p>
        </p:txBody>
      </p:sp>
      <p:sp>
        <p:nvSpPr>
          <p:cNvPr id="24" name="Rectangle 23"/>
          <p:cNvSpPr/>
          <p:nvPr/>
        </p:nvSpPr>
        <p:spPr>
          <a:xfrm>
            <a:off x="548640" y="3456432"/>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557016"/>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34 min</a:t>
            </a:r>
          </a:p>
        </p:txBody>
      </p:sp>
      <p:sp>
        <p:nvSpPr>
          <p:cNvPr id="26" name="TextBox 25"/>
          <p:cNvSpPr txBox="1"/>
          <p:nvPr/>
        </p:nvSpPr>
        <p:spPr>
          <a:xfrm>
            <a:off x="1691640" y="3506724"/>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Your rule</a:t>
            </a:r>
          </a:p>
        </p:txBody>
      </p:sp>
      <p:sp>
        <p:nvSpPr>
          <p:cNvPr id="27" name="TextBox 26"/>
          <p:cNvSpPr txBox="1"/>
          <p:nvPr/>
        </p:nvSpPr>
        <p:spPr>
          <a:xfrm>
            <a:off x="4389120" y="3525012"/>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Pick a written rule → hook → CI gate; both checkpointed</a:t>
            </a:r>
          </a:p>
        </p:txBody>
      </p:sp>
      <p:sp>
        <p:nvSpPr>
          <p:cNvPr id="28" name="Rectangle 27"/>
          <p:cNvSpPr/>
          <p:nvPr/>
        </p:nvSpPr>
        <p:spPr>
          <a:xfrm>
            <a:off x="548640" y="3931920"/>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03250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10 min</a:t>
            </a:r>
          </a:p>
        </p:txBody>
      </p:sp>
      <p:sp>
        <p:nvSpPr>
          <p:cNvPr id="30" name="TextBox 29"/>
          <p:cNvSpPr txBox="1"/>
          <p:nvPr/>
        </p:nvSpPr>
        <p:spPr>
          <a:xfrm>
            <a:off x="1691640" y="3982211"/>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Review</a:t>
            </a:r>
          </a:p>
        </p:txBody>
      </p:sp>
      <p:sp>
        <p:nvSpPr>
          <p:cNvPr id="31" name="TextBox 30"/>
          <p:cNvSpPr txBox="1"/>
          <p:nvPr/>
        </p:nvSpPr>
        <p:spPr>
          <a:xfrm>
            <a:off x="4389120" y="400050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False positives, bypasses, residue</a:t>
            </a:r>
          </a:p>
        </p:txBody>
      </p:sp>
      <p:sp>
        <p:nvSpPr>
          <p:cNvPr id="32" name="Rectangle 31"/>
          <p:cNvSpPr/>
          <p:nvPr/>
        </p:nvSpPr>
        <p:spPr>
          <a:xfrm>
            <a:off x="548640" y="4407408"/>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507992"/>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8 min</a:t>
            </a:r>
          </a:p>
        </p:txBody>
      </p:sp>
      <p:sp>
        <p:nvSpPr>
          <p:cNvPr id="34" name="TextBox 33"/>
          <p:cNvSpPr txBox="1"/>
          <p:nvPr/>
        </p:nvSpPr>
        <p:spPr>
          <a:xfrm>
            <a:off x="1691640" y="4457700"/>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Hand-off, wrap &amp; retro</a:t>
            </a:r>
          </a:p>
        </p:txBody>
      </p:sp>
      <p:sp>
        <p:nvSpPr>
          <p:cNvPr id="35" name="TextBox 34"/>
          <p:cNvSpPr txBox="1"/>
          <p:nvPr/>
        </p:nvSpPr>
        <p:spPr>
          <a:xfrm>
            <a:off x="4389120" y="4475988"/>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The sixth artifact; reflect; capture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RECAP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law already on the books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One sentence: the law is written, and there is no police force.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CLAUDE.md has conventions. </a:t>
            </a:r>
            <a:r>
              <a:rPr sz="1250" b="0">
                <a:solidFill>
                  <a:srgbClr val="434343"/>
                </a:solidFill>
                <a:latin typeface="Arial"/>
              </a:rPr>
              <a:t>Typed errors from lib/errors.ts; the logger, never console.</a:t>
            </a:r>
          </a:p>
          <a:p>
            <a:pPr algn="l">
              <a:lnSpc>
                <a:spcPct val="122000"/>
              </a:lnSpc>
              <a:spcAft>
                <a:spcPts val="900"/>
              </a:spcAft>
            </a:pPr>
            <a:r>
              <a:rPr sz="1250" b="1">
                <a:solidFill>
                  <a:srgbClr val="403FE8"/>
                </a:solidFill>
                <a:latin typeface="Arial"/>
              </a:rPr>
              <a:t>•  </a:t>
            </a:r>
            <a:r>
              <a:rPr sz="1250" b="1">
                <a:solidFill>
                  <a:srgbClr val="13135E"/>
                </a:solidFill>
                <a:latin typeface="Arial"/>
              </a:rPr>
              <a:t>ADR-0001 has a law. </a:t>
            </a:r>
            <a:r>
              <a:rPr sz="1250" b="0">
                <a:solidFill>
                  <a:srgbClr val="434343"/>
                </a:solidFill>
                <a:latin typeface="Arial"/>
              </a:rPr>
              <a:t>Every response goes through respond.ts — the envelope.</a:t>
            </a:r>
          </a:p>
          <a:p>
            <a:pPr algn="l">
              <a:lnSpc>
                <a:spcPct val="122000"/>
              </a:lnSpc>
              <a:spcAft>
                <a:spcPts val="900"/>
              </a:spcAft>
            </a:pPr>
            <a:r>
              <a:rPr sz="1250" b="1">
                <a:solidFill>
                  <a:srgbClr val="403FE8"/>
                </a:solidFill>
                <a:latin typeface="Arial"/>
              </a:rPr>
              <a:t>•  </a:t>
            </a:r>
            <a:r>
              <a:rPr sz="1250" b="1">
                <a:solidFill>
                  <a:srgbClr val="13135E"/>
                </a:solidFill>
                <a:latin typeface="Arial"/>
              </a:rPr>
              <a:t>.claude/rules/testing.md has rules. </a:t>
            </a:r>
            <a:r>
              <a:rPr sz="1250" b="0">
                <a:solidFill>
                  <a:srgbClr val="434343"/>
                </a:solidFill>
                <a:latin typeface="Arial"/>
              </a:rPr>
              <a:t>Vitest, co-located tests, query by role — no test ids.</a:t>
            </a:r>
          </a:p>
          <a:p>
            <a:pPr algn="l">
              <a:lnSpc>
                <a:spcPct val="122000"/>
              </a:lnSpc>
              <a:spcAft>
                <a:spcPts val="900"/>
              </a:spcAft>
            </a:pPr>
            <a:r>
              <a:rPr sz="1250" b="1">
                <a:solidFill>
                  <a:srgbClr val="403FE8"/>
                </a:solidFill>
                <a:latin typeface="Arial"/>
              </a:rPr>
              <a:t>•  </a:t>
            </a:r>
            <a:r>
              <a:rPr sz="1250" b="1">
                <a:solidFill>
                  <a:srgbClr val="13135E"/>
                </a:solidFill>
                <a:latin typeface="Arial"/>
              </a:rPr>
              <a:t>And nothing enforces any of them. </a:t>
            </a:r>
            <a:r>
              <a:rPr sz="1250" b="0">
                <a:solidFill>
                  <a:srgbClr val="434343"/>
                </a:solidFill>
                <a:latin typeface="Arial"/>
              </a:rPr>
              <a:t>That is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PREMISE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TextBox 7"/>
          <p:cNvSpPr txBox="1"/>
          <p:nvPr/>
        </p:nvSpPr>
        <p:spPr>
          <a:xfrm>
            <a:off x="548640" y="1783080"/>
            <a:ext cx="7863840" cy="1463040"/>
          </a:xfrm>
          <a:prstGeom prst="rect">
            <a:avLst/>
          </a:prstGeom>
          <a:noFill/>
        </p:spPr>
        <p:txBody>
          <a:bodyPr wrap="square" anchor="t" lIns="0" rIns="0" tIns="0" bIns="0">
            <a:spAutoFit/>
          </a:bodyPr>
          <a:lstStyle/>
          <a:p>
            <a:pPr algn="l">
              <a:lnSpc>
                <a:spcPct val="118000"/>
              </a:lnSpc>
              <a:spcAft>
                <a:spcPts val="400"/>
              </a:spcAft>
            </a:pPr>
            <a:r>
              <a:rPr sz="2800" b="1">
                <a:solidFill>
                  <a:srgbClr val="13135E"/>
                </a:solidFill>
                <a:latin typeface="Arial"/>
              </a:rPr>
              <a:t>The model layer cannot be the control.</a:t>
            </a:r>
          </a:p>
        </p:txBody>
      </p:sp>
      <p:sp>
        <p:nvSpPr>
          <p:cNvPr id="9" name="TextBox 8"/>
          <p:cNvSpPr txBox="1"/>
          <p:nvPr/>
        </p:nvSpPr>
        <p:spPr>
          <a:xfrm>
            <a:off x="548640" y="3429000"/>
            <a:ext cx="7863840" cy="1005840"/>
          </a:xfrm>
          <a:prstGeom prst="rect">
            <a:avLst/>
          </a:prstGeom>
          <a:noFill/>
        </p:spPr>
        <p:txBody>
          <a:bodyPr wrap="square" anchor="t" lIns="0" rIns="0" tIns="0" bIns="0">
            <a:spAutoFit/>
          </a:bodyPr>
          <a:lstStyle/>
          <a:p>
            <a:pPr algn="l">
              <a:lnSpc>
                <a:spcPct val="130000"/>
              </a:lnSpc>
              <a:spcAft>
                <a:spcPts val="400"/>
              </a:spcAft>
            </a:pPr>
            <a:r>
              <a:rPr sz="1250" b="0">
                <a:solidFill>
                  <a:srgbClr val="434343"/>
                </a:solidFill>
                <a:latin typeface="Arial"/>
              </a:rPr>
              <a:t>Models are non-deterministic and persuadable. A rule in CLAUDE.md holds most of the time and fails exactly when someone asks for something reasonable-sounding that violates it. Three words for the rest of the block: a GUARDRAIL is any deterministic mechanism — permission rule, hook, CI check — that refuses a violation instead of describing one. A HOOK is an interception point before or after a consequential action. A POLICY is the deterministic rule evaluated against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MAP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Five layers of enforcement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Each layer catches a different audience — today the enforcing layers each get a short demo, told as a timeline: authoring → commit → merge.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7373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Layer</a:t>
            </a:r>
          </a:p>
        </p:txBody>
      </p:sp>
      <p:sp>
        <p:nvSpPr>
          <p:cNvPr id="11" name="TextBox 10"/>
          <p:cNvSpPr txBox="1"/>
          <p:nvPr/>
        </p:nvSpPr>
        <p:spPr>
          <a:xfrm>
            <a:off x="2560320" y="2089404"/>
            <a:ext cx="30175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Where it lives</a:t>
            </a:r>
          </a:p>
        </p:txBody>
      </p:sp>
      <p:sp>
        <p:nvSpPr>
          <p:cNvPr id="12" name="TextBox 11"/>
          <p:cNvSpPr txBox="1"/>
          <p:nvPr/>
        </p:nvSpPr>
        <p:spPr>
          <a:xfrm>
            <a:off x="5760720" y="2089404"/>
            <a:ext cx="27432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Holds against</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1 Instruction</a:t>
            </a:r>
          </a:p>
        </p:txBody>
      </p:sp>
      <p:sp>
        <p:nvSpPr>
          <p:cNvPr id="15" name="TextBox 14"/>
          <p:cNvSpPr txBox="1"/>
          <p:nvPr/>
        </p:nvSpPr>
        <p:spPr>
          <a:xfrm>
            <a:off x="2560320" y="2377440"/>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CLAUDE.md, docs behind a trigger table</a:t>
            </a:r>
          </a:p>
        </p:txBody>
      </p:sp>
      <p:sp>
        <p:nvSpPr>
          <p:cNvPr id="16" name="TextBox 15"/>
          <p:cNvSpPr txBox="1"/>
          <p:nvPr/>
        </p:nvSpPr>
        <p:spPr>
          <a:xfrm>
            <a:off x="5760720" y="2377440"/>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Nothing reliably — it informs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2 Claude hooks + permissions</a:t>
            </a:r>
          </a:p>
        </p:txBody>
      </p:sp>
      <p:sp>
        <p:nvSpPr>
          <p:cNvPr id="19" name="TextBox 18"/>
          <p:cNvSpPr txBox="1"/>
          <p:nvPr/>
        </p:nvSpPr>
        <p:spPr>
          <a:xfrm>
            <a:off x="2560320" y="2761488"/>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.claude/settings.json — deterministic, client-side</a:t>
            </a:r>
          </a:p>
        </p:txBody>
      </p:sp>
      <p:sp>
        <p:nvSpPr>
          <p:cNvPr id="20" name="TextBox 19"/>
          <p:cNvSpPr txBox="1"/>
          <p:nvPr/>
        </p:nvSpPr>
        <p:spPr>
          <a:xfrm>
            <a:off x="5760720" y="2761488"/>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agent, at authoring time</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3 Commit-time</a:t>
            </a:r>
          </a:p>
        </p:txBody>
      </p:sp>
      <p:sp>
        <p:nvSpPr>
          <p:cNvPr id="23" name="TextBox 22"/>
          <p:cNvSpPr txBox="1"/>
          <p:nvPr/>
        </p:nvSpPr>
        <p:spPr>
          <a:xfrm>
            <a:off x="2560320" y="3145536"/>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git hooks, commit lint</a:t>
            </a:r>
          </a:p>
        </p:txBody>
      </p:sp>
      <p:sp>
        <p:nvSpPr>
          <p:cNvPr id="24" name="TextBox 23"/>
          <p:cNvSpPr txBox="1"/>
          <p:nvPr/>
        </p:nvSpPr>
        <p:spPr>
          <a:xfrm>
            <a:off x="5760720" y="3145536"/>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Anyone committing locally</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4 CI gates</a:t>
            </a:r>
          </a:p>
        </p:txBody>
      </p:sp>
      <p:sp>
        <p:nvSpPr>
          <p:cNvPr id="27" name="TextBox 26"/>
          <p:cNvSpPr txBox="1"/>
          <p:nvPr/>
        </p:nvSpPr>
        <p:spPr>
          <a:xfrm>
            <a:off x="2560320" y="3529584"/>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workflows, static analysis, custom validators</a:t>
            </a:r>
          </a:p>
        </p:txBody>
      </p:sp>
      <p:sp>
        <p:nvSpPr>
          <p:cNvPr id="28" name="TextBox 27"/>
          <p:cNvSpPr txBox="1"/>
          <p:nvPr/>
        </p:nvSpPr>
        <p:spPr>
          <a:xfrm>
            <a:off x="5760720" y="3529584"/>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Anyone merging — agent or human</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5 Documented bypass</a:t>
            </a:r>
          </a:p>
        </p:txBody>
      </p:sp>
      <p:sp>
        <p:nvSpPr>
          <p:cNvPr id="31" name="TextBox 30"/>
          <p:cNvSpPr txBox="1"/>
          <p:nvPr/>
        </p:nvSpPr>
        <p:spPr>
          <a:xfrm>
            <a:off x="2560320" y="3913631"/>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written escape hatch with a named approver</a:t>
            </a:r>
          </a:p>
        </p:txBody>
      </p:sp>
      <p:sp>
        <p:nvSpPr>
          <p:cNvPr id="32" name="TextBox 31"/>
          <p:cNvSpPr txBox="1"/>
          <p:nvPr/>
        </p:nvSpPr>
        <p:spPr>
          <a:xfrm>
            <a:off x="5760720" y="3913631"/>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Nothing — it keeps 1–4 honest</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This repo ships guardrails only at layers 1–2 (its CI runs lint and tests, but no governance gate yet). Today you build in 1–2 and wire ONE layer-4 gate so you feel what it costs. Layer 3 you will watch get built — adding it to your copy is a stretch.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WHERE THIS GROWS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Where organizations start, and where this grows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Most organizations begin with almost none of this — and that is normal. One team grew from exactly there to four custom static-analysis rules and nine merge-blocking validators, one rule at a time.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6459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Layer</a:t>
            </a:r>
          </a:p>
        </p:txBody>
      </p:sp>
      <p:sp>
        <p:nvSpPr>
          <p:cNvPr id="11" name="TextBox 10"/>
          <p:cNvSpPr txBox="1"/>
          <p:nvPr/>
        </p:nvSpPr>
        <p:spPr>
          <a:xfrm>
            <a:off x="2468880" y="2089404"/>
            <a:ext cx="27432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 typical starting point</a:t>
            </a:r>
          </a:p>
        </p:txBody>
      </p:sp>
      <p:sp>
        <p:nvSpPr>
          <p:cNvPr id="12" name="TextBox 11"/>
          <p:cNvSpPr txBox="1"/>
          <p:nvPr/>
        </p:nvSpPr>
        <p:spPr>
          <a:xfrm>
            <a:off x="5394960" y="2089404"/>
            <a:ext cx="31089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aspiration</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6459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3 Commit-time</a:t>
            </a:r>
          </a:p>
        </p:txBody>
      </p:sp>
      <p:sp>
        <p:nvSpPr>
          <p:cNvPr id="15" name="TextBox 14"/>
          <p:cNvSpPr txBox="1"/>
          <p:nvPr/>
        </p:nvSpPr>
        <p:spPr>
          <a:xfrm>
            <a:off x="2468880" y="2377440"/>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none, or one stale lint hook</a:t>
            </a:r>
          </a:p>
        </p:txBody>
      </p:sp>
      <p:sp>
        <p:nvSpPr>
          <p:cNvPr id="16" name="TextBox 15"/>
          <p:cNvSpPr txBox="1"/>
          <p:nvPr/>
        </p:nvSpPr>
        <p:spPr>
          <a:xfrm>
            <a:off x="5394960" y="2377440"/>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commit lint, pre-commit checks on staged files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6459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4 CI gates</a:t>
            </a:r>
          </a:p>
        </p:txBody>
      </p:sp>
      <p:sp>
        <p:nvSpPr>
          <p:cNvPr id="19" name="TextBox 18"/>
          <p:cNvSpPr txBox="1"/>
          <p:nvPr/>
        </p:nvSpPr>
        <p:spPr>
          <a:xfrm>
            <a:off x="2468880" y="2761488"/>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build + unit tests only</a:t>
            </a:r>
          </a:p>
        </p:txBody>
      </p:sp>
      <p:sp>
        <p:nvSpPr>
          <p:cNvPr id="20" name="TextBox 19"/>
          <p:cNvSpPr txBox="1"/>
          <p:nvPr/>
        </p:nvSpPr>
        <p:spPr>
          <a:xfrm>
            <a:off x="5394960" y="2761488"/>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custom static-analysis rules, merge-blocking validators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6459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5 Documented bypass</a:t>
            </a:r>
          </a:p>
        </p:txBody>
      </p:sp>
      <p:sp>
        <p:nvSpPr>
          <p:cNvPr id="23" name="TextBox 22"/>
          <p:cNvSpPr txBox="1"/>
          <p:nvPr/>
        </p:nvSpPr>
        <p:spPr>
          <a:xfrm>
            <a:off x="2468880" y="3145536"/>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unwritten — people just know who to ask</a:t>
            </a:r>
          </a:p>
        </p:txBody>
      </p:sp>
      <p:sp>
        <p:nvSpPr>
          <p:cNvPr id="24" name="TextBox 23"/>
          <p:cNvSpPr txBox="1"/>
          <p:nvPr/>
        </p:nvSpPr>
        <p:spPr>
          <a:xfrm>
            <a:off x="5394960" y="3145536"/>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APPROVED- conventions + telemetry on fire/bypass rates</a:t>
            </a:r>
          </a:p>
        </p:txBody>
      </p:sp>
      <p:sp>
        <p:nvSpPr>
          <p:cNvPr id="25" name="TextBox 24"/>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That team governs its own AI agent the same way — an ordinary NFR with MUST clauses and thresholds; rules about AI are just rules. Everything you build today is a first step on this road.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WARM-UP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five-minute guardrail</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Three verdicts, not two: allow (silent), ask (stop and check), deny (never). The middle one is the one teams forget.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1965960"/>
            <a:ext cx="8046720" cy="220370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965960"/>
            <a:ext cx="41148" cy="220370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03120"/>
            <a:ext cx="7635240" cy="1947672"/>
          </a:xfrm>
          <a:prstGeom prst="rect">
            <a:avLst/>
          </a:prstGeom>
          <a:noFill/>
        </p:spPr>
        <p:txBody>
          <a:bodyPr wrap="square" anchor="t" lIns="0" rIns="0" tIns="0" bIns="0">
            <a:spAutoFit/>
          </a:bodyPr>
          <a:lstStyle/>
          <a:p>
            <a:pPr algn="l">
              <a:lnSpc>
                <a:spcPct val="114000"/>
              </a:lnSpc>
              <a:spcAft>
                <a:spcPts val="0"/>
              </a:spcAft>
            </a:pPr>
            <a:r>
              <a:rPr sz="750" b="0">
                <a:solidFill>
                  <a:srgbClr val="434343"/>
                </a:solidFill>
                <a:latin typeface="Consolas"/>
              </a:rPr>
              <a:t>{</a:t>
            </a:r>
          </a:p>
          <a:p>
            <a:pPr algn="l">
              <a:lnSpc>
                <a:spcPct val="114000"/>
              </a:lnSpc>
              <a:spcAft>
                <a:spcPts val="0"/>
              </a:spcAft>
            </a:pPr>
            <a:r>
              <a:rPr sz="750" b="0">
                <a:solidFill>
                  <a:srgbClr val="434343"/>
                </a:solidFill>
                <a:latin typeface="Consolas"/>
              </a:rPr>
              <a:t>  "permissions": {</a:t>
            </a:r>
          </a:p>
          <a:p>
            <a:pPr algn="l">
              <a:lnSpc>
                <a:spcPct val="114000"/>
              </a:lnSpc>
              <a:spcAft>
                <a:spcPts val="0"/>
              </a:spcAft>
            </a:pPr>
            <a:r>
              <a:rPr sz="750" b="0">
                <a:solidFill>
                  <a:srgbClr val="434343"/>
                </a:solidFill>
                <a:latin typeface="Consolas"/>
              </a:rPr>
              <a:t>    "allow": [],</a:t>
            </a:r>
          </a:p>
          <a:p>
            <a:pPr algn="l">
              <a:lnSpc>
                <a:spcPct val="114000"/>
              </a:lnSpc>
              <a:spcAft>
                <a:spcPts val="0"/>
              </a:spcAft>
            </a:pPr>
            <a:r>
              <a:rPr sz="750" b="0">
                <a:solidFill>
                  <a:srgbClr val="434343"/>
                </a:solidFill>
                <a:latin typeface="Consolas"/>
              </a:rPr>
              <a:t>    "ask":  ["Bash(rm *)"],</a:t>
            </a:r>
          </a:p>
          <a:p>
            <a:pPr algn="l">
              <a:lnSpc>
                <a:spcPct val="114000"/>
              </a:lnSpc>
              <a:spcAft>
                <a:spcPts val="0"/>
              </a:spcAft>
            </a:pPr>
            <a:r>
              <a:rPr sz="750" b="0">
                <a:solidFill>
                  <a:srgbClr val="434343"/>
                </a:solidFill>
                <a:latin typeface="Consolas"/>
              </a:rPr>
              <a:t>    "deny": [</a:t>
            </a:r>
          </a:p>
          <a:p>
            <a:pPr algn="l">
              <a:lnSpc>
                <a:spcPct val="114000"/>
              </a:lnSpc>
              <a:spcAft>
                <a:spcPts val="0"/>
              </a:spcAft>
            </a:pPr>
            <a:r>
              <a:rPr sz="750" b="0">
                <a:solidFill>
                  <a:srgbClr val="434343"/>
                </a:solidFill>
                <a:latin typeface="Consolas"/>
              </a:rPr>
              <a:t>      "Edit(server/data/seed.json)",</a:t>
            </a:r>
          </a:p>
          <a:p>
            <a:pPr algn="l">
              <a:lnSpc>
                <a:spcPct val="114000"/>
              </a:lnSpc>
              <a:spcAft>
                <a:spcPts val="0"/>
              </a:spcAft>
            </a:pPr>
            <a:r>
              <a:rPr sz="750" b="0">
                <a:solidFill>
                  <a:srgbClr val="434343"/>
                </a:solidFill>
                <a:latin typeface="Consolas"/>
              </a:rPr>
              <a:t>      "Write(server/data/seed.json)",</a:t>
            </a:r>
          </a:p>
          <a:p>
            <a:pPr algn="l">
              <a:lnSpc>
                <a:spcPct val="114000"/>
              </a:lnSpc>
              <a:spcAft>
                <a:spcPts val="0"/>
              </a:spcAft>
            </a:pPr>
            <a:r>
              <a:rPr sz="750" b="0">
                <a:solidFill>
                  <a:srgbClr val="434343"/>
                </a:solidFill>
                <a:latin typeface="Consolas"/>
              </a:rPr>
              <a:t>      "Bash(rm -rf *)",</a:t>
            </a:r>
          </a:p>
          <a:p>
            <a:pPr algn="l">
              <a:lnSpc>
                <a:spcPct val="114000"/>
              </a:lnSpc>
              <a:spcAft>
                <a:spcPts val="0"/>
              </a:spcAft>
            </a:pPr>
            <a:r>
              <a:rPr sz="750" b="0">
                <a:solidFill>
                  <a:srgbClr val="434343"/>
                </a:solidFill>
                <a:latin typeface="Consolas"/>
              </a:rPr>
              <a:t>      "Bash(git push --force *)",</a:t>
            </a:r>
          </a:p>
          <a:p>
            <a:pPr algn="l">
              <a:lnSpc>
                <a:spcPct val="114000"/>
              </a:lnSpc>
              <a:spcAft>
                <a:spcPts val="0"/>
              </a:spcAft>
            </a:pPr>
            <a:r>
              <a:rPr sz="750" b="0">
                <a:solidFill>
                  <a:srgbClr val="434343"/>
                </a:solidFill>
                <a:latin typeface="Consolas"/>
              </a:rPr>
              <a:t>      "Bash(git reset --hard *)",</a:t>
            </a:r>
          </a:p>
          <a:p>
            <a:pPr algn="l">
              <a:lnSpc>
                <a:spcPct val="114000"/>
              </a:lnSpc>
              <a:spcAft>
                <a:spcPts val="0"/>
              </a:spcAft>
            </a:pPr>
            <a:r>
              <a:rPr sz="750" b="0">
                <a:solidFill>
                  <a:srgbClr val="434343"/>
                </a:solidFill>
                <a:latin typeface="Consolas"/>
              </a:rPr>
              <a:t>      "Bash(git clean *)",</a:t>
            </a:r>
          </a:p>
          <a:p>
            <a:pPr algn="l">
              <a:lnSpc>
                <a:spcPct val="114000"/>
              </a:lnSpc>
              <a:spcAft>
                <a:spcPts val="0"/>
              </a:spcAft>
            </a:pPr>
            <a:r>
              <a:rPr sz="750" b="0">
                <a:solidFill>
                  <a:srgbClr val="434343"/>
                </a:solidFill>
                <a:latin typeface="Consolas"/>
              </a:rPr>
              <a:t>      "Bash(npm publish *)",</a:t>
            </a:r>
          </a:p>
          <a:p>
            <a:pPr algn="l">
              <a:lnSpc>
                <a:spcPct val="114000"/>
              </a:lnSpc>
              <a:spcAft>
                <a:spcPts val="0"/>
              </a:spcAft>
            </a:pPr>
            <a:r>
              <a:rPr sz="750" b="0">
                <a:solidFill>
                  <a:srgbClr val="434343"/>
                </a:solidFill>
                <a:latin typeface="Consolas"/>
              </a:rPr>
              <a:t>      "Bash(curl * | bash)"</a:t>
            </a:r>
          </a:p>
          <a:p>
            <a:pPr algn="l">
              <a:lnSpc>
                <a:spcPct val="114000"/>
              </a:lnSpc>
              <a:spcAft>
                <a:spcPts val="0"/>
              </a:spcAft>
            </a:pPr>
            <a:r>
              <a:rPr sz="750" b="0">
                <a:solidFill>
                  <a:srgbClr val="434343"/>
                </a:solidFill>
                <a:latin typeface="Consolas"/>
              </a:rPr>
              <a:t>    ]</a:t>
            </a:r>
          </a:p>
          <a:p>
            <a:pPr algn="l">
              <a:lnSpc>
                <a:spcPct val="114000"/>
              </a:lnSpc>
              <a:spcAft>
                <a:spcPts val="0"/>
              </a:spcAft>
            </a:pPr>
            <a:r>
              <a:rPr sz="750" b="0">
                <a:solidFill>
                  <a:srgbClr val="434343"/>
                </a:solidFill>
                <a:latin typeface="Consolas"/>
              </a:rPr>
              <a:t>  }</a:t>
            </a:r>
          </a:p>
          <a:p>
            <a:pPr algn="l">
              <a:lnSpc>
                <a:spcPct val="114000"/>
              </a:lnSpc>
              <a:spcAft>
                <a:spcPts val="0"/>
              </a:spcAft>
            </a:pPr>
            <a:r>
              <a:rPr sz="750" b="0">
                <a:solidFill>
                  <a:srgbClr val="434343"/>
                </a:solidFill>
                <a:latin typeface="Consolas"/>
              </a:rPr>
              <a:t>}</a:t>
            </a:r>
          </a:p>
        </p:txBody>
      </p:sp>
      <p:sp>
        <p:nvSpPr>
          <p:cNvPr id="12" name="TextBox 11"/>
          <p:cNvSpPr txBox="1"/>
          <p:nvPr/>
        </p:nvSpPr>
        <p:spPr>
          <a:xfrm>
            <a:off x="548640" y="4279392"/>
            <a:ext cx="7863840" cy="420624"/>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MERGE, never paste: the first two deny entries are ALREADY in your file, shown so you see where yours go — and your hooks block must survive. The handout shows the before/after. Then: ask Claude to force-push, watch it refuse; confirm seed.json is still protected.</a:t>
            </a:r>
          </a:p>
        </p:txBody>
      </p:sp>
      <p:sp>
        <p:nvSpPr>
          <p:cNvPr id="13" name="TextBox 12"/>
          <p:cNvSpPr txBox="1"/>
          <p:nvPr/>
        </p:nvSpPr>
        <p:spPr>
          <a:xfrm>
            <a:off x="6675120" y="1728216"/>
            <a:ext cx="1920240" cy="219456"/>
          </a:xfrm>
          <a:prstGeom prst="rect">
            <a:avLst/>
          </a:prstGeom>
          <a:noFill/>
        </p:spPr>
        <p:txBody>
          <a:bodyPr wrap="square" anchor="t" lIns="0" rIns="0" tIns="0" bIns="0">
            <a:spAutoFit/>
          </a:bodyPr>
          <a:lstStyle/>
          <a:p>
            <a:pPr algn="r">
              <a:spcAft>
                <a:spcPts val="400"/>
              </a:spcAft>
            </a:pPr>
            <a:r>
              <a:rPr sz="850" b="0">
                <a:solidFill>
                  <a:srgbClr val="999999"/>
                </a:solidFill>
                <a:latin typeface="Arial"/>
              </a:rPr>
              <a:t>.claude/settings.json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LAYER 3</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hook you already know — watch one get built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Your own repos already run one of these. CLAUDE.md here says "Conventional Commits" — and nothing checks it. Five lines fix that — and every row is identical on macOS, Linux, and Windows. The walkthrough replays it in your copy.</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74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t>
            </a:r>
          </a:p>
        </p:txBody>
      </p:sp>
      <p:sp>
        <p:nvSpPr>
          <p:cNvPr id="11" name="TextBox 10"/>
          <p:cNvSpPr txBox="1"/>
          <p:nvPr/>
        </p:nvSpPr>
        <p:spPr>
          <a:xfrm>
            <a:off x="1097280" y="2089404"/>
            <a:ext cx="33832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 do</a:t>
            </a:r>
          </a:p>
        </p:txBody>
      </p:sp>
      <p:sp>
        <p:nvSpPr>
          <p:cNvPr id="12" name="TextBox 11"/>
          <p:cNvSpPr txBox="1"/>
          <p:nvPr/>
        </p:nvSpPr>
        <p:spPr>
          <a:xfrm>
            <a:off x="4663440" y="2089404"/>
            <a:ext cx="38404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you should see</a:t>
            </a:r>
          </a:p>
        </p:txBody>
      </p:sp>
      <p:sp>
        <p:nvSpPr>
          <p:cNvPr id="13" name="Rectangle 12"/>
          <p:cNvSpPr/>
          <p:nvPr/>
        </p:nvSpPr>
        <p:spPr>
          <a:xfrm>
            <a:off x="548640" y="2322576"/>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1</a:t>
            </a:r>
          </a:p>
        </p:txBody>
      </p:sp>
      <p:sp>
        <p:nvSpPr>
          <p:cNvPr id="15" name="TextBox 14"/>
          <p:cNvSpPr txBox="1"/>
          <p:nvPr/>
        </p:nvSpPr>
        <p:spPr>
          <a:xfrm>
            <a:off x="1097280" y="2377440"/>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npm install -D husky, then npx husky init</a:t>
            </a:r>
          </a:p>
        </p:txBody>
      </p:sp>
      <p:sp>
        <p:nvSpPr>
          <p:cNvPr id="16" name="TextBox 15"/>
          <p:cNvSpPr txBox="1"/>
          <p:nvPr/>
        </p:nvSpPr>
        <p:spPr>
          <a:xfrm>
            <a:off x="4663440" y="2377440"/>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.husky/ + a starter pre-commit (we delete it); "prepare": "husky" lands</a:t>
            </a:r>
          </a:p>
        </p:txBody>
      </p:sp>
      <p:sp>
        <p:nvSpPr>
          <p:cNvPr id="17" name="Rectangle 16"/>
          <p:cNvSpPr/>
          <p:nvPr/>
        </p:nvSpPr>
        <p:spPr>
          <a:xfrm>
            <a:off x="548640" y="2663516"/>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18380"/>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2</a:t>
            </a:r>
          </a:p>
        </p:txBody>
      </p:sp>
      <p:sp>
        <p:nvSpPr>
          <p:cNvPr id="19" name="TextBox 18"/>
          <p:cNvSpPr txBox="1"/>
          <p:nvPr/>
        </p:nvSpPr>
        <p:spPr>
          <a:xfrm>
            <a:off x="1097280" y="2718380"/>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cp docs/labs/snippets/commit-msg.sh .husky/commit-msg</a:t>
            </a:r>
          </a:p>
        </p:txBody>
      </p:sp>
      <p:sp>
        <p:nvSpPr>
          <p:cNvPr id="20" name="TextBox 19"/>
          <p:cNvSpPr txBox="1"/>
          <p:nvPr/>
        </p:nvSpPr>
        <p:spPr>
          <a:xfrm>
            <a:off x="4663440" y="2718380"/>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Five lines land — same command on Windows (PowerShell aliases cp)</a:t>
            </a:r>
          </a:p>
        </p:txBody>
      </p:sp>
      <p:sp>
        <p:nvSpPr>
          <p:cNvPr id="21" name="Rectangle 20"/>
          <p:cNvSpPr/>
          <p:nvPr/>
        </p:nvSpPr>
        <p:spPr>
          <a:xfrm>
            <a:off x="548640" y="3004457"/>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059321"/>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3</a:t>
            </a:r>
          </a:p>
        </p:txBody>
      </p:sp>
      <p:sp>
        <p:nvSpPr>
          <p:cNvPr id="23" name="TextBox 22"/>
          <p:cNvSpPr txBox="1"/>
          <p:nvPr/>
        </p:nvSpPr>
        <p:spPr>
          <a:xfrm>
            <a:off x="1097280" y="3059321"/>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Nothing to make executable — on ANY OS</a:t>
            </a:r>
          </a:p>
        </p:txBody>
      </p:sp>
      <p:sp>
        <p:nvSpPr>
          <p:cNvPr id="24" name="TextBox 23"/>
          <p:cNvSpPr txBox="1"/>
          <p:nvPr/>
        </p:nvSpPr>
        <p:spPr>
          <a:xfrm>
            <a:off x="4663440" y="3059321"/>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husky's shim runs your file via sh: no chmod, no extension, no shebang needed</a:t>
            </a:r>
          </a:p>
        </p:txBody>
      </p:sp>
      <p:sp>
        <p:nvSpPr>
          <p:cNvPr id="25" name="Rectangle 24"/>
          <p:cNvSpPr/>
          <p:nvPr/>
        </p:nvSpPr>
        <p:spPr>
          <a:xfrm>
            <a:off x="548640" y="3345397"/>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400261"/>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a:t>
            </a:r>
          </a:p>
        </p:txBody>
      </p:sp>
      <p:sp>
        <p:nvSpPr>
          <p:cNvPr id="27" name="TextBox 26"/>
          <p:cNvSpPr txBox="1"/>
          <p:nvPr/>
        </p:nvSpPr>
        <p:spPr>
          <a:xfrm>
            <a:off x="1097280" y="3400261"/>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git commit --allow-empty -m "changed stuff"</a:t>
            </a:r>
          </a:p>
        </p:txBody>
      </p:sp>
      <p:sp>
        <p:nvSpPr>
          <p:cNvPr id="28" name="TextBox 27"/>
          <p:cNvSpPr txBox="1"/>
          <p:nvPr/>
        </p:nvSpPr>
        <p:spPr>
          <a:xfrm>
            <a:off x="4663440" y="3400261"/>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REFUSED — BLOCKED/Why/Instead/Done; the commit never happens</a:t>
            </a:r>
          </a:p>
        </p:txBody>
      </p:sp>
      <p:sp>
        <p:nvSpPr>
          <p:cNvPr id="29" name="Rectangle 28"/>
          <p:cNvSpPr/>
          <p:nvPr/>
        </p:nvSpPr>
        <p:spPr>
          <a:xfrm>
            <a:off x="548640" y="3686338"/>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741202"/>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5</a:t>
            </a:r>
          </a:p>
        </p:txBody>
      </p:sp>
      <p:sp>
        <p:nvSpPr>
          <p:cNvPr id="31" name="TextBox 30"/>
          <p:cNvSpPr txBox="1"/>
          <p:nvPr/>
        </p:nvSpPr>
        <p:spPr>
          <a:xfrm>
            <a:off x="1097280" y="3741202"/>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git commit --allow-empty -m "docs: explain the format"</a:t>
            </a:r>
          </a:p>
        </p:txBody>
      </p:sp>
      <p:sp>
        <p:nvSpPr>
          <p:cNvPr id="32" name="TextBox 31"/>
          <p:cNvSpPr txBox="1"/>
          <p:nvPr/>
        </p:nvSpPr>
        <p:spPr>
          <a:xfrm>
            <a:off x="4663440" y="3741202"/>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Passes, silently — exit 0 is the 99% case</a:t>
            </a:r>
          </a:p>
        </p:txBody>
      </p:sp>
      <p:sp>
        <p:nvSpPr>
          <p:cNvPr id="33" name="Rectangle 32"/>
          <p:cNvSpPr/>
          <p:nvPr/>
        </p:nvSpPr>
        <p:spPr>
          <a:xfrm>
            <a:off x="548640" y="4027278"/>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082142"/>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6</a:t>
            </a:r>
          </a:p>
        </p:txBody>
      </p:sp>
      <p:sp>
        <p:nvSpPr>
          <p:cNvPr id="35" name="TextBox 34"/>
          <p:cNvSpPr txBox="1"/>
          <p:nvPr/>
        </p:nvSpPr>
        <p:spPr>
          <a:xfrm>
            <a:off x="1097280" y="4082142"/>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git commit --no-verify -m "changed stuff"</a:t>
            </a:r>
          </a:p>
        </p:txBody>
      </p:sp>
      <p:sp>
        <p:nvSpPr>
          <p:cNvPr id="36" name="TextBox 35"/>
          <p:cNvSpPr txBox="1"/>
          <p:nvPr/>
        </p:nvSpPr>
        <p:spPr>
          <a:xfrm>
            <a:off x="4663440" y="4082142"/>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built-in bypass — every layer has one; this one ships with git</a:t>
            </a:r>
          </a:p>
        </p:txBody>
      </p:sp>
      <p:sp>
        <p:nvSpPr>
          <p:cNvPr id="37" name="Rectangle 36"/>
          <p:cNvSpPr/>
          <p:nvPr/>
        </p:nvSpPr>
        <p:spPr>
          <a:xfrm>
            <a:off x="548640" y="4368219"/>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423083"/>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7</a:t>
            </a:r>
          </a:p>
        </p:txBody>
      </p:sp>
      <p:sp>
        <p:nvSpPr>
          <p:cNvPr id="39" name="TextBox 38"/>
          <p:cNvSpPr txBox="1"/>
          <p:nvPr/>
        </p:nvSpPr>
        <p:spPr>
          <a:xfrm>
            <a:off x="1097280" y="4423083"/>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(not done live) fresh clone, no npm install</a:t>
            </a:r>
          </a:p>
        </p:txBody>
      </p:sp>
      <p:sp>
        <p:nvSpPr>
          <p:cNvPr id="40" name="TextBox 39"/>
          <p:cNvSpPr txBox="1"/>
          <p:nvPr/>
        </p:nvSpPr>
        <p:spPr>
          <a:xfrm>
            <a:off x="4663440" y="4423083"/>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 hooks — layer 3 travels with the clone; why merge time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BRIDGE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Same anatomy, three moments in time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One anatomy: an event fires a script, and the exit code decides. You met it at commit time; the next demo moves it to authoring time.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188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1" name="TextBox 10"/>
          <p:cNvSpPr txBox="1"/>
          <p:nvPr/>
        </p:nvSpPr>
        <p:spPr>
          <a:xfrm>
            <a:off x="2011680" y="2089404"/>
            <a:ext cx="20116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Git hook (commit)</a:t>
            </a:r>
          </a:p>
        </p:txBody>
      </p:sp>
      <p:sp>
        <p:nvSpPr>
          <p:cNvPr id="12" name="TextBox 11"/>
          <p:cNvSpPr txBox="1"/>
          <p:nvPr/>
        </p:nvSpPr>
        <p:spPr>
          <a:xfrm>
            <a:off x="4206240" y="2089404"/>
            <a:ext cx="21945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Claude hook (authoring)</a:t>
            </a:r>
          </a:p>
        </p:txBody>
      </p:sp>
      <p:sp>
        <p:nvSpPr>
          <p:cNvPr id="13" name="TextBox 12"/>
          <p:cNvSpPr txBox="1"/>
          <p:nvPr/>
        </p:nvSpPr>
        <p:spPr>
          <a:xfrm>
            <a:off x="6583679" y="2089404"/>
            <a:ext cx="192023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CI gate (merge)</a:t>
            </a:r>
          </a:p>
        </p:txBody>
      </p:sp>
      <p:sp>
        <p:nvSpPr>
          <p:cNvPr id="14" name="Rectangle 13"/>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377440"/>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Fires when</a:t>
            </a:r>
          </a:p>
        </p:txBody>
      </p:sp>
      <p:sp>
        <p:nvSpPr>
          <p:cNvPr id="16" name="TextBox 15"/>
          <p:cNvSpPr txBox="1"/>
          <p:nvPr/>
        </p:nvSpPr>
        <p:spPr>
          <a:xfrm>
            <a:off x="2011680" y="2377440"/>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you commit</a:t>
            </a:r>
          </a:p>
        </p:txBody>
      </p:sp>
      <p:sp>
        <p:nvSpPr>
          <p:cNvPr id="17" name="TextBox 16"/>
          <p:cNvSpPr txBox="1"/>
          <p:nvPr/>
        </p:nvSpPr>
        <p:spPr>
          <a:xfrm>
            <a:off x="4206240" y="2377440"/>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agent acts — a tool call</a:t>
            </a:r>
          </a:p>
        </p:txBody>
      </p:sp>
      <p:sp>
        <p:nvSpPr>
          <p:cNvPr id="18" name="TextBox 17"/>
          <p:cNvSpPr txBox="1"/>
          <p:nvPr/>
        </p:nvSpPr>
        <p:spPr>
          <a:xfrm>
            <a:off x="6583679" y="2377440"/>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 PR opens or updates</a:t>
            </a:r>
          </a:p>
        </p:txBody>
      </p:sp>
      <p:sp>
        <p:nvSpPr>
          <p:cNvPr id="19" name="Rectangle 18"/>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761488"/>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Input</a:t>
            </a:r>
          </a:p>
        </p:txBody>
      </p:sp>
      <p:sp>
        <p:nvSpPr>
          <p:cNvPr id="21" name="TextBox 20"/>
          <p:cNvSpPr txBox="1"/>
          <p:nvPr/>
        </p:nvSpPr>
        <p:spPr>
          <a:xfrm>
            <a:off x="2011680" y="2761488"/>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commit-message file</a:t>
            </a:r>
          </a:p>
        </p:txBody>
      </p:sp>
      <p:sp>
        <p:nvSpPr>
          <p:cNvPr id="22" name="TextBox 21"/>
          <p:cNvSpPr txBox="1"/>
          <p:nvPr/>
        </p:nvSpPr>
        <p:spPr>
          <a:xfrm>
            <a:off x="4206240" y="2761488"/>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tool input, JSON on stdin</a:t>
            </a:r>
          </a:p>
        </p:txBody>
      </p:sp>
      <p:sp>
        <p:nvSpPr>
          <p:cNvPr id="23" name="TextBox 22"/>
          <p:cNvSpPr txBox="1"/>
          <p:nvPr/>
        </p:nvSpPr>
        <p:spPr>
          <a:xfrm>
            <a:off x="6583679" y="2761488"/>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diff vs the base branch</a:t>
            </a:r>
          </a:p>
        </p:txBody>
      </p:sp>
      <p:sp>
        <p:nvSpPr>
          <p:cNvPr id="24" name="Rectangle 23"/>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145536"/>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Verdict</a:t>
            </a:r>
          </a:p>
        </p:txBody>
      </p:sp>
      <p:sp>
        <p:nvSpPr>
          <p:cNvPr id="26" name="TextBox 25"/>
          <p:cNvSpPr txBox="1"/>
          <p:nvPr/>
        </p:nvSpPr>
        <p:spPr>
          <a:xfrm>
            <a:off x="2011680" y="3145536"/>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non-zero exit → no commit</a:t>
            </a:r>
          </a:p>
        </p:txBody>
      </p:sp>
      <p:sp>
        <p:nvSpPr>
          <p:cNvPr id="27" name="TextBox 26"/>
          <p:cNvSpPr txBox="1"/>
          <p:nvPr/>
        </p:nvSpPr>
        <p:spPr>
          <a:xfrm>
            <a:off x="4206240" y="3145536"/>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exit 2 → blocked; stderr → agent</a:t>
            </a:r>
          </a:p>
        </p:txBody>
      </p:sp>
      <p:sp>
        <p:nvSpPr>
          <p:cNvPr id="28" name="TextBox 27"/>
          <p:cNvSpPr txBox="1"/>
          <p:nvPr/>
        </p:nvSpPr>
        <p:spPr>
          <a:xfrm>
            <a:off x="6583679" y="3145536"/>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failed check → no merge</a:t>
            </a:r>
          </a:p>
        </p:txBody>
      </p:sp>
      <p:sp>
        <p:nvSpPr>
          <p:cNvPr id="29" name="Rectangle 28"/>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529584"/>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Holds against</a:t>
            </a:r>
          </a:p>
        </p:txBody>
      </p:sp>
      <p:sp>
        <p:nvSpPr>
          <p:cNvPr id="31" name="TextBox 30"/>
          <p:cNvSpPr txBox="1"/>
          <p:nvPr/>
        </p:nvSpPr>
        <p:spPr>
          <a:xfrm>
            <a:off x="2011680" y="3529584"/>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anyone committing, wired clone</a:t>
            </a:r>
          </a:p>
        </p:txBody>
      </p:sp>
      <p:sp>
        <p:nvSpPr>
          <p:cNvPr id="32" name="TextBox 31"/>
          <p:cNvSpPr txBox="1"/>
          <p:nvPr/>
        </p:nvSpPr>
        <p:spPr>
          <a:xfrm>
            <a:off x="4206240" y="3529584"/>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agent, at authoring time</a:t>
            </a:r>
          </a:p>
        </p:txBody>
      </p:sp>
      <p:sp>
        <p:nvSpPr>
          <p:cNvPr id="33" name="TextBox 32"/>
          <p:cNvSpPr txBox="1"/>
          <p:nvPr/>
        </p:nvSpPr>
        <p:spPr>
          <a:xfrm>
            <a:off x="6583679" y="3529584"/>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anyone merging — agent or human</a:t>
            </a:r>
          </a:p>
        </p:txBody>
      </p:sp>
      <p:sp>
        <p:nvSpPr>
          <p:cNvPr id="34" name="Rectangle 3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3913631"/>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The bypass</a:t>
            </a:r>
          </a:p>
        </p:txBody>
      </p:sp>
      <p:sp>
        <p:nvSpPr>
          <p:cNvPr id="36" name="TextBox 35"/>
          <p:cNvSpPr txBox="1"/>
          <p:nvPr/>
        </p:nvSpPr>
        <p:spPr>
          <a:xfrm>
            <a:off x="2011680" y="3913631"/>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git commit --no-verify</a:t>
            </a:r>
          </a:p>
        </p:txBody>
      </p:sp>
      <p:sp>
        <p:nvSpPr>
          <p:cNvPr id="37" name="TextBox 36"/>
          <p:cNvSpPr txBox="1"/>
          <p:nvPr/>
        </p:nvSpPr>
        <p:spPr>
          <a:xfrm>
            <a:off x="4206240" y="3913631"/>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edit settings.json</a:t>
            </a:r>
          </a:p>
        </p:txBody>
      </p:sp>
      <p:sp>
        <p:nvSpPr>
          <p:cNvPr id="38" name="TextBox 37"/>
          <p:cNvSpPr txBox="1"/>
          <p:nvPr/>
        </p:nvSpPr>
        <p:spPr>
          <a:xfrm>
            <a:off x="6583679" y="3913631"/>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documented escape hatch</a:t>
            </a:r>
          </a:p>
        </p:txBody>
      </p:sp>
      <p:sp>
        <p:nvSpPr>
          <p:cNvPr id="39" name="TextBox 38"/>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You have already lived with one — protect-seed.js is a PreToolUse hook; it blocked you in Lab 1. Its four-part message (BLOCKED / Why / Instead / Done) is the house pattern.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REFRESHER · LAYER 2</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Claude hooks — the sixty-second refresher</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You did the Hooks lesson; here is the whole contract on one slide — and you will reuse this exact JSON shape in the exercise.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CONTRACT</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Fires on Claude Code events — today: PreToolUse (before the agent acts) and PostToolUse (just after).</a:t>
            </a:r>
          </a:p>
          <a:p>
            <a:pPr algn="l">
              <a:lnSpc>
                <a:spcPct val="120000"/>
              </a:lnSpc>
              <a:spcAft>
                <a:spcPts val="800"/>
              </a:spcAft>
            </a:pPr>
            <a:r>
              <a:rPr sz="1100" b="1">
                <a:solidFill>
                  <a:srgbClr val="A9B7F7"/>
                </a:solidFill>
                <a:latin typeface="Arial"/>
              </a:rPr>
              <a:t>•  </a:t>
            </a:r>
            <a:r>
              <a:rPr sz="1100" b="0">
                <a:solidFill>
                  <a:srgbClr val="434343"/>
                </a:solidFill>
                <a:latin typeface="Arial"/>
              </a:rPr>
              <a:t>The matcher picks which tool calls it sees: Edit|Write.</a:t>
            </a:r>
          </a:p>
          <a:p>
            <a:pPr algn="l">
              <a:lnSpc>
                <a:spcPct val="120000"/>
              </a:lnSpc>
              <a:spcAft>
                <a:spcPts val="800"/>
              </a:spcAft>
            </a:pPr>
            <a:r>
              <a:rPr sz="1100" b="1">
                <a:solidFill>
                  <a:srgbClr val="A9B7F7"/>
                </a:solidFill>
                <a:latin typeface="Arial"/>
              </a:rPr>
              <a:t>•  </a:t>
            </a:r>
            <a:r>
              <a:rPr sz="1100" b="0">
                <a:solidFill>
                  <a:srgbClr val="434343"/>
                </a:solidFill>
                <a:latin typeface="Arial"/>
              </a:rPr>
              <a:t>Your script reads the tool input as JSON on stdin.</a:t>
            </a:r>
          </a:p>
          <a:p>
            <a:pPr algn="l">
              <a:lnSpc>
                <a:spcPct val="120000"/>
              </a:lnSpc>
              <a:spcAft>
                <a:spcPts val="800"/>
              </a:spcAft>
            </a:pPr>
            <a:r>
              <a:rPr sz="1100" b="1">
                <a:solidFill>
                  <a:srgbClr val="A9B7F7"/>
                </a:solidFill>
                <a:latin typeface="Arial"/>
              </a:rPr>
              <a:t>•  </a:t>
            </a:r>
            <a:r>
              <a:rPr sz="1100" b="0">
                <a:solidFill>
                  <a:srgbClr val="434343"/>
                </a:solidFill>
                <a:latin typeface="Arial"/>
              </a:rPr>
              <a:t>exit 0 allows · exit 2 blocks — and stderr goes to the agent.</a:t>
            </a:r>
          </a:p>
          <a:p>
            <a:pPr algn="l">
              <a:lnSpc>
                <a:spcPct val="120000"/>
              </a:lnSpc>
              <a:spcAft>
                <a:spcPts val="800"/>
              </a:spcAft>
            </a:pPr>
            <a:r>
              <a:rPr sz="1100" b="1">
                <a:solidFill>
                  <a:srgbClr val="A9B7F7"/>
                </a:solidFill>
                <a:latin typeface="Arial"/>
              </a:rPr>
              <a:t>•  </a:t>
            </a:r>
            <a:r>
              <a:rPr sz="1100" b="0">
                <a:solidFill>
                  <a:srgbClr val="434343"/>
                </a:solidFill>
                <a:latin typeface="Arial"/>
              </a:rPr>
              <a:t>Hooks load at session start — register, then NEW session.</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.CLAUDE/SETTINGS.JSON</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"hooks": {</a:t>
            </a:r>
          </a:p>
          <a:p>
            <a:pPr algn="l">
              <a:lnSpc>
                <a:spcPct val="114000"/>
              </a:lnSpc>
              <a:spcAft>
                <a:spcPts val="0"/>
              </a:spcAft>
            </a:pPr>
            <a:r>
              <a:rPr sz="900" b="0">
                <a:solidFill>
                  <a:srgbClr val="434343"/>
                </a:solidFill>
                <a:latin typeface="Consolas"/>
              </a:rPr>
              <a:t>  "PreToolUse": [{</a:t>
            </a:r>
          </a:p>
          <a:p>
            <a:pPr algn="l">
              <a:lnSpc>
                <a:spcPct val="114000"/>
              </a:lnSpc>
              <a:spcAft>
                <a:spcPts val="0"/>
              </a:spcAft>
            </a:pPr>
            <a:r>
              <a:rPr sz="900" b="0">
                <a:solidFill>
                  <a:srgbClr val="434343"/>
                </a:solidFill>
                <a:latin typeface="Consolas"/>
              </a:rPr>
              <a:t>    "matcher": "Edit|Write",</a:t>
            </a:r>
          </a:p>
          <a:p>
            <a:pPr algn="l">
              <a:lnSpc>
                <a:spcPct val="114000"/>
              </a:lnSpc>
              <a:spcAft>
                <a:spcPts val="0"/>
              </a:spcAft>
            </a:pPr>
            <a:r>
              <a:rPr sz="900" b="0">
                <a:solidFill>
                  <a:srgbClr val="434343"/>
                </a:solidFill>
                <a:latin typeface="Consolas"/>
              </a:rPr>
              <a:t>    "hooks": [{</a:t>
            </a:r>
          </a:p>
          <a:p>
            <a:pPr algn="l">
              <a:lnSpc>
                <a:spcPct val="114000"/>
              </a:lnSpc>
              <a:spcAft>
                <a:spcPts val="0"/>
              </a:spcAft>
            </a:pPr>
            <a:r>
              <a:rPr sz="900" b="0">
                <a:solidFill>
                  <a:srgbClr val="434343"/>
                </a:solidFill>
                <a:latin typeface="Consolas"/>
              </a:rPr>
              <a:t>      "type": "command",</a:t>
            </a:r>
          </a:p>
          <a:p>
            <a:pPr algn="l">
              <a:lnSpc>
                <a:spcPct val="114000"/>
              </a:lnSpc>
              <a:spcAft>
                <a:spcPts val="0"/>
              </a:spcAft>
            </a:pPr>
            <a:r>
              <a:rPr sz="900" b="0">
                <a:solidFill>
                  <a:srgbClr val="434343"/>
                </a:solidFill>
                <a:latin typeface="Consolas"/>
              </a:rPr>
              <a:t>      "command": "node \"$CLAUDE_PROJECT_DIR</a:t>
            </a:r>
          </a:p>
          <a:p>
            <a:pPr algn="l">
              <a:lnSpc>
                <a:spcPct val="114000"/>
              </a:lnSpc>
              <a:spcAft>
                <a:spcPts val="0"/>
              </a:spcAft>
            </a:pPr>
            <a:r>
              <a:rPr sz="900" b="0">
                <a:solidFill>
                  <a:srgbClr val="434343"/>
                </a:solidFill>
                <a:latin typeface="Consolas"/>
              </a:rPr>
              <a:t>        /.claude/hooks/protect-seed.js\""</a:t>
            </a:r>
          </a:p>
          <a:p>
            <a:pPr algn="l">
              <a:lnSpc>
                <a:spcPct val="114000"/>
              </a:lnSpc>
              <a:spcAft>
                <a:spcPts val="0"/>
              </a:spcAft>
            </a:pPr>
            <a:r>
              <a:rPr sz="900" b="0">
                <a:solidFill>
                  <a:srgbClr val="434343"/>
                </a:solidFill>
                <a:latin typeface="Consolas"/>
              </a:rPr>
              <a:t>    }]</a:t>
            </a:r>
          </a:p>
          <a:p>
            <a:pPr algn="l">
              <a:lnSpc>
                <a:spcPct val="114000"/>
              </a:lnSpc>
              <a:spcAft>
                <a:spcPts val="0"/>
              </a:spcAft>
            </a:pPr>
            <a:r>
              <a:rPr sz="900" b="0">
                <a:solidFill>
                  <a:srgbClr val="434343"/>
                </a:solidFill>
                <a:latin typeface="Consolas"/>
              </a:rPr>
              <a:t>  }]</a:t>
            </a:r>
          </a:p>
          <a:p>
            <a:pPr algn="l">
              <a:lnSpc>
                <a:spcPct val="114000"/>
              </a:lnSpc>
              <a:spcAft>
                <a:spcPts val="0"/>
              </a:spcAft>
            </a:pPr>
            <a:r>
              <a:rPr sz="900" b="0">
                <a:solidFill>
                  <a:srgbClr val="434343"/>
                </a:solidFill>
                <a:latin typeface="Consolas"/>
              </a:rPr>
              <a:t>}</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the hook that blocked you in Lab 1</a:t>
            </a:r>
          </a:p>
          <a:p>
            <a:pPr algn="l">
              <a:lnSpc>
                <a:spcPct val="114000"/>
              </a:lnSpc>
              <a:spcAft>
                <a:spcPts val="0"/>
              </a:spcAft>
            </a:pPr>
            <a:r>
              <a:rPr sz="900" b="0">
                <a:solidFill>
                  <a:srgbClr val="434343"/>
                </a:solidFill>
                <a:latin typeface="Consolas"/>
              </a:rPr>
              <a:t>// — you have already lived the contract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SEVERITY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Block or nudge? Decide, do not default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event you register on, plus the exit code, IS the severity decision.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Event</a:t>
            </a:r>
          </a:p>
        </p:txBody>
      </p:sp>
      <p:sp>
        <p:nvSpPr>
          <p:cNvPr id="11" name="TextBox 10"/>
          <p:cNvSpPr txBox="1"/>
          <p:nvPr/>
        </p:nvSpPr>
        <p:spPr>
          <a:xfrm>
            <a:off x="1920240" y="2089404"/>
            <a:ext cx="3474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exit 2 does</a:t>
            </a:r>
          </a:p>
        </p:txBody>
      </p:sp>
      <p:sp>
        <p:nvSpPr>
          <p:cNvPr id="12" name="TextBox 11"/>
          <p:cNvSpPr txBox="1"/>
          <p:nvPr/>
        </p:nvSpPr>
        <p:spPr>
          <a:xfrm>
            <a:off x="5577840" y="2089404"/>
            <a:ext cx="29260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Use it for</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PreToolUse</a:t>
            </a:r>
          </a:p>
        </p:txBody>
      </p:sp>
      <p:sp>
        <p:nvSpPr>
          <p:cNvPr id="15" name="TextBox 14"/>
          <p:cNvSpPr txBox="1"/>
          <p:nvPr/>
        </p:nvSpPr>
        <p:spPr>
          <a:xfrm>
            <a:off x="1920240" y="2377440"/>
            <a:ext cx="34747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BLOCKS the call. stderr goes to Claude</a:t>
            </a:r>
          </a:p>
        </p:txBody>
      </p:sp>
      <p:sp>
        <p:nvSpPr>
          <p:cNvPr id="16" name="TextBox 15"/>
          <p:cNvSpPr txBox="1"/>
          <p:nvPr/>
        </p:nvSpPr>
        <p:spPr>
          <a:xfrm>
            <a:off x="5577840" y="2377440"/>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Unrecoverable or unambiguous violations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PostToolUse</a:t>
            </a:r>
          </a:p>
        </p:txBody>
      </p:sp>
      <p:sp>
        <p:nvSpPr>
          <p:cNvPr id="19" name="TextBox 18"/>
          <p:cNvSpPr txBox="1"/>
          <p:nvPr/>
        </p:nvSpPr>
        <p:spPr>
          <a:xfrm>
            <a:off x="1920240" y="2761488"/>
            <a:ext cx="34747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Cannot block — the tool already ran — but stderr still reaches Claude</a:t>
            </a:r>
          </a:p>
        </p:txBody>
      </p:sp>
      <p:sp>
        <p:nvSpPr>
          <p:cNvPr id="20" name="TextBox 19"/>
          <p:cNvSpPr txBox="1"/>
          <p:nvPr/>
        </p:nvSpPr>
        <p:spPr>
          <a:xfrm>
            <a:off x="5577840" y="2761488"/>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Heuristic rules; things you should not interrupt</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exit 0</a:t>
            </a:r>
          </a:p>
        </p:txBody>
      </p:sp>
      <p:sp>
        <p:nvSpPr>
          <p:cNvPr id="23" name="TextBox 22"/>
          <p:cNvSpPr txBox="1"/>
          <p:nvPr/>
        </p:nvSpPr>
        <p:spPr>
          <a:xfrm>
            <a:off x="1920240" y="3145536"/>
            <a:ext cx="34747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Allows, silently</a:t>
            </a:r>
          </a:p>
        </p:txBody>
      </p:sp>
      <p:sp>
        <p:nvSpPr>
          <p:cNvPr id="24" name="TextBox 23"/>
          <p:cNvSpPr txBox="1"/>
          <p:nvPr/>
        </p:nvSpPr>
        <p:spPr>
          <a:xfrm>
            <a:off x="5577840" y="3145536"/>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99% case</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any other code</a:t>
            </a:r>
          </a:p>
        </p:txBody>
      </p:sp>
      <p:sp>
        <p:nvSpPr>
          <p:cNvPr id="27" name="TextBox 26"/>
          <p:cNvSpPr txBox="1"/>
          <p:nvPr/>
        </p:nvSpPr>
        <p:spPr>
          <a:xfrm>
            <a:off x="1920240" y="3529584"/>
            <a:ext cx="34747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Non-blocking; the user sees a hook-error notice</a:t>
            </a:r>
          </a:p>
        </p:txBody>
      </p:sp>
      <p:sp>
        <p:nvSpPr>
          <p:cNvPr id="28" name="TextBox 27"/>
          <p:cNvSpPr txBox="1"/>
          <p:nvPr/>
        </p:nvSpPr>
        <p:spPr>
          <a:xfrm>
            <a:off x="5577840" y="3529584"/>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Almost never on purpose</a:t>
            </a:r>
          </a:p>
        </p:txBody>
      </p:sp>
      <p:sp>
        <p:nvSpPr>
          <p:cNvPr id="29" name="TextBox 28"/>
          <p:cNvSpPr txBox="1"/>
          <p:nvPr/>
        </p:nvSpPr>
        <p:spPr>
          <a:xfrm>
            <a:off x="548640" y="3986783"/>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Three tags for any rule: MECHANICAL (a script can decide), PARTLY (a heuristic — false positives possible), FUZZY (human judgment). The middle case is exactly what nudges are for. Not every guardrail should block: a gate that fires on legitimate work teaches people to route around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TABLE TALK</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TextBox 7"/>
          <p:cNvSpPr txBox="1"/>
          <p:nvPr/>
        </p:nvSpPr>
        <p:spPr>
          <a:xfrm>
            <a:off x="548640" y="1783080"/>
            <a:ext cx="7863840" cy="1463040"/>
          </a:xfrm>
          <a:prstGeom prst="rect">
            <a:avLst/>
          </a:prstGeom>
          <a:noFill/>
        </p:spPr>
        <p:txBody>
          <a:bodyPr wrap="square" anchor="t" lIns="0" rIns="0" tIns="0" bIns="0">
            <a:spAutoFit/>
          </a:bodyPr>
          <a:lstStyle/>
          <a:p>
            <a:pPr algn="l">
              <a:lnSpc>
                <a:spcPct val="118000"/>
              </a:lnSpc>
              <a:spcAft>
                <a:spcPts val="400"/>
              </a:spcAft>
            </a:pPr>
            <a:r>
              <a:rPr sz="2800" b="1">
                <a:solidFill>
                  <a:srgbClr val="13135E"/>
                </a:solidFill>
                <a:latin typeface="Arial"/>
              </a:rPr>
              <a:t>What rule would you add next?</a:t>
            </a:r>
          </a:p>
        </p:txBody>
      </p:sp>
      <p:sp>
        <p:nvSpPr>
          <p:cNvPr id="9" name="TextBox 8"/>
          <p:cNvSpPr txBox="1"/>
          <p:nvPr/>
        </p:nvSpPr>
        <p:spPr>
          <a:xfrm>
            <a:off x="548640" y="3429000"/>
            <a:ext cx="7863840" cy="1005840"/>
          </a:xfrm>
          <a:prstGeom prst="rect">
            <a:avLst/>
          </a:prstGeom>
          <a:noFill/>
        </p:spPr>
        <p:txBody>
          <a:bodyPr wrap="square" anchor="t" lIns="0" rIns="0" tIns="0" bIns="0">
            <a:spAutoFit/>
          </a:bodyPr>
          <a:lstStyle/>
          <a:p>
            <a:pPr algn="l">
              <a:lnSpc>
                <a:spcPct val="130000"/>
              </a:lnSpc>
              <a:spcAft>
                <a:spcPts val="400"/>
              </a:spcAft>
            </a:pPr>
            <a:r>
              <a:rPr sz="1250" b="0">
                <a:solidFill>
                  <a:srgbClr val="434343"/>
                </a:solidFill>
                <a:latin typeface="Arial"/>
              </a:rPr>
              <a:t>Four minutes at your table. Pick ONE rule you'd love never to have to raise in review again — then place it on the timeline: authoring, commit, or merge. Post one line per table in chat: the rule + the moment + block or nudge. On the call solo? Answer for the repo you ship from.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Demo — build along, one guardrail</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The read-only database rule, in YOUR copy — the commit-msg hook, moved to authoring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STEPS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Seven steps — build along on screen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Steps 6 and 7 are the ones that matter — an unverified guardrail is a belief. Full walkthrough with the code: docs/labs/lab-2b-demo-3-claude-hook-walkthrough.md.</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74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t>
            </a:r>
          </a:p>
        </p:txBody>
      </p:sp>
      <p:sp>
        <p:nvSpPr>
          <p:cNvPr id="11" name="TextBox 10"/>
          <p:cNvSpPr txBox="1"/>
          <p:nvPr/>
        </p:nvSpPr>
        <p:spPr>
          <a:xfrm>
            <a:off x="1097280" y="2089404"/>
            <a:ext cx="29260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we do</a:t>
            </a:r>
          </a:p>
        </p:txBody>
      </p:sp>
      <p:sp>
        <p:nvSpPr>
          <p:cNvPr id="12" name="TextBox 11"/>
          <p:cNvSpPr txBox="1"/>
          <p:nvPr/>
        </p:nvSpPr>
        <p:spPr>
          <a:xfrm>
            <a:off x="4206240" y="2089404"/>
            <a:ext cx="42976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you should see</a:t>
            </a:r>
          </a:p>
        </p:txBody>
      </p:sp>
      <p:sp>
        <p:nvSpPr>
          <p:cNvPr id="13" name="Rectangle 12"/>
          <p:cNvSpPr/>
          <p:nvPr/>
        </p:nvSpPr>
        <p:spPr>
          <a:xfrm>
            <a:off x="548640" y="2322576"/>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1</a:t>
            </a:r>
          </a:p>
        </p:txBody>
      </p:sp>
      <p:sp>
        <p:nvSpPr>
          <p:cNvPr id="15" name="TextBox 14"/>
          <p:cNvSpPr txBox="1"/>
          <p:nvPr/>
        </p:nvSpPr>
        <p:spPr>
          <a:xfrm>
            <a:off x="1097280" y="2377440"/>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npm run reset-db</a:t>
            </a:r>
          </a:p>
        </p:txBody>
      </p:sp>
      <p:sp>
        <p:nvSpPr>
          <p:cNvPr id="16" name="TextBox 15"/>
          <p:cNvSpPr txBox="1"/>
          <p:nvPr/>
        </p:nvSpPr>
        <p:spPr>
          <a:xfrm>
            <a:off x="4206240" y="2377440"/>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db.json exists (it is generated and git-ignored)</a:t>
            </a:r>
          </a:p>
        </p:txBody>
      </p:sp>
      <p:sp>
        <p:nvSpPr>
          <p:cNvPr id="17" name="Rectangle 16"/>
          <p:cNvSpPr/>
          <p:nvPr/>
        </p:nvSpPr>
        <p:spPr>
          <a:xfrm>
            <a:off x="548640" y="2663516"/>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18380"/>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2</a:t>
            </a:r>
          </a:p>
        </p:txBody>
      </p:sp>
      <p:sp>
        <p:nvSpPr>
          <p:cNvPr id="19" name="TextBox 18"/>
          <p:cNvSpPr txBox="1"/>
          <p:nvPr/>
        </p:nvSpPr>
        <p:spPr>
          <a:xfrm>
            <a:off x="1097280" y="2718380"/>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the Don't line to CLAUDE.md</a:t>
            </a:r>
          </a:p>
        </p:txBody>
      </p:sp>
      <p:sp>
        <p:nvSpPr>
          <p:cNvPr id="20" name="TextBox 19"/>
          <p:cNvSpPr txBox="1"/>
          <p:nvPr/>
        </p:nvSpPr>
        <p:spPr>
          <a:xfrm>
            <a:off x="4206240" y="2718380"/>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Layer 1: "db.json is generated — change data via the API or a reset"</a:t>
            </a:r>
          </a:p>
        </p:txBody>
      </p:sp>
      <p:sp>
        <p:nvSpPr>
          <p:cNvPr id="21" name="Rectangle 20"/>
          <p:cNvSpPr/>
          <p:nvPr/>
        </p:nvSpPr>
        <p:spPr>
          <a:xfrm>
            <a:off x="548640" y="3004457"/>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059321"/>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3</a:t>
            </a:r>
          </a:p>
        </p:txBody>
      </p:sp>
      <p:sp>
        <p:nvSpPr>
          <p:cNvPr id="23" name="TextBox 22"/>
          <p:cNvSpPr txBox="1"/>
          <p:nvPr/>
        </p:nvSpPr>
        <p:spPr>
          <a:xfrm>
            <a:off x="1097280" y="3059321"/>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the deny entries to settings.json</a:t>
            </a:r>
          </a:p>
        </p:txBody>
      </p:sp>
      <p:sp>
        <p:nvSpPr>
          <p:cNvPr id="24" name="TextBox 23"/>
          <p:cNvSpPr txBox="1"/>
          <p:nvPr/>
        </p:nvSpPr>
        <p:spPr>
          <a:xfrm>
            <a:off x="4206240" y="3059321"/>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Layer 2a: Edit/Write(server/data/db.json) in the existing deny array</a:t>
            </a:r>
          </a:p>
        </p:txBody>
      </p:sp>
      <p:sp>
        <p:nvSpPr>
          <p:cNvPr id="25" name="Rectangle 24"/>
          <p:cNvSpPr/>
          <p:nvPr/>
        </p:nvSpPr>
        <p:spPr>
          <a:xfrm>
            <a:off x="548640" y="3345397"/>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400261"/>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a:t>
            </a:r>
          </a:p>
        </p:txBody>
      </p:sp>
      <p:sp>
        <p:nvSpPr>
          <p:cNvPr id="27" name="TextBox 26"/>
          <p:cNvSpPr txBox="1"/>
          <p:nvPr/>
        </p:nvSpPr>
        <p:spPr>
          <a:xfrm>
            <a:off x="1097280" y="3400261"/>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Write the hook: .claude/hooks/protect-db.js</a:t>
            </a:r>
          </a:p>
        </p:txBody>
      </p:sp>
      <p:sp>
        <p:nvSpPr>
          <p:cNvPr id="28" name="TextBox 27"/>
          <p:cNvSpPr txBox="1"/>
          <p:nvPr/>
        </p:nvSpPr>
        <p:spPr>
          <a:xfrm>
            <a:off x="4206240" y="3400261"/>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Layer 2b: the 20 lines on the check slide — BLOCKED/Why/Instead/Done</a:t>
            </a:r>
          </a:p>
        </p:txBody>
      </p:sp>
      <p:sp>
        <p:nvSpPr>
          <p:cNvPr id="29" name="Rectangle 28"/>
          <p:cNvSpPr/>
          <p:nvPr/>
        </p:nvSpPr>
        <p:spPr>
          <a:xfrm>
            <a:off x="548640" y="3686338"/>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741202"/>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5</a:t>
            </a:r>
          </a:p>
        </p:txBody>
      </p:sp>
      <p:sp>
        <p:nvSpPr>
          <p:cNvPr id="31" name="TextBox 30"/>
          <p:cNvSpPr txBox="1"/>
          <p:nvPr/>
        </p:nvSpPr>
        <p:spPr>
          <a:xfrm>
            <a:off x="1097280" y="3741202"/>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Register it; start a NEW session</a:t>
            </a:r>
          </a:p>
        </p:txBody>
      </p:sp>
      <p:sp>
        <p:nvSpPr>
          <p:cNvPr id="32" name="TextBox 31"/>
          <p:cNvSpPr txBox="1"/>
          <p:nvPr/>
        </p:nvSpPr>
        <p:spPr>
          <a:xfrm>
            <a:off x="4206240" y="3741202"/>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settings.json hooks block gains the entry; hooks load at session start</a:t>
            </a:r>
          </a:p>
        </p:txBody>
      </p:sp>
      <p:sp>
        <p:nvSpPr>
          <p:cNvPr id="33" name="Rectangle 32"/>
          <p:cNvSpPr/>
          <p:nvPr/>
        </p:nvSpPr>
        <p:spPr>
          <a:xfrm>
            <a:off x="548640" y="4027278"/>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082142"/>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6</a:t>
            </a:r>
          </a:p>
        </p:txBody>
      </p:sp>
      <p:sp>
        <p:nvSpPr>
          <p:cNvPr id="35" name="TextBox 34"/>
          <p:cNvSpPr txBox="1"/>
          <p:nvPr/>
        </p:nvSpPr>
        <p:spPr>
          <a:xfrm>
            <a:off x="1097280" y="4082142"/>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Verify the BLOCK: ask Claude to edit db.json</a:t>
            </a:r>
          </a:p>
        </p:txBody>
      </p:sp>
      <p:sp>
        <p:nvSpPr>
          <p:cNvPr id="36" name="TextBox 35"/>
          <p:cNvSpPr txBox="1"/>
          <p:nvPr/>
        </p:nvSpPr>
        <p:spPr>
          <a:xfrm>
            <a:off x="4206240" y="4082142"/>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Deny answers first (wall) → pull the 2 deny entries → hook answers (signpost) → restore</a:t>
            </a:r>
          </a:p>
        </p:txBody>
      </p:sp>
      <p:sp>
        <p:nvSpPr>
          <p:cNvPr id="37" name="Rectangle 36"/>
          <p:cNvSpPr/>
          <p:nvPr/>
        </p:nvSpPr>
        <p:spPr>
          <a:xfrm>
            <a:off x="548640" y="4368219"/>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423083"/>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7</a:t>
            </a:r>
          </a:p>
        </p:txBody>
      </p:sp>
      <p:sp>
        <p:nvSpPr>
          <p:cNvPr id="39" name="TextBox 38"/>
          <p:cNvSpPr txBox="1"/>
          <p:nvPr/>
        </p:nvSpPr>
        <p:spPr>
          <a:xfrm>
            <a:off x="1097280" y="4423083"/>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Verify the ALLOW: edit a repositories/ file; npm test</a:t>
            </a:r>
          </a:p>
        </p:txBody>
      </p:sp>
      <p:sp>
        <p:nvSpPr>
          <p:cNvPr id="40" name="TextBox 39"/>
          <p:cNvSpPr txBox="1"/>
          <p:nvPr/>
        </p:nvSpPr>
        <p:spPr>
          <a:xfrm>
            <a:off x="4206240" y="4423083"/>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 refusal, no noise, suite green — then document the bypass in CLAUDE.md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RULE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Read-only database unless approved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same three-layer shape as the seed guard, on a new subject — built along with me.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First: </a:t>
            </a:r>
            <a:r>
              <a:rPr sz="1250" b="0">
                <a:solidFill>
                  <a:srgbClr val="434343"/>
                </a:solidFill>
                <a:latin typeface="Arial"/>
              </a:rPr>
              <a:t>`npm run reset-db` — db.json is generated and git-ignored, so a fresh copy does not have it.</a:t>
            </a:r>
          </a:p>
          <a:p>
            <a:pPr algn="l">
              <a:lnSpc>
                <a:spcPct val="122000"/>
              </a:lnSpc>
              <a:spcAft>
                <a:spcPts val="900"/>
              </a:spcAft>
            </a:pPr>
            <a:r>
              <a:rPr sz="1250" b="1">
                <a:solidFill>
                  <a:srgbClr val="403FE8"/>
                </a:solidFill>
                <a:latin typeface="Arial"/>
              </a:rPr>
              <a:t>•  </a:t>
            </a:r>
            <a:r>
              <a:rPr sz="1250" b="1">
                <a:solidFill>
                  <a:srgbClr val="13135E"/>
                </a:solidFill>
                <a:latin typeface="Arial"/>
              </a:rPr>
              <a:t>The rule. </a:t>
            </a:r>
            <a:r>
              <a:rPr sz="1250" b="0">
                <a:solidFill>
                  <a:srgbClr val="434343"/>
                </a:solidFill>
                <a:latin typeface="Arial"/>
              </a:rPr>
              <a:t>`db.json` gets changed through the API or a reset — not edited directly.</a:t>
            </a:r>
          </a:p>
          <a:p>
            <a:pPr algn="l">
              <a:lnSpc>
                <a:spcPct val="122000"/>
              </a:lnSpc>
              <a:spcAft>
                <a:spcPts val="900"/>
              </a:spcAft>
            </a:pPr>
            <a:r>
              <a:rPr sz="1250" b="1">
                <a:solidFill>
                  <a:srgbClr val="403FE8"/>
                </a:solidFill>
                <a:latin typeface="Arial"/>
              </a:rPr>
              <a:t>•  </a:t>
            </a:r>
            <a:r>
              <a:rPr sz="1250" b="1">
                <a:solidFill>
                  <a:srgbClr val="13135E"/>
                </a:solidFill>
                <a:latin typeface="Arial"/>
              </a:rPr>
              <a:t>Not the store-boundary rule. </a:t>
            </a:r>
            <a:r>
              <a:rPr sz="1250" b="0">
                <a:solidFill>
                  <a:srgbClr val="434343"/>
                </a:solidFill>
                <a:latin typeface="Arial"/>
              </a:rPr>
              <a:t>That one (you may pick it later) is about *imports* of `db/store.ts`; this is about *editing a file*. Same family, two rules.</a:t>
            </a:r>
          </a:p>
          <a:p>
            <a:pPr algn="l">
              <a:lnSpc>
                <a:spcPct val="122000"/>
              </a:lnSpc>
              <a:spcAft>
                <a:spcPts val="900"/>
              </a:spcAft>
            </a:pPr>
            <a:r>
              <a:rPr sz="1250" b="1">
                <a:solidFill>
                  <a:srgbClr val="403FE8"/>
                </a:solidFill>
                <a:latin typeface="Arial"/>
              </a:rPr>
              <a:t>•  </a:t>
            </a:r>
            <a:r>
              <a:rPr sz="1250" b="1">
                <a:solidFill>
                  <a:srgbClr val="13135E"/>
                </a:solidFill>
                <a:latin typeface="Arial"/>
              </a:rPr>
              <a:t>Three layers, again. </a:t>
            </a:r>
            <a:r>
              <a:rPr sz="1250" b="0">
                <a:solidFill>
                  <a:srgbClr val="434343"/>
                </a:solidFill>
                <a:latin typeface="Arial"/>
              </a:rPr>
              <a:t>A Don't line → a `permissions.deny` entry → a PreToolUse hook that explains itself.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CHECK</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Twenty lines, no dependencies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Node, cross-platform, no packages. Half this room is on Windows.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1965960"/>
            <a:ext cx="8046720" cy="220370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965960"/>
            <a:ext cx="41148" cy="220370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03120"/>
            <a:ext cx="7635240" cy="1947672"/>
          </a:xfrm>
          <a:prstGeom prst="rect">
            <a:avLst/>
          </a:prstGeom>
          <a:noFill/>
        </p:spPr>
        <p:txBody>
          <a:bodyPr wrap="square" anchor="t" lIns="0" rIns="0" tIns="0" bIns="0">
            <a:spAutoFit/>
          </a:bodyPr>
          <a:lstStyle/>
          <a:p>
            <a:pPr algn="l">
              <a:lnSpc>
                <a:spcPct val="114000"/>
              </a:lnSpc>
              <a:spcAft>
                <a:spcPts val="0"/>
              </a:spcAft>
            </a:pPr>
            <a:r>
              <a:rPr sz="850" b="0">
                <a:solidFill>
                  <a:srgbClr val="434343"/>
                </a:solidFill>
                <a:latin typeface="Consolas"/>
              </a:rPr>
              <a:t>const path = filePath.replaceAll('\\', '/');</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if (path.endsWith('server/data/db.json')) {</a:t>
            </a:r>
          </a:p>
          <a:p>
            <a:pPr algn="l">
              <a:lnSpc>
                <a:spcPct val="114000"/>
              </a:lnSpc>
              <a:spcAft>
                <a:spcPts val="0"/>
              </a:spcAft>
            </a:pPr>
            <a:r>
              <a:rPr sz="850" b="0">
                <a:solidFill>
                  <a:srgbClr val="434343"/>
                </a:solidFill>
                <a:latin typeface="Consolas"/>
              </a:rPr>
              <a:t>  console.error([</a:t>
            </a:r>
          </a:p>
          <a:p>
            <a:pPr algn="l">
              <a:lnSpc>
                <a:spcPct val="114000"/>
              </a:lnSpc>
              <a:spcAft>
                <a:spcPts val="0"/>
              </a:spcAft>
            </a:pPr>
            <a:r>
              <a:rPr sz="850" b="0">
                <a:solidFill>
                  <a:srgbClr val="434343"/>
                </a:solidFill>
                <a:latin typeface="Consolas"/>
              </a:rPr>
              <a:t>    'BLOCKED: db.json is generated, not edited.',</a:t>
            </a:r>
          </a:p>
          <a:p>
            <a:pPr algn="l">
              <a:lnSpc>
                <a:spcPct val="114000"/>
              </a:lnSpc>
              <a:spcAft>
                <a:spcPts val="0"/>
              </a:spcAft>
            </a:pPr>
            <a:r>
              <a:rPr sz="850" b="0">
                <a:solidFill>
                  <a:srgbClr val="434343"/>
                </a:solidFill>
                <a:latin typeface="Consolas"/>
              </a:rPr>
              <a:t>    'Why: hand-edits are lost on the next reset and',</a:t>
            </a:r>
          </a:p>
          <a:p>
            <a:pPr algn="l">
              <a:lnSpc>
                <a:spcPct val="114000"/>
              </a:lnSpc>
              <a:spcAft>
                <a:spcPts val="0"/>
              </a:spcAft>
            </a:pPr>
            <a:r>
              <a:rPr sz="850" b="0">
                <a:solidFill>
                  <a:srgbClr val="434343"/>
                </a:solidFill>
                <a:latin typeface="Consolas"/>
              </a:rPr>
              <a:t>    '  are invisible to everyone else.',</a:t>
            </a:r>
          </a:p>
          <a:p>
            <a:pPr algn="l">
              <a:lnSpc>
                <a:spcPct val="114000"/>
              </a:lnSpc>
              <a:spcAft>
                <a:spcPts val="0"/>
              </a:spcAft>
            </a:pPr>
            <a:r>
              <a:rPr sz="850" b="0">
                <a:solidFill>
                  <a:srgbClr val="434343"/>
                </a:solidFill>
                <a:latin typeface="Consolas"/>
              </a:rPr>
              <a:t>    'Instead: change data through the API, or edit',</a:t>
            </a:r>
          </a:p>
          <a:p>
            <a:pPr algn="l">
              <a:lnSpc>
                <a:spcPct val="114000"/>
              </a:lnSpc>
              <a:spcAft>
                <a:spcPts val="0"/>
              </a:spcAft>
            </a:pPr>
            <a:r>
              <a:rPr sz="850" b="0">
                <a:solidFill>
                  <a:srgbClr val="434343"/>
                </a:solidFill>
                <a:latin typeface="Consolas"/>
              </a:rPr>
              <a:t>    '  seed.json via PR and run npm run reset-db.',</a:t>
            </a:r>
          </a:p>
          <a:p>
            <a:pPr algn="l">
              <a:lnSpc>
                <a:spcPct val="114000"/>
              </a:lnSpc>
              <a:spcAft>
                <a:spcPts val="0"/>
              </a:spcAft>
            </a:pPr>
            <a:r>
              <a:rPr sz="850" b="0">
                <a:solidFill>
                  <a:srgbClr val="434343"/>
                </a:solidFill>
                <a:latin typeface="Consolas"/>
              </a:rPr>
              <a:t>    'Done means: your data change survives a reset.',</a:t>
            </a:r>
          </a:p>
          <a:p>
            <a:pPr algn="l">
              <a:lnSpc>
                <a:spcPct val="114000"/>
              </a:lnSpc>
              <a:spcAft>
                <a:spcPts val="0"/>
              </a:spcAft>
            </a:pPr>
            <a:r>
              <a:rPr sz="850" b="0">
                <a:solidFill>
                  <a:srgbClr val="434343"/>
                </a:solidFill>
                <a:latin typeface="Consolas"/>
              </a:rPr>
              <a:t>  ].join('\n'));</a:t>
            </a:r>
          </a:p>
          <a:p>
            <a:pPr algn="l">
              <a:lnSpc>
                <a:spcPct val="114000"/>
              </a:lnSpc>
              <a:spcAft>
                <a:spcPts val="0"/>
              </a:spcAft>
            </a:pPr>
            <a:r>
              <a:rPr sz="850" b="0">
                <a:solidFill>
                  <a:srgbClr val="434343"/>
                </a:solidFill>
                <a:latin typeface="Consolas"/>
              </a:rPr>
              <a:t>  process.exit(2);   // PreToolUse -&gt; blocks</a:t>
            </a:r>
          </a:p>
          <a:p>
            <a:pPr algn="l">
              <a:lnSpc>
                <a:spcPct val="114000"/>
              </a:lnSpc>
              <a:spcAft>
                <a:spcPts val="0"/>
              </a:spcAft>
            </a:pPr>
            <a:r>
              <a:rPr sz="850" b="0">
                <a:solidFill>
                  <a:srgbClr val="434343"/>
                </a:solidFill>
                <a:latin typeface="Consolas"/>
              </a:rPr>
              <a:t>}</a:t>
            </a:r>
          </a:p>
          <a:p>
            <a:pPr algn="l">
              <a:lnSpc>
                <a:spcPct val="114000"/>
              </a:lnSpc>
              <a:spcAft>
                <a:spcPts val="0"/>
              </a:spcAft>
            </a:pPr>
            <a:r>
              <a:rPr sz="850" b="0">
                <a:solidFill>
                  <a:srgbClr val="434343"/>
                </a:solidFill>
                <a:latin typeface="Consolas"/>
              </a:rPr>
              <a:t>process.exit(0);</a:t>
            </a:r>
          </a:p>
        </p:txBody>
      </p:sp>
      <p:sp>
        <p:nvSpPr>
          <p:cNvPr id="12" name="TextBox 11"/>
          <p:cNvSpPr txBox="1"/>
          <p:nvPr/>
        </p:nvSpPr>
        <p:spPr>
          <a:xfrm>
            <a:off x="548640" y="4279392"/>
            <a:ext cx="7863840" cy="420624"/>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Registered on PreToolUse for Edit|Write — registration JSON is in the handout, and a NEW session is needed after registering: hooks load at session start.</a:t>
            </a:r>
          </a:p>
        </p:txBody>
      </p:sp>
      <p:sp>
        <p:nvSpPr>
          <p:cNvPr id="13" name="TextBox 12"/>
          <p:cNvSpPr txBox="1"/>
          <p:nvPr/>
        </p:nvSpPr>
        <p:spPr>
          <a:xfrm>
            <a:off x="6675120" y="1728216"/>
            <a:ext cx="1920240" cy="219456"/>
          </a:xfrm>
          <a:prstGeom prst="rect">
            <a:avLst/>
          </a:prstGeom>
          <a:noFill/>
        </p:spPr>
        <p:txBody>
          <a:bodyPr wrap="square" anchor="t" lIns="0" rIns="0" tIns="0" bIns="0">
            <a:spAutoFit/>
          </a:bodyPr>
          <a:lstStyle/>
          <a:p>
            <a:pPr algn="r">
              <a:spcAft>
                <a:spcPts val="400"/>
              </a:spcAft>
            </a:pPr>
            <a:r>
              <a:rPr sz="850" b="0">
                <a:solidFill>
                  <a:srgbClr val="999999"/>
                </a:solidFill>
                <a:latin typeface="Arial"/>
              </a:rPr>
              <a:t>.claude/hooks/protect-db.js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VERIFY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Verify both directions, then the bypass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guardrail fails two ways — never blocking (useless) or blocking real work (worse: it gets disabled by Friday). So you test BOTH directions — then write the escape hatch down.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STEP 6 · BLOCK THE BAD</a:t>
            </a:r>
          </a:p>
        </p:txBody>
      </p:sp>
      <p:sp>
        <p:nvSpPr>
          <p:cNvPr id="12" name="TextBox 11"/>
          <p:cNvSpPr txBox="1"/>
          <p:nvPr/>
        </p:nvSpPr>
        <p:spPr>
          <a:xfrm>
            <a:off x="731520"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Ask for the violation on purpose</a:t>
            </a:r>
          </a:p>
          <a:p>
            <a:pPr algn="l">
              <a:lnSpc>
                <a:spcPct val="118000"/>
              </a:lnSpc>
              <a:spcAft>
                <a:spcPts val="600"/>
              </a:spcAft>
            </a:pPr>
            <a:r>
              <a:rPr sz="1000" b="1">
                <a:solidFill>
                  <a:srgbClr val="A9B7F7"/>
                </a:solidFill>
                <a:latin typeface="Arial"/>
              </a:rPr>
              <a:t>•  </a:t>
            </a:r>
            <a:r>
              <a:rPr sz="1000" b="0">
                <a:solidFill>
                  <a:srgbClr val="434343"/>
                </a:solidFill>
                <a:latin typeface="Arial"/>
              </a:rPr>
              <a:t>Hear both layers — wall, then signpost</a:t>
            </a:r>
          </a:p>
          <a:p>
            <a:pPr algn="l">
              <a:lnSpc>
                <a:spcPct val="118000"/>
              </a:lnSpc>
              <a:spcAft>
                <a:spcPts val="600"/>
              </a:spcAft>
            </a:pPr>
            <a:r>
              <a:rPr sz="1000" b="1">
                <a:solidFill>
                  <a:srgbClr val="A9B7F7"/>
                </a:solidFill>
                <a:latin typeface="Arial"/>
              </a:rPr>
              <a:t>•  </a:t>
            </a:r>
            <a:r>
              <a:rPr sz="1000" b="0">
                <a:solidFill>
                  <a:srgbClr val="434343"/>
                </a:solidFill>
                <a:latin typeface="Arial"/>
              </a:rPr>
              <a:t>Save the hook's text — your PR evidence</a:t>
            </a:r>
          </a:p>
        </p:txBody>
      </p:sp>
      <p:sp>
        <p:nvSpPr>
          <p:cNvPr id="13" name="Rectangle 12"/>
          <p:cNvSpPr/>
          <p:nvPr/>
        </p:nvSpPr>
        <p:spPr>
          <a:xfrm>
            <a:off x="3270504"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STEP 7 · ALLOW THE GOOD</a:t>
            </a:r>
          </a:p>
        </p:txBody>
      </p:sp>
      <p:sp>
        <p:nvSpPr>
          <p:cNvPr id="16" name="TextBox 15"/>
          <p:cNvSpPr txBox="1"/>
          <p:nvPr/>
        </p:nvSpPr>
        <p:spPr>
          <a:xfrm>
            <a:off x="3453384"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Ask for legitimate work: a repositories/ file</a:t>
            </a:r>
          </a:p>
          <a:p>
            <a:pPr algn="l">
              <a:lnSpc>
                <a:spcPct val="118000"/>
              </a:lnSpc>
              <a:spcAft>
                <a:spcPts val="600"/>
              </a:spcAft>
            </a:pPr>
            <a:r>
              <a:rPr sz="1000" b="1">
                <a:solidFill>
                  <a:srgbClr val="A9B7F7"/>
                </a:solidFill>
                <a:latin typeface="Arial"/>
              </a:rPr>
              <a:t>•  </a:t>
            </a:r>
            <a:r>
              <a:rPr sz="1000" b="0">
                <a:solidFill>
                  <a:srgbClr val="434343"/>
                </a:solidFill>
                <a:latin typeface="Arial"/>
              </a:rPr>
              <a:t>Expect SILENCE — and npm test still green</a:t>
            </a:r>
          </a:p>
          <a:p>
            <a:pPr algn="l">
              <a:lnSpc>
                <a:spcPct val="118000"/>
              </a:lnSpc>
              <a:spcAft>
                <a:spcPts val="600"/>
              </a:spcAft>
            </a:pPr>
            <a:r>
              <a:rPr sz="1000" b="1">
                <a:solidFill>
                  <a:srgbClr val="A9B7F7"/>
                </a:solidFill>
                <a:latin typeface="Arial"/>
              </a:rPr>
              <a:t>•  </a:t>
            </a:r>
            <a:r>
              <a:rPr sz="1000" b="0">
                <a:solidFill>
                  <a:srgbClr val="434343"/>
                </a:solidFill>
                <a:latin typeface="Arial"/>
              </a:rPr>
              <a:t>The half everyone skips — false positives kill layers</a:t>
            </a:r>
          </a:p>
        </p:txBody>
      </p:sp>
      <p:sp>
        <p:nvSpPr>
          <p:cNvPr id="17" name="Rectangle 16"/>
          <p:cNvSpPr/>
          <p:nvPr/>
        </p:nvSpPr>
        <p:spPr>
          <a:xfrm>
            <a:off x="5992368"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THEN · WRITE THE BYPASS DOWN</a:t>
            </a:r>
          </a:p>
        </p:txBody>
      </p:sp>
      <p:sp>
        <p:nvSpPr>
          <p:cNvPr id="20" name="TextBox 19"/>
          <p:cNvSpPr txBox="1"/>
          <p:nvPr/>
        </p:nvSpPr>
        <p:spPr>
          <a:xfrm>
            <a:off x="6175248"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Every rule needs a legal route for the blocked thing</a:t>
            </a:r>
          </a:p>
          <a:p>
            <a:pPr algn="l">
              <a:lnSpc>
                <a:spcPct val="118000"/>
              </a:lnSpc>
              <a:spcAft>
                <a:spcPts val="600"/>
              </a:spcAft>
            </a:pPr>
            <a:r>
              <a:rPr sz="1000" b="1">
                <a:solidFill>
                  <a:srgbClr val="A9B7F7"/>
                </a:solidFill>
                <a:latin typeface="Arial"/>
              </a:rPr>
              <a:t>•  </a:t>
            </a:r>
            <a:r>
              <a:rPr sz="1000" b="0">
                <a:solidFill>
                  <a:srgbClr val="434343"/>
                </a:solidFill>
                <a:latin typeface="Arial"/>
              </a:rPr>
              <a:t>Here: seed.json via a flagged PR + reset-db</a:t>
            </a:r>
          </a:p>
          <a:p>
            <a:pPr algn="l">
              <a:lnSpc>
                <a:spcPct val="118000"/>
              </a:lnSpc>
              <a:spcAft>
                <a:spcPts val="600"/>
              </a:spcAft>
            </a:pPr>
            <a:r>
              <a:rPr sz="1000" b="1">
                <a:solidFill>
                  <a:srgbClr val="A9B7F7"/>
                </a:solidFill>
                <a:latin typeface="Arial"/>
              </a:rPr>
              <a:t>•  </a:t>
            </a:r>
            <a:r>
              <a:rPr sz="1000" b="0">
                <a:solidFill>
                  <a:srgbClr val="434343"/>
                </a:solidFill>
                <a:latin typeface="Arial"/>
              </a:rPr>
              <a:t>Never "just disable the hook" — one line in CLAUDE.md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1</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In YOUR copy: Claude is refused when it edits server/data/db.json, and succeeds when it edits a file in server/src/repositories/.</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Paste your refusal text into chat. If you only tested the block, you have not finished — run the allow case 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YOUR RULE · PICK ONE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Pick a rule — the law is already written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Pick ONE — or bring a rule of your own. Every row is already written in this repo and enforced by nothing.</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560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rule</a:t>
            </a:r>
          </a:p>
        </p:txBody>
      </p:sp>
      <p:sp>
        <p:nvSpPr>
          <p:cNvPr id="11" name="TextBox 10"/>
          <p:cNvSpPr txBox="1"/>
          <p:nvPr/>
        </p:nvSpPr>
        <p:spPr>
          <a:xfrm>
            <a:off x="3383280" y="2089404"/>
            <a:ext cx="20116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Where it is written</a:t>
            </a:r>
          </a:p>
        </p:txBody>
      </p:sp>
      <p:sp>
        <p:nvSpPr>
          <p:cNvPr id="12" name="TextBox 11"/>
          <p:cNvSpPr txBox="1"/>
          <p:nvPr/>
        </p:nvSpPr>
        <p:spPr>
          <a:xfrm>
            <a:off x="5577840" y="2089404"/>
            <a:ext cx="29260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Hook shape</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560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A server/src change ships with a sibling test</a:t>
            </a:r>
          </a:p>
        </p:txBody>
      </p:sp>
      <p:sp>
        <p:nvSpPr>
          <p:cNvPr id="15" name="TextBox 14"/>
          <p:cNvSpPr txBox="1"/>
          <p:nvPr/>
        </p:nvSpPr>
        <p:spPr>
          <a:xfrm>
            <a:off x="3383280" y="2377440"/>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CLAUDE.md · testing approach</a:t>
            </a:r>
          </a:p>
        </p:txBody>
      </p:sp>
      <p:sp>
        <p:nvSpPr>
          <p:cNvPr id="16" name="TextBox 15"/>
          <p:cNvSpPr txBox="1"/>
          <p:nvPr/>
        </p:nvSpPr>
        <p:spPr>
          <a:xfrm>
            <a:off x="5577840" y="2377440"/>
            <a:ext cx="29260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PostToolUse nudge — edited *.ts has no sibling *.test.ts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2560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Only repositories/ may import db/store</a:t>
            </a:r>
          </a:p>
        </p:txBody>
      </p:sp>
      <p:sp>
        <p:nvSpPr>
          <p:cNvPr id="19" name="TextBox 18"/>
          <p:cNvSpPr txBox="1"/>
          <p:nvPr/>
        </p:nvSpPr>
        <p:spPr>
          <a:xfrm>
            <a:off x="3383280" y="2761488"/>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CLAUDE.md · Don't list</a:t>
            </a:r>
          </a:p>
        </p:txBody>
      </p:sp>
      <p:sp>
        <p:nvSpPr>
          <p:cNvPr id="20" name="TextBox 19"/>
          <p:cNvSpPr txBox="1"/>
          <p:nvPr/>
        </p:nvSpPr>
        <p:spPr>
          <a:xfrm>
            <a:off x="5577840" y="2761488"/>
            <a:ext cx="29260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PreToolUse block — written content imports db/store</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2560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Throw typed errors, not new Error()</a:t>
            </a:r>
          </a:p>
        </p:txBody>
      </p:sp>
      <p:sp>
        <p:nvSpPr>
          <p:cNvPr id="23" name="TextBox 22"/>
          <p:cNvSpPr txBox="1"/>
          <p:nvPr/>
        </p:nvSpPr>
        <p:spPr>
          <a:xfrm>
            <a:off x="3383280" y="3145536"/>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CLAUDE.md · code conventions</a:t>
            </a:r>
          </a:p>
        </p:txBody>
      </p:sp>
      <p:sp>
        <p:nvSpPr>
          <p:cNvPr id="24" name="TextBox 23"/>
          <p:cNvSpPr txBox="1"/>
          <p:nvPr/>
        </p:nvSpPr>
        <p:spPr>
          <a:xfrm>
            <a:off x="5577840" y="3145536"/>
            <a:ext cx="29260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PostToolUse nudge — content has throw new Error(</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2560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Responses only via respond.ts</a:t>
            </a:r>
          </a:p>
        </p:txBody>
      </p:sp>
      <p:sp>
        <p:nvSpPr>
          <p:cNvPr id="27" name="TextBox 26"/>
          <p:cNvSpPr txBox="1"/>
          <p:nvPr/>
        </p:nvSpPr>
        <p:spPr>
          <a:xfrm>
            <a:off x="3383280" y="3529584"/>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ADR-0001 + CLAUDE.md</a:t>
            </a:r>
          </a:p>
        </p:txBody>
      </p:sp>
      <p:sp>
        <p:nvSpPr>
          <p:cNvPr id="28" name="TextBox 27"/>
          <p:cNvSpPr txBox="1"/>
          <p:nvPr/>
        </p:nvSpPr>
        <p:spPr>
          <a:xfrm>
            <a:off x="5577840" y="3529584"/>
            <a:ext cx="29260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PostToolUse nudge — route content has res.json / res.send</a:t>
            </a:r>
          </a:p>
        </p:txBody>
      </p:sp>
      <p:sp>
        <p:nvSpPr>
          <p:cNvPr id="29" name="TextBox 28"/>
          <p:cNvSpPr txBox="1"/>
          <p:nvPr/>
        </p:nvSpPr>
        <p:spPr>
          <a:xfrm>
            <a:off x="548640" y="3986783"/>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No wrong choice. The hook-shape column is a hint, not a spec — the skeleton has both shapes ready.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YOUR RULE · BUILD IT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hook — give your rule teeth</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Fifteen minutes. The plumbing is given; the rule is your pick from the menu.</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Start from the skeleton. </a:t>
            </a:r>
            <a:r>
              <a:rPr sz="1250" b="0">
                <a:solidFill>
                  <a:srgbClr val="434343"/>
                </a:solidFill>
                <a:latin typeface="Arial"/>
              </a:rPr>
              <a:t>`docs/labs/snippets/hook-skeleton.js` → `.claude/hooks/check-convention.js`; delete the two example rules; put yours in.</a:t>
            </a:r>
          </a:p>
          <a:p>
            <a:pPr algn="l">
              <a:lnSpc>
                <a:spcPct val="122000"/>
              </a:lnSpc>
              <a:spcAft>
                <a:spcPts val="900"/>
              </a:spcAft>
            </a:pPr>
            <a:r>
              <a:rPr sz="1250" b="1">
                <a:solidFill>
                  <a:srgbClr val="403FE8"/>
                </a:solidFill>
                <a:latin typeface="Arial"/>
              </a:rPr>
              <a:t>•  </a:t>
            </a:r>
            <a:r>
              <a:rPr sz="1250" b="1">
                <a:solidFill>
                  <a:srgbClr val="13135E"/>
                </a:solidFill>
                <a:latin typeface="Arial"/>
              </a:rPr>
              <a:t>Register it, then NEW session. </a:t>
            </a:r>
            <a:r>
              <a:rPr sz="1250" b="0">
                <a:solidFill>
                  <a:srgbClr val="434343"/>
                </a:solidFill>
                <a:latin typeface="Arial"/>
              </a:rPr>
              <a:t>The settings JSON is in the handout — matcher, event, `$CLAUDE_PROJECT_DIR`. Hooks load at session start.</a:t>
            </a:r>
          </a:p>
          <a:p>
            <a:pPr algn="l">
              <a:lnSpc>
                <a:spcPct val="122000"/>
              </a:lnSpc>
              <a:spcAft>
                <a:spcPts val="900"/>
              </a:spcAft>
            </a:pPr>
            <a:r>
              <a:rPr sz="1250" b="1">
                <a:solidFill>
                  <a:srgbClr val="403FE8"/>
                </a:solidFill>
                <a:latin typeface="Arial"/>
              </a:rPr>
              <a:t>•  </a:t>
            </a:r>
            <a:r>
              <a:rPr sz="1250" b="1">
                <a:solidFill>
                  <a:srgbClr val="13135E"/>
                </a:solidFill>
                <a:latin typeface="Arial"/>
              </a:rPr>
              <a:t>Block or nudge — the event decides. </a:t>
            </a:r>
            <a:r>
              <a:rPr sz="1250" b="0">
                <a:solidFill>
                  <a:srgbClr val="434343"/>
                </a:solidFill>
                <a:latin typeface="Arial"/>
              </a:rPr>
              <a:t>PreToolUse blocks; PostToolUse nudges. Path rules can block; content heuristics should nudge.</a:t>
            </a:r>
          </a:p>
          <a:p>
            <a:pPr algn="l">
              <a:lnSpc>
                <a:spcPct val="122000"/>
              </a:lnSpc>
              <a:spcAft>
                <a:spcPts val="900"/>
              </a:spcAft>
            </a:pPr>
            <a:r>
              <a:rPr sz="1250" b="1">
                <a:solidFill>
                  <a:srgbClr val="403FE8"/>
                </a:solidFill>
                <a:latin typeface="Arial"/>
              </a:rPr>
              <a:t>•  </a:t>
            </a:r>
            <a:r>
              <a:rPr sz="1250" b="1">
                <a:solidFill>
                  <a:srgbClr val="13135E"/>
                </a:solidFill>
                <a:latin typeface="Arial"/>
              </a:rPr>
              <a:t>Verify both directions. </a:t>
            </a:r>
            <a:r>
              <a:rPr sz="1250" b="0">
                <a:solidFill>
                  <a:srgbClr val="434343"/>
                </a:solidFill>
                <a:latin typeface="Arial"/>
              </a:rPr>
              <a:t>Violation on purpose → save the text. Legitimate edit → silence. The text goes in your PR.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2</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Your hook fires on the violation, stays silent on a legitimate edit, and the text is pasted in your PR description.</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The hook's text is the evidence standard — "it worked" is not verification.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LAYER 4 · ALREADY LIVE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Layer 4 already runs — your gate just joins it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Lint, typecheck, tests: merge-time guardrails have protected this repo all along. And merge time is the moment nothing dodges — no --no-verify, no missing hooks; it holds against anyone.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1965960"/>
            <a:ext cx="8046720" cy="220370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965960"/>
            <a:ext cx="41148" cy="220370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03120"/>
            <a:ext cx="7635240" cy="1947672"/>
          </a:xfrm>
          <a:prstGeom prst="rect">
            <a:avLst/>
          </a:prstGeom>
          <a:noFill/>
        </p:spPr>
        <p:txBody>
          <a:bodyPr wrap="square" anchor="t" lIns="0" rIns="0" tIns="0" bIns="0">
            <a:spAutoFit/>
          </a:bodyPr>
          <a:lstStyle/>
          <a:p>
            <a:pPr algn="l">
              <a:lnSpc>
                <a:spcPct val="114000"/>
              </a:lnSpc>
              <a:spcAft>
                <a:spcPts val="0"/>
              </a:spcAft>
            </a:pPr>
            <a:r>
              <a:rPr sz="950" b="0">
                <a:solidFill>
                  <a:srgbClr val="434343"/>
                </a:solidFill>
                <a:latin typeface="Consolas"/>
              </a:rPr>
              <a:t># .github/workflows/ci.yml — live in this repo, on every PR and push to main</a:t>
            </a:r>
          </a:p>
          <a:p>
            <a:pPr algn="l">
              <a:lnSpc>
                <a:spcPct val="114000"/>
              </a:lnSpc>
              <a:spcAft>
                <a:spcPts val="0"/>
              </a:spcAft>
            </a:pPr>
            <a:r>
              <a:rPr sz="950" b="0">
                <a:solidFill>
                  <a:srgbClr val="434343"/>
                </a:solidFill>
                <a:latin typeface="Consolas"/>
              </a:rPr>
              <a:t>steps:</a:t>
            </a:r>
          </a:p>
          <a:p>
            <a:pPr algn="l">
              <a:lnSpc>
                <a:spcPct val="114000"/>
              </a:lnSpc>
              <a:spcAft>
                <a:spcPts val="0"/>
              </a:spcAft>
            </a:pPr>
            <a:r>
              <a:rPr sz="950" b="0">
                <a:solidFill>
                  <a:srgbClr val="434343"/>
                </a:solidFill>
                <a:latin typeface="Consolas"/>
              </a:rPr>
              <a:t>  - npm ci</a:t>
            </a:r>
          </a:p>
          <a:p>
            <a:pPr algn="l">
              <a:lnSpc>
                <a:spcPct val="114000"/>
              </a:lnSpc>
              <a:spcAft>
                <a:spcPts val="0"/>
              </a:spcAft>
            </a:pPr>
            <a:r>
              <a:rPr sz="950" b="0">
                <a:solidFill>
                  <a:srgbClr val="434343"/>
                </a:solidFill>
                <a:latin typeface="Consolas"/>
              </a:rPr>
              <a:t>  - npm run lint        # the no-console rule fails HERE, for anyone</a:t>
            </a:r>
          </a:p>
          <a:p>
            <a:pPr algn="l">
              <a:lnSpc>
                <a:spcPct val="114000"/>
              </a:lnSpc>
              <a:spcAft>
                <a:spcPts val="0"/>
              </a:spcAft>
            </a:pPr>
            <a:r>
              <a:rPr sz="950" b="0">
                <a:solidFill>
                  <a:srgbClr val="434343"/>
                </a:solidFill>
                <a:latin typeface="Consolas"/>
              </a:rPr>
              <a:t>  - npm run typecheck</a:t>
            </a:r>
          </a:p>
          <a:p>
            <a:pPr algn="l">
              <a:lnSpc>
                <a:spcPct val="114000"/>
              </a:lnSpc>
              <a:spcAft>
                <a:spcPts val="0"/>
              </a:spcAft>
            </a:pPr>
            <a:r>
              <a:rPr sz="950" b="0">
                <a:solidFill>
                  <a:srgbClr val="434343"/>
                </a:solidFill>
                <a:latin typeface="Consolas"/>
              </a:rPr>
              <a:t>  - npm test</a:t>
            </a:r>
          </a:p>
          <a:p>
            <a:pPr algn="l">
              <a:lnSpc>
                <a:spcPct val="114000"/>
              </a:lnSpc>
              <a:spcAft>
                <a:spcPts val="0"/>
              </a:spcAft>
            </a:pPr>
            <a:r>
              <a:rPr sz="950" b="0">
                <a:solidFill>
                  <a:srgbClr val="434343"/>
                </a:solidFill>
                <a:latin typeface="Consolas"/>
              </a:rPr>
              <a:t/>
            </a:r>
          </a:p>
          <a:p>
            <a:pPr algn="l">
              <a:lnSpc>
                <a:spcPct val="114000"/>
              </a:lnSpc>
              <a:spcAft>
                <a:spcPts val="0"/>
              </a:spcAft>
            </a:pPr>
            <a:r>
              <a:rPr sz="950" b="0">
                <a:solidFill>
                  <a:srgbClr val="434343"/>
                </a:solidFill>
                <a:latin typeface="Consolas"/>
              </a:rPr>
              <a:t># in package.json, but called by nothing:</a:t>
            </a:r>
          </a:p>
          <a:p>
            <a:pPr algn="l">
              <a:lnSpc>
                <a:spcPct val="114000"/>
              </a:lnSpc>
              <a:spcAft>
                <a:spcPts val="0"/>
              </a:spcAft>
            </a:pPr>
            <a:r>
              <a:rPr sz="950" b="0">
                <a:solidFill>
                  <a:srgbClr val="434343"/>
                </a:solidFill>
                <a:latin typeface="Consolas"/>
              </a:rPr>
              <a:t>"format:check": "prettier --check ."</a:t>
            </a:r>
          </a:p>
        </p:txBody>
      </p:sp>
      <p:sp>
        <p:nvSpPr>
          <p:cNvPr id="12" name="TextBox 11"/>
          <p:cNvSpPr txBox="1"/>
          <p:nvPr/>
        </p:nvSpPr>
        <p:spPr>
          <a:xfrm>
            <a:off x="548640" y="4279392"/>
            <a:ext cx="7863840" cy="420624"/>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One rule here is written but never run — find it before you build. That hunt ("which of our rules are enforced, which are just written down?") is the skill to take home. Your governance.yml sits right next to this file, one more check beside lint.</a:t>
            </a:r>
          </a:p>
        </p:txBody>
      </p:sp>
      <p:sp>
        <p:nvSpPr>
          <p:cNvPr id="13" name="TextBox 12"/>
          <p:cNvSpPr txBox="1"/>
          <p:nvPr/>
        </p:nvSpPr>
        <p:spPr>
          <a:xfrm>
            <a:off x="6675120" y="1728216"/>
            <a:ext cx="1920240" cy="219456"/>
          </a:xfrm>
          <a:prstGeom prst="rect">
            <a:avLst/>
          </a:prstGeom>
          <a:noFill/>
        </p:spPr>
        <p:txBody>
          <a:bodyPr wrap="square" anchor="t" lIns="0" rIns="0" tIns="0" bIns="0">
            <a:spAutoFit/>
          </a:bodyPr>
          <a:lstStyle/>
          <a:p>
            <a:pPr algn="r">
              <a:spcAft>
                <a:spcPts val="400"/>
              </a:spcAft>
            </a:pPr>
            <a:r>
              <a:rPr sz="850" b="0">
                <a:solidFill>
                  <a:srgbClr val="999999"/>
                </a:solidFill>
                <a:latin typeface="Arial"/>
              </a:rPr>
              <a:t>.github/workflows/ci.yml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YOUR RULE · MERGE TIME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same rule at merge time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Ten minutes. The same rule, at the moment --no-verify cannot reach — it joins lint, typecheck, and tests in the file you just read.</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The hook stops the agent. This stops anyone. </a:t>
            </a:r>
            <a:r>
              <a:rPr sz="1250" b="0">
                <a:solidFill>
                  <a:srgbClr val="434343"/>
                </a:solidFill>
                <a:latin typeface="Arial"/>
              </a:rPr>
              <a:t>Including a human who never opened Claude Code.</a:t>
            </a:r>
          </a:p>
          <a:p>
            <a:pPr algn="l">
              <a:lnSpc>
                <a:spcPct val="122000"/>
              </a:lnSpc>
              <a:spcAft>
                <a:spcPts val="900"/>
              </a:spcAft>
            </a:pPr>
            <a:r>
              <a:rPr sz="1250" b="1">
                <a:solidFill>
                  <a:srgbClr val="403FE8"/>
                </a:solidFill>
                <a:latin typeface="Arial"/>
              </a:rPr>
              <a:t>•  </a:t>
            </a:r>
            <a:r>
              <a:rPr sz="1250" b="1">
                <a:solidFill>
                  <a:srgbClr val="13135E"/>
                </a:solidFill>
                <a:latin typeface="Arial"/>
              </a:rPr>
              <a:t>Start from the gate skeleton. </a:t>
            </a:r>
            <a:r>
              <a:rPr sz="1250" b="0">
                <a:solidFill>
                  <a:srgbClr val="434343"/>
                </a:solidFill>
                <a:latin typeface="Arial"/>
              </a:rPr>
              <a:t>`docs/labs/snippets/governance-gate.yml` → `.github/workflows/governance.yml`; encode your rule's check.</a:t>
            </a:r>
          </a:p>
          <a:p>
            <a:pPr algn="l">
              <a:lnSpc>
                <a:spcPct val="122000"/>
              </a:lnSpc>
              <a:spcAft>
                <a:spcPts val="900"/>
              </a:spcAft>
            </a:pPr>
            <a:r>
              <a:rPr sz="1250" b="1">
                <a:solidFill>
                  <a:srgbClr val="403FE8"/>
                </a:solidFill>
                <a:latin typeface="Arial"/>
              </a:rPr>
              <a:t>•  </a:t>
            </a:r>
            <a:r>
              <a:rPr sz="1250" b="1">
                <a:solidFill>
                  <a:srgbClr val="13135E"/>
                </a:solidFill>
                <a:latin typeface="Arial"/>
              </a:rPr>
              <a:t>`fetch-depth: 0` or it breaks. </a:t>
            </a:r>
            <a:r>
              <a:rPr sz="1250" b="0">
                <a:solidFill>
                  <a:srgbClr val="434343"/>
                </a:solidFill>
                <a:latin typeface="Arial"/>
              </a:rPr>
              <a:t>The default shallow clone makes any diff against the base branch fail with an unhelpful error.</a:t>
            </a:r>
          </a:p>
          <a:p>
            <a:pPr algn="l">
              <a:lnSpc>
                <a:spcPct val="122000"/>
              </a:lnSpc>
              <a:spcAft>
                <a:spcPts val="900"/>
              </a:spcAft>
            </a:pPr>
            <a:r>
              <a:rPr sz="1250" b="1">
                <a:solidFill>
                  <a:srgbClr val="403FE8"/>
                </a:solidFill>
                <a:latin typeface="Arial"/>
              </a:rPr>
              <a:t>•  </a:t>
            </a:r>
            <a:r>
              <a:rPr sz="1250" b="1">
                <a:solidFill>
                  <a:srgbClr val="13135E"/>
                </a:solidFill>
                <a:latin typeface="Arial"/>
              </a:rPr>
              <a:t>Open a draft PR to see it fire. </a:t>
            </a:r>
            <a:r>
              <a:rPr sz="1250" b="0">
                <a:solidFill>
                  <a:srgbClr val="434343"/>
                </a:solidFill>
                <a:latin typeface="Arial"/>
              </a:rPr>
              <a:t>`on: pull_request` — a pushed branch alone runs nothing, and your gate will look broken when it is merely unasked.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3</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Your gate fails a PR that violates your rule, and passes one that does not.</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Paste your PR link in chat with the check visibly red then green. The run URL is this layer's evidence — the hook text's merge-time twin.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REVIEW</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Let us compare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Ten minutes. Two or three volunteers share their screen — not everyone.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0">
                <a:solidFill>
                  <a:srgbClr val="434343"/>
                </a:solidFill>
                <a:latin typeface="Arial"/>
              </a:rPr>
              <a:t>Which rule did you pick — and why that one?</a:t>
            </a:r>
          </a:p>
          <a:p>
            <a:pPr algn="l">
              <a:lnSpc>
                <a:spcPct val="122000"/>
              </a:lnSpc>
              <a:spcAft>
                <a:spcPts val="900"/>
              </a:spcAft>
            </a:pPr>
            <a:r>
              <a:rPr sz="1250" b="1">
                <a:solidFill>
                  <a:srgbClr val="403FE8"/>
                </a:solidFill>
                <a:latin typeface="Arial"/>
              </a:rPr>
              <a:t>•  </a:t>
            </a:r>
            <a:r>
              <a:rPr sz="1250" b="0">
                <a:solidFill>
                  <a:srgbClr val="434343"/>
                </a:solidFill>
                <a:latin typeface="Arial"/>
              </a:rPr>
              <a:t>Whose hook has a false positive — and how did you find out?</a:t>
            </a:r>
          </a:p>
          <a:p>
            <a:pPr algn="l">
              <a:lnSpc>
                <a:spcPct val="122000"/>
              </a:lnSpc>
              <a:spcAft>
                <a:spcPts val="900"/>
              </a:spcAft>
            </a:pPr>
            <a:r>
              <a:rPr sz="1250" b="1">
                <a:solidFill>
                  <a:srgbClr val="403FE8"/>
                </a:solidFill>
                <a:latin typeface="Arial"/>
              </a:rPr>
              <a:t>•  </a:t>
            </a:r>
            <a:r>
              <a:rPr sz="1250" b="0">
                <a:solidFill>
                  <a:srgbClr val="434343"/>
                </a:solidFill>
                <a:latin typeface="Arial"/>
              </a:rPr>
              <a:t>Who chose nudge over block, and what was the reasoning?</a:t>
            </a:r>
          </a:p>
          <a:p>
            <a:pPr algn="l">
              <a:lnSpc>
                <a:spcPct val="122000"/>
              </a:lnSpc>
              <a:spcAft>
                <a:spcPts val="900"/>
              </a:spcAft>
            </a:pPr>
            <a:r>
              <a:rPr sz="1250" b="1">
                <a:solidFill>
                  <a:srgbClr val="403FE8"/>
                </a:solidFill>
                <a:latin typeface="Arial"/>
              </a:rPr>
              <a:t>•  </a:t>
            </a:r>
            <a:r>
              <a:rPr sz="1250" b="0">
                <a:solidFill>
                  <a:srgbClr val="434343"/>
                </a:solidFill>
                <a:latin typeface="Arial"/>
              </a:rPr>
              <a:t>What does your gate do on a docs-only PR?</a:t>
            </a:r>
          </a:p>
          <a:p>
            <a:pPr algn="l">
              <a:lnSpc>
                <a:spcPct val="122000"/>
              </a:lnSpc>
              <a:spcAft>
                <a:spcPts val="900"/>
              </a:spcAft>
            </a:pPr>
            <a:r>
              <a:rPr sz="1250" b="1">
                <a:solidFill>
                  <a:srgbClr val="403FE8"/>
                </a:solidFill>
                <a:latin typeface="Arial"/>
              </a:rPr>
              <a:t>•  </a:t>
            </a:r>
            <a:r>
              <a:rPr sz="1250" b="0">
                <a:solidFill>
                  <a:srgbClr val="434343"/>
                </a:solidFill>
                <a:latin typeface="Arial"/>
              </a:rPr>
              <a:t>Which rule would you take to YOUR repo tomorrow?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HAND-OFF</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sixth artifact, and it is yours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Five governance artifacts live inside a repo — CLAUDE.md, ADR, NFR, recipe, rules file. The sixth is the only Collective-layer one — how a standard reaches every repo — and we are deliberately not handing you the answer, because choosing the mechanism, the rung, and the owner IS the roll-up.</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WHAT THE GUIDE GIVES YOU</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Four words that carry it: standard, drift, pin, enforce.</a:t>
            </a:r>
          </a:p>
          <a:p>
            <a:pPr algn="l">
              <a:lnSpc>
                <a:spcPct val="120000"/>
              </a:lnSpc>
              <a:spcAft>
                <a:spcPts val="800"/>
              </a:spcAft>
            </a:pPr>
            <a:r>
              <a:rPr sz="1100" b="1">
                <a:solidFill>
                  <a:srgbClr val="A9B7F7"/>
                </a:solidFill>
                <a:latin typeface="Arial"/>
              </a:rPr>
              <a:t>•  </a:t>
            </a:r>
            <a:r>
              <a:rPr sz="1100" b="0">
                <a:solidFill>
                  <a:srgbClr val="434343"/>
                </a:solidFill>
                <a:latin typeface="Arial"/>
              </a:rPr>
              <a:t>CRAWL: one repo + two CLAUDE.md lines — a 4-step checklist, ~30 min.</a:t>
            </a:r>
          </a:p>
          <a:p>
            <a:pPr algn="l">
              <a:lnSpc>
                <a:spcPct val="120000"/>
              </a:lnSpc>
              <a:spcAft>
                <a:spcPts val="800"/>
              </a:spcAft>
            </a:pPr>
            <a:r>
              <a:rPr sz="1100" b="1">
                <a:solidFill>
                  <a:srgbClr val="A9B7F7"/>
                </a:solidFill>
                <a:latin typeface="Arial"/>
              </a:rPr>
              <a:t>•  </a:t>
            </a:r>
            <a:r>
              <a:rPr sz="1100" b="0">
                <a:solidFill>
                  <a:srgbClr val="434343"/>
                </a:solidFill>
                <a:latin typeface="Arial"/>
              </a:rPr>
              <a:t>WALK: queryable (3 tool options, traps named) + pinned copies.</a:t>
            </a:r>
          </a:p>
          <a:p>
            <a:pPr algn="l">
              <a:lnSpc>
                <a:spcPct val="120000"/>
              </a:lnSpc>
              <a:spcAft>
                <a:spcPts val="800"/>
              </a:spcAft>
            </a:pPr>
            <a:r>
              <a:rPr sz="1100" b="1">
                <a:solidFill>
                  <a:srgbClr val="A9B7F7"/>
                </a:solidFill>
                <a:latin typeface="Arial"/>
              </a:rPr>
              <a:t>•  </a:t>
            </a:r>
            <a:r>
              <a:rPr sz="1100" b="0">
                <a:solidFill>
                  <a:srgbClr val="434343"/>
                </a:solidFill>
                <a:latin typeface="Arial"/>
              </a:rPr>
              <a:t>RUN: gates, served docs, a versioned plugin — each needs an owner.</a:t>
            </a:r>
          </a:p>
          <a:p>
            <a:pPr algn="l">
              <a:lnSpc>
                <a:spcPct val="120000"/>
              </a:lnSpc>
              <a:spcAft>
                <a:spcPts val="800"/>
              </a:spcAft>
            </a:pPr>
            <a:r>
              <a:rPr sz="1100" b="1">
                <a:solidFill>
                  <a:srgbClr val="A9B7F7"/>
                </a:solidFill>
                <a:latin typeface="Arial"/>
              </a:rPr>
              <a:t>•  </a:t>
            </a:r>
            <a:r>
              <a:rPr sz="1100" b="0">
                <a:solidFill>
                  <a:srgbClr val="434343"/>
                </a:solidFill>
                <a:latin typeface="Arial"/>
              </a:rPr>
              <a:t>And a fill-in template for recording what you chose.</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THE DECISION TEMPLATE</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850" b="0">
                <a:solidFill>
                  <a:srgbClr val="434343"/>
                </a:solidFill>
                <a:latin typeface="Consolas"/>
              </a:rPr>
              <a:t># docs/best-practices/</a:t>
            </a:r>
          </a:p>
          <a:p>
            <a:pPr algn="l">
              <a:lnSpc>
                <a:spcPct val="114000"/>
              </a:lnSpc>
              <a:spcAft>
                <a:spcPts val="0"/>
              </a:spcAft>
            </a:pPr>
            <a:r>
              <a:rPr sz="850" b="0">
                <a:solidFill>
                  <a:srgbClr val="434343"/>
                </a:solidFill>
                <a:latin typeface="Consolas"/>
              </a:rPr>
              <a:t>#   distributing-standards.md</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what "done" looks like:</a:t>
            </a:r>
          </a:p>
          <a:p>
            <a:pPr algn="l">
              <a:lnSpc>
                <a:spcPct val="114000"/>
              </a:lnSpc>
              <a:spcAft>
                <a:spcPts val="0"/>
              </a:spcAft>
            </a:pPr>
            <a:r>
              <a:rPr sz="850" b="0">
                <a:solidFill>
                  <a:srgbClr val="434343"/>
                </a:solidFill>
                <a:latin typeface="Consolas"/>
              </a:rPr>
              <a:t>Owner:      &lt;a person, not a team&gt;</a:t>
            </a:r>
          </a:p>
          <a:p>
            <a:pPr algn="l">
              <a:lnSpc>
                <a:spcPct val="114000"/>
              </a:lnSpc>
              <a:spcAft>
                <a:spcPts val="0"/>
              </a:spcAft>
            </a:pPr>
            <a:r>
              <a:rPr sz="850" b="0">
                <a:solidFill>
                  <a:srgbClr val="434343"/>
                </a:solidFill>
                <a:latin typeface="Consolas"/>
              </a:rPr>
              <a:t>Rung:       crawl | walk | run</a:t>
            </a:r>
          </a:p>
          <a:p>
            <a:pPr algn="l">
              <a:lnSpc>
                <a:spcPct val="114000"/>
              </a:lnSpc>
              <a:spcAft>
                <a:spcPts val="0"/>
              </a:spcAft>
            </a:pPr>
            <a:r>
              <a:rPr sz="850" b="0">
                <a:solidFill>
                  <a:srgbClr val="434343"/>
                </a:solidFill>
                <a:latin typeface="Consolas"/>
              </a:rPr>
              <a:t>First move: &lt;the ~30-min step&gt;</a:t>
            </a:r>
          </a:p>
          <a:p>
            <a:pPr algn="l">
              <a:lnSpc>
                <a:spcPct val="114000"/>
              </a:lnSpc>
              <a:spcAft>
                <a:spcPts val="0"/>
              </a:spcAft>
            </a:pPr>
            <a:r>
              <a:rPr sz="850" b="0">
                <a:solidFill>
                  <a:srgbClr val="434343"/>
                </a:solidFill>
                <a:latin typeface="Consolas"/>
              </a:rPr>
              <a:t>Decided:    YYYY-MM-DD</a:t>
            </a:r>
          </a:p>
          <a:p>
            <a:pPr algn="l">
              <a:lnSpc>
                <a:spcPct val="114000"/>
              </a:lnSpc>
              <a:spcAft>
                <a:spcPts val="0"/>
              </a:spcAft>
            </a:pPr>
            <a:r>
              <a:rPr sz="850" b="0">
                <a:solidFill>
                  <a:srgbClr val="434343"/>
                </a:solidFill>
                <a:latin typeface="Consolas"/>
              </a:rPr>
              <a:t>Next review: YYYY-MM-DD</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...plus: where standards live,</a:t>
            </a:r>
          </a:p>
          <a:p>
            <a:pPr algn="l">
              <a:lnSpc>
                <a:spcPct val="114000"/>
              </a:lnSpc>
              <a:spcAft>
                <a:spcPts val="0"/>
              </a:spcAft>
            </a:pPr>
            <a:r>
              <a:rPr sz="850" b="0">
                <a:solidFill>
                  <a:srgbClr val="434343"/>
                </a:solidFill>
                <a:latin typeface="Consolas"/>
              </a:rPr>
              <a:t># how a project gets them, current-</a:t>
            </a:r>
          </a:p>
          <a:p>
            <a:pPr algn="l">
              <a:lnSpc>
                <a:spcPct val="114000"/>
              </a:lnSpc>
              <a:spcAft>
                <a:spcPts val="0"/>
              </a:spcAft>
            </a:pPr>
            <a:r>
              <a:rPr sz="850" b="0">
                <a:solidFill>
                  <a:srgbClr val="434343"/>
                </a:solidFill>
                <a:latin typeface="Consolas"/>
              </a:rPr>
              <a:t># ness, enforced vs advisory,</a:t>
            </a:r>
          </a:p>
          <a:p>
            <a:pPr algn="l">
              <a:lnSpc>
                <a:spcPct val="114000"/>
              </a:lnSpc>
              <a:spcAft>
                <a:spcPts val="0"/>
              </a:spcAft>
            </a:pPr>
            <a:r>
              <a:rPr sz="850" b="0">
                <a:solidFill>
                  <a:srgbClr val="434343"/>
                </a:solidFill>
                <a:latin typeface="Consolas"/>
              </a:rPr>
              <a:t># bypass, NOT-doing-yet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WRAP &amp; RETRO</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leaves this room</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Questions &amp; support: #extra-duty-solutions-ai-training — your instructor and the Applied AI Engineer are there.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Ship checklist. </a:t>
            </a:r>
            <a:r>
              <a:rPr sz="1250" b="0">
                <a:solidFill>
                  <a:srgbClr val="434343"/>
                </a:solidFill>
                <a:latin typeface="Arial"/>
              </a:rPr>
              <a:t>Warm-up merged (seed rules intact) · a hook enforcing a written rule, verified both ways, its text in the PR · the same rule as a CI gate, seen red then green · PR open, CI green.</a:t>
            </a:r>
          </a:p>
          <a:p>
            <a:pPr algn="l">
              <a:lnSpc>
                <a:spcPct val="122000"/>
              </a:lnSpc>
              <a:spcAft>
                <a:spcPts val="900"/>
              </a:spcAft>
            </a:pPr>
            <a:r>
              <a:rPr sz="1250" b="1">
                <a:solidFill>
                  <a:srgbClr val="403FE8"/>
                </a:solidFill>
                <a:latin typeface="Arial"/>
              </a:rPr>
              <a:t>•  </a:t>
            </a:r>
            <a:r>
              <a:rPr sz="1250" b="1">
                <a:solidFill>
                  <a:srgbClr val="13135E"/>
                </a:solidFill>
                <a:latin typeface="Arial"/>
              </a:rPr>
              <a:t>Reflection note, now. </a:t>
            </a:r>
            <a:r>
              <a:rPr sz="1250" b="0">
                <a:solidFill>
                  <a:srgbClr val="434343"/>
                </a:solidFill>
                <a:latin typeface="Arial"/>
              </a:rPr>
              <a:t>3–5 sentences in your PR: what you learned, what surprised you, what you'd apply tomorrow. Acceptance criterion, not homework.</a:t>
            </a:r>
          </a:p>
          <a:p>
            <a:pPr algn="l">
              <a:lnSpc>
                <a:spcPct val="122000"/>
              </a:lnSpc>
              <a:spcAft>
                <a:spcPts val="900"/>
              </a:spcAft>
            </a:pPr>
            <a:r>
              <a:rPr sz="1250" b="1">
                <a:solidFill>
                  <a:srgbClr val="403FE8"/>
                </a:solidFill>
                <a:latin typeface="Arial"/>
              </a:rPr>
              <a:t>•  </a:t>
            </a:r>
            <a:r>
              <a:rPr sz="1250" b="1">
                <a:solidFill>
                  <a:srgbClr val="13135E"/>
                </a:solidFill>
                <a:latin typeface="Arial"/>
              </a:rPr>
              <a:t>One retro question. </a:t>
            </a:r>
            <a:r>
              <a:rPr sz="1250" b="0">
                <a:solidFill>
                  <a:srgbClr val="434343"/>
                </a:solidFill>
                <a:latin typeface="Arial"/>
              </a:rPr>
              <a:t>What was hard, what was easy — one line each, in chat, waterfall style.</a:t>
            </a:r>
          </a:p>
          <a:p>
            <a:pPr algn="l">
              <a:lnSpc>
                <a:spcPct val="122000"/>
              </a:lnSpc>
              <a:spcAft>
                <a:spcPts val="900"/>
              </a:spcAft>
            </a:pPr>
            <a:r>
              <a:rPr sz="1250" b="1">
                <a:solidFill>
                  <a:srgbClr val="403FE8"/>
                </a:solidFill>
                <a:latin typeface="Arial"/>
              </a:rPr>
              <a:t>•  </a:t>
            </a:r>
            <a:r>
              <a:rPr sz="1250" b="1">
                <a:solidFill>
                  <a:srgbClr val="13135E"/>
                </a:solidFill>
                <a:latin typeface="Arial"/>
              </a:rPr>
              <a:t>Three continuations. </a:t>
            </a:r>
            <a:r>
              <a:rPr sz="1250" b="0">
                <a:solidFill>
                  <a:srgbClr val="434343"/>
                </a:solidFill>
                <a:latin typeface="Arial"/>
              </a:rPr>
              <a:t>Port one artifact in office hours (bring the repo, not a question) · define how standards travel (owner + template) · apply the pattern to a convention of your own (the takeaway card) — or wire the commit-msg hook into your copy (the demo-2 walkthrough has every step).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