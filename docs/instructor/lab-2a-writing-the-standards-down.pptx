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Lab 2.a. Two hours, mostly hands-on. The challenge in one breath: this repo has a real, load-bearing rule that nothing explains and nothing checks — you will document the why as an ADR, derive a rule from last week's real fixes and write it as an NFR, and wire both into CLAUDE.md so Claude actually reads them. ~1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The blocks sum to 120 — keep yourself honest on them. No setup block: everyone arrives ready per the handout (branch created, docs/labs pulled, npm test green) — verify in chat ("type READY if npm test is green on your branch"), and route any exception to Slack during the Why slide rather than stopping the call. Set expectations: this block is less typing than 1.b and more deciding. Two unusual asks today: read code cold and write a rule from it, and mark which parts of your own rule a machine could not check. Also say once: how you're assessed is on the handout — same five-dimension rubric as Lab 1, counts toward Agentic Developer.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oversell — this room is already positive about AI; the pitch is "stop solving the same problem sixteen times." Land the vocabulary on card 3, once, and reuse it all day: a RULE is what the team agrees on; a DOCUMENT is where the rule lives (one document can hold many rules); a rule written down and agreed is a STANDARD — the same definition the distribution guide uses. Then land the ETH note: the point is not "AI cannot write docs", it is that a doc nobody thought about is negative value. Ask who has run /init and never read the output in chat, as a +1 — the +1s will come. Source link is in the handout.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sorting question — say it twice: WHO must obey this rule? Everyone everywhere → Collective. Everyone in this repo → Project. Only some files → Feature/path. All three example rules are real and in this repo right now; open CLAUDE.md line 72 if anyone doubts the secrets one. The footnote is the payoff: the secrets rule is mis-layered today, and the room can SEE it — that mismatch is why the sixth artifact (an org-wide home + how repos inherit from it) exists, and 2.b hands it to them to define. Today all their work is Project-layer.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middle column aloud, row by row — the questions do the teaching. The expansions (Architecture Decision Record, Non-Functional Requirement) get said out loud exactly once, here. Then the footnote, with this repo's pair as the example: the envelope rule is an NFR — every response uses it, checkable, a bare res.json() is a defect. adding-a-resource.md is a recipe — the recommended steps; you may add a resource differently and violate nothing, as long as the envelope rule still holds. Binding vs guiding is the line.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of the block — spend time here. Walk the same subject across all five rows, then land the one-word summary. If someone says "that is a lot of documents for one rule" — good: you would not write all five; you write the one that answers the question you actually have. EXPECT the pairing question ("does every NFR have an ADR?"): no, and no — they pair ONLY when one subject has both a contested decision AND a checkable standing rule, like this boundary. NFR-0001 has no ADR (hygiene, not a decision); a cloud-choice ADR would have no NFR (nothing to check per PR). When both exist they cross-reference, never duplicate: the NFR says "rationale: ADR-0002", the ADR says "enforced via NFR-0002". If the room wants a second worked pair, use the one on the takeaway card (enforcing-a-convention.md): "all backends must use SQLite" — ADR holds the decision, NFR holds the must + a CI dependency-scan check, and the word ALL makes it Collective-layer, which previews the sixth artifact. The CLAUDE.md row quotes the file verbatim on purpose — open it live if anyone doubts. 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all 30 cells. Two rows do the work: "carries a check" isolates the NFR — the only artifact obliged to say how compliance is verified, the bridge to 2.b — and "when it loads" separates the two context files from the three documents. Then read the footnote aloud: the quick test is the take-home, and one-home-per-fact is the failure mode that kills governance corpora. Recipes and rules files get no further slide — the handout covers them.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continuity first — this is NOT new: 1.a taught POINTER = LAZY vs @IMPORT = EAGER, and said "give a clear trigger — before X, read Y." The table is that one line as rows: situation -&gt; pointer. A lazy pointer WITHOUT a trigger is a link the agent may never follow; the trigger is the firing condition that makes lazy reliable. Then pre-empt the objection: they saw a 72-line CLAUDE.md in 1.a and will meet 500-line ones in the wild. Both are correct at their scale; the trigger table is what makes the difference. Phrase triggers as situations, not topics — the agent matches on what it is doing. The last bullet is the third rung, one sentence only: past a few dozen docs, per-repo copies drift and even the trigger table bloats — so the docs get ONE canonical home and consumers QUERY it (a search tool over the governance repo, or a small docs service the agent calls). The mature corpus we cite runs 137 docs that way. Do not teach the mechanics here — the distribution guide 2.b hands over covers them; it puts the crossover at roughly 20+ docs.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sell the heavy forms. The one nuance: your NFR today is deliberately mid-ladder — the handout gives the clause + "Checked by:" skeleton, which NFR-0001 predates. Fun fact for the room: a mature corpus we know contains an ADR recording its own choice of ADR format — the format itself is a decision.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Cite the finding as a finding: published field experience says teams stop writing ADRs because the operational questions were never answered. Ask which of these five triggers they could answer for their own repos today — usually none. Champions co-lead the standards work from here on and the EM reviews the output — name the confirmed co-leads here (see the engagement plan; do not name anyone in shared material), and make sure the room knows a review is coming.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the shape: the second prompt deliberately ends "leave Decision as a question for me to answer" — that clause is the difference between drafting and delegating. All five starters are in the handout's prompt table; these two are quoted from it verbatim.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incident-citing pattern is the most transferable thing in this block. Give the shape: "Rule: never X. Why: on &lt;date&gt; we did X and &lt;consequence&gt;." It is also the answer to the yes-man complaint from their interviews — rules with reasons survive pushback from a persuasive agent.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Transition, three beats: (1) the gap — a real rule with no recorded reason; (2) the demo, six steps, on screen so nobody gets lost; (3) what good looks like. Tell them what to watch for: where the evidence comes from, and the moment I stop Claude and write the Decision myself. Tell them now: you write yours immediately after, same subject, your own words. Invite questions DURING the demo — and expect the big one ("why write an ADR for a decision already made?"), which the next slide answers before anyone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actual directories, not the slide. Grep for imports of store.ts and show the boundary really holds. The "nothing checks it" line plants 2.b — don't explain it yet. COMMON QUESTIONS here — Q: "Who decided this, then?" A: whoever built the repo; the ADR records the reasoning that decision implies — and if we get it slightly wrong, a PR fixes a document, which beats the nothing we have now. Q: "Is a retroactive ADR cheating?" A: no — most real ADR practices START by back-filling the 3–5 decisions newcomers always ask about; the alternative is oral history. Q: "Why not just add a comment in the code?" A: comments explain a line; this decision spans four directories — it needs a home that isn't inside any one of them.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demo AGAINST this slide — point at the step number as you go, so anyone who looks away can rejoin. COMMON QUESTIONS — Q: "What filename/number?" A: next number in docs/adr/, kebab-case: 0002-repository-only-store-access.md; the number is an identity, never reused, even if an ADR is later superseded. Q: "What if Claude's evidence is wrong at step 3?" A: correct it in conversation and re-ask — and say out loud that this is why step 3 exists; a wrong Context poisons everything after it — and there IS a real catch planted in this repo: index.ts imports ensureDb from the store (boot, not data access), which Claude's tidy summary usually misses; the walkthrough doc works it. Tell the room the walkthrough exists so nobody transcribes the demo. Q: "How long should the ADR be?" A: template-length — Context 3–6 sentences, Decision ONE, a handful of consequences; if it sprawls you are writing documentation, not a decision. Q: "Can I just write it by hand, no Claude?" A: absolutely — the artifact is graded, not the tooling; the prompts exist because evidence-gathering across four directories is the part Claude is genuinely good at.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Narrate the wrong turns — if Claude writes a consequence that is really a benefit in disguise ("Bad: developers must learn the pattern" is really an upside wearing a frown), say so and fix it live. The honest cost is what makes an ADR credible; a document with only upsides is marketing. The shape matches the shipped template exactly: metadata bullet block, then THREE sections. COMMON QUESTIONS — Q: "What is the difference between Context and Decision content?" A: Context describes the situation and forces, no verbs of choosing; the Decision is one active-voice sentence; if your Context contains "we decided", move that sentence down. Q: "What counts as an honest cost?" A: something a real person could complain about on a real day — the extra hop for simple reads, one more file per resource; test: would a sceptic nod? Q: "What goes in Deciders for a training repo?" A: your name today; in real life, the people who MADE the call — which is rarely the person writing the record. Q: "Claude wrote a different Decision than yours." A: fine, if the substance matches; the wording must be yours — rewrite it in your own words as the test that you own it. 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This is the follow-along increment — everyone in the same state before the checkpoint. If anyone skipped the handout prep, now is when it bites: branch `feat/governance`, docs/labs pulled. Remote circulation: one chat nudge at ~5 min ("stuck on Context? Slack me"); the common stall is over-polishing Context. Ten minutes, hard stop. Fast finishers: point at the stretch — derive the store-boundary clause list early, or review a neighbour's draft Decision. COMMON QUESTIONS — Q: "Same subject as yours — is that not just copying?" A: the MOTION is the point: your prompts, your edit, your Decision sentence, your cost; next week the subject is one nobody has modelled. Q: "What if I disagree with the repository pattern?" A: perfect — record it anyway (Status: Accepted; it IS this repo's reality) and put your objection in Consequences as a cost; recording is not endorsing, and in real life your objection becomes a superseding ADR proposal. Q: "Commit now or at the end?" A: commit to feat/governance now — small commits, one PR at the end of the block. Q: "My ADR came out nearly identical to the demo." A: expected on a shared subject; the checkpoint checks the metadata block, three sections, and a real cost — not originality. ~11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Chat is the room-walk: Decision sentences land where you can read them, and a missing name is your signal (Slack them, not the whole call). If more than two people are stuck, the cause is usually prompt shape — show yours again. Fast finishers go to the stretch list (handout): the store-boundary clauses or a peer review.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Scaffolding drops here — from following along to deciding. Announce the mode change explicitly; it should not be discovered. Say what the next 40 minutes look like in one breath: read three fixes (4 min, silent) -&gt; in groups, turn four seed clauses into your rule (10 min, structured — the clock slide gives the shape) -&gt; we agree one list as a room (4 min) -&gt; each of you writes it up as YOUR OWN NFR (20 min). Nobody is graded on the discussion; everybody ships a document. Full teaching guide for this block — run sheet, scripts, expected-clause bank, recoveries: docs/instructor/lab-2a-derive-teachers-guide.md.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STIMULUS (settled 2026-08-12): all three are AUTHORED scenarios — nothing on screen is anyone's real diff, because the cohort's own 1.b PRs were all done properly. Say that as CREDIT, out loud: fix C is exactly what this room did. Then frame A and B as what happens on real teams on busy days — the situations are on the slide now. Give the two reading questions, then stop talking; the silence is deliberate. COMMON QUESTIONS — Q: "Are these real?" A: authored for this exercise; C mirrors your own PRs. Q: "How does B happen if nobody is careless?" A: one mechanism — the test was written AFTER the fix and never run against the broken code; variants: weak assertions, testing the mock, an agent characterizing already-fixed code. Recall 1.b's fixture trap (the Jan-2026 completed todo): a stats test written without completing a todo first passed regardless — this room brushed against a B two weeks ago. Landing line: A and B happen to careful people under pressure — that is why it needs a rule, not a scolding. BONUS BEAT (use in converge if energy is good, and this one IS true of the room): several 1.b fixes never became PRs at all — working code, invisible to review. What rule would catch a fix that never ships? ~4 min of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 this in ONE minute, then start the clock and circulate — the structure is the mitigation for a room that waits to be told. The catch-test ("which of A/B/C does this clause catch?") replaces a devil's-advocate role: it is self-administering, and any group that runs it honestly discovers that "ships with a test" does not catch B — which is the discovery the exercise exists for. COMMON QUESTIONS — Q: "What does mechanical mean, exactly?" A: a script, given ONLY the diff, could return pass/fail — if you need to know intent, it's fuzzy. Q: "Can a clause be conditional?" A: yes — "docs-only changes are exempt" is a fine clause, and note it: that exemption becomes a CI path filter next week. Q: "What if we all just agree?" A: run the catch-test out loud — which fix does each kept clause catch? If nothing on your list catches B, you are not done. Q: "Does wording matter?" A: substance now, wording when you write the NFR — the group list are raw material, not the document. ~1 min to present.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Ten minutes, tight — 1.b says this room waits to be told, so drive it: the FACILITATION LADDER, in order, per stalled group: (1) "Seed 2 — keep, tighten, or drop?" (2) "Fix B is green. Would seed 1 alone have caught it?" (3) "Which of your tags could a script actually decide — prove it: what does the script read?" Never state a clause yourself. Watch for the room deciding B is acceptable; that is the interesting case — do NOT tell them. Group B keeps faster tables on the second convention; its output feeds the merge. Point back at the clock slide when a group drifts. ~10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MANDATORY: state and write the agreed clauses before advancing — an unresolved discussion is worse than none. Run it as: each group reads its biggest disagreement first (that is why they picked one), THEN the lists. Card contents are illustrative; replace live with what the room produced. If they missed "failed first", ask: "B was green before the fix. Would your rule have caught it?" Apply the tiebreak out loud when groups conflict: the stricter clause wins unless someone can show it false-positives on real code in this repo. COMMON QUESTIONS — Q: "Who owns this agreed list?" A: the room does, as of now — it goes in everyone's NFR; a champion owns keeping it true after today. Q: "Group A and B derived different rules — which is THE standard?" A: both — test discipline and the store boundary are two NFRs; you write up your group's. Q: "Can we change the list later?" A: yes — NFRs revise in place; that is the lifecycle slide made real. ARTIFACT BEAT (30 sec, do not skip): ask "which artifact is this list?" and give ten seconds before answering — someone will say ADR, and that is the productive mistake: it FEELS like a decision, but the quick test says NFR (always-holds + checkable; present tense; revised in place). If adopting the rule ever becomes genuinely contested, THAT argument earns an ADR. And the know-how ("how do I write a failing test first?") is recipe material — a stretch, not today. One derivation, three artifact homes — the slide-6 skill, used on their own work. "The test failed first" is the clause that matters most, and no gate can decide it — that is the finding, and 2.b's opening problem.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and it is the hinge: written-unchecked, checked, half-checked all live in ONE file the room already trusts. The half-gate case is the stretch item — closing it is an ESLint rule away. This is Appendix C's logging-standards coverage: the convention exists; the class derives what checking it would mean.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is the point: AFTER the room commits, so it reads as comparison, not answer key. Sanitised — no client, product, or domain detail; if asked, "another engagement, and that is all I can say."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Circulate with one question per group: "how is that checked?" If they cannot answer, the clause is not finished. The skeleton on screen is also in the handout. Reserve the last five minutes for peer review — it is an acceptance criterion and the first thing skipped. COMMON QUESTIONS — Q: "We derived as a group — does everyone write the same NFR?" A: same clauses, YOUR document: your wording, your Checked-by lines, your marks; the peer review is what catches where wording changed the meaning. Q: "What filename?" A: docs/nfr/0002-test-discipline.md (group B: 0002-db-access-boundary.md) — next number, kebab-case, like the ADR. Q: "Do dropped clauses go in?" A: yes, one line each at the bottom with the drop decision and a name — a visibly-considered-and-dropped clause stops the same debate re-running next quarter. Q: "How formal is the wording?" A: NFR-0001's tone: plain sentences, numbered, no legalese — the Checked-by line is where the rigour lives. ~20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Ask one voice per group to unmute and read a fuzzy clause with its recorded decision — two minutes, and it makes the standard real. The common failure here: a "Checked by: code review" line on every clause — that is the human gate as a reflex, not a decision; push once: "could a script check THIS one?" Fast finishers: the half-gate stretch (write the ESLint clause) or the rules-file conversion.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two mechanisms out loud — trigger row vs binding line — and anchor both in 1.a: the trigger row is the lazy pointer they already know; the binding line is a deliberate eager load, kept to one sentence precisely because eager costs every session. The binding line is new vocabulary and it is graded. NFR-0001 has no binding line yet; they are setting the pattern. The smoke test takes 60 seconds: new session, ask the rule, watch whether it reads the doc or guesses. If it guesses, the trigger is phrased as a topic, not a situation — fixable in one edit. ~9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Do not skip this to buy build time — it is the review+capture close Format B requires. COPY THE CHAT BEFORE ENDING THE CALL — Meet deletes it, and the Decision sentences, the AGREED clause list, and the retro lines all feed the capture. INSTRUCTOR, within 24h: file the lab-capture entry (AI-Transformation-Playbook/04-labs/lab-capture-template.md) — what was built, stuck points, timings, refinements. This deck is the Format B pilot; the capture entry is how it gets validated.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through-line: last week a habit, this week a standard, next week a gate. The wrap checklist mirrors the handout acceptance criteria exactly — read it as one list, not highlights. ~1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39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Writing the Standards 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>
                <a:solidFill>
                  <a:srgbClr val="CCD9FF"/>
                </a:solidFill>
                <a:latin typeface="Arial"/>
              </a:rPr>
              <a:t>Lab 2.a — the governance documents an AI agent actually uses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A9B7F7"/>
                </a:solidFill>
                <a:latin typeface="Arial"/>
              </a:rPr>
              <a:t>FSL AI Training · Phase 1 · Week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Two hours, mostly hands-on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55064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6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04772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Why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623060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What shared standards buy you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29967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130551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18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080260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The five artifacts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098548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What each is — and how to tell them apart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505456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606040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2555748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How they get authored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574036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When one is required, who reviews, drafting with Claude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80944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081527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26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031236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Demo an ADR — then write yours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049524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The repository boundary, documented twice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456432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557016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44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3506724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Derive + write an NFR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525012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Judge three fixes from last week — your verdict becomes the team standard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931920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032504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16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3982211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Wire it in + review &amp; retro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000500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Trigger table, binding line, smoke test, reflect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Sixteen developers, sixteen private setups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assessment called this a Cultural Gap: engineers ahead of shared norms.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WHAT WORKS 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Individual practice is genuinely strong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Claude is productive on this repo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habits from 1.b landed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WHAT DOES NOT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None of it is shared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Every dev re-teaches Claude the same things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No way to tell if a rule is followed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WHAT TODAY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Habits become written rules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Rules get homes: documents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Written + agreed = a standard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And the evidence says authorship matters: an ETH Zurich study (Feb 2026) found LLM-generated context files LOWERED task success ~3% while raising cost 20%+; human-written improved it ~4%. /init-and-walk-away is worse than nothing.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Every rule has a reach — that reach is its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A rule is the agreement; a document is its home — one document can hold many rules. A rule's LAYER is its reach: who must obey it. That decides which document it belongs in, so the right people (and agents) inherit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089404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Who must obey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089404"/>
            <a:ext cx="2286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 real rule at this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89404"/>
            <a:ext cx="2103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So the document lives…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377440"/>
            <a:ext cx="1188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Collective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377440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Everyone, in every repo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377440"/>
            <a:ext cx="22860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"Never commit secrets"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377440"/>
            <a:ext cx="21031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In an org-wide home — which does not exist yet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761488"/>
            <a:ext cx="1188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2761488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Everyone in ONE repo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2761488"/>
            <a:ext cx="22860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"Responses only via the respond.ts envelope"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761488"/>
            <a:ext cx="21031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In this repo: CLAUDE.md, docs/adr, docs/nfr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145536"/>
            <a:ext cx="1188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Feature / path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3145536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Only work touching certain files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3145536"/>
            <a:ext cx="22860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"Server tests MUST use makeTestDb()"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145536"/>
            <a:ext cx="21031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In .claude/rules/testing.md — loads only on matching paths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602736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Spot the mismatch: "never commit secrets" binds every repo, but it lives in THIS repo's CLAUDE.md — a Collective-reach rule parked at Project layer, because no org-wide home exists. Building that home is the sixth artifact 2.b hands your team.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ARTIFACTS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Five types — and the question each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Two acronyms spelled out once, then never again. If you can name the question, you know which document you are writing.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4052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8248" y="2089404"/>
            <a:ext cx="34169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The question it answers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8096" y="2089404"/>
            <a:ext cx="26758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it 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40528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CLAUDE.md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8248" y="2377440"/>
            <a:ext cx="341696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What must the agent know before anything else?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28096" y="2377440"/>
            <a:ext cx="2675823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Always-loaded context + pointers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40528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ADR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8248" y="2761488"/>
            <a:ext cx="341696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WHY is it like this?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8096" y="2761488"/>
            <a:ext cx="2675823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Architecture Decision Record — one decision, with its cost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40528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NFR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28248" y="3145536"/>
            <a:ext cx="341696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What must always be TRUE — and how do we check?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28096" y="3145536"/>
            <a:ext cx="2675823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Non-Functional Requirement — a standing, testable rule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140528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Best-practice recipe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28248" y="3529584"/>
            <a:ext cx="341696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HOW do I do X here?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28096" y="3529584"/>
            <a:ext cx="2675823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worked procedure — "recipe" from here 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913631"/>
            <a:ext cx="140528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Rules file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28248" y="3913631"/>
            <a:ext cx="341696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What applies ONLY in these files?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28096" y="3913631"/>
            <a:ext cx="2675823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Path-scoped context (.claude/rules/)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The pair people conflate — NFR vs recipe: an NFR BINDS (what must be true, checkable; a deviation is a defect). A recipe GUIDES (the recommended route there; deviate freely, so long as the NFRs still hold).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DIFFERENTIATION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One subject, five artifacts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This repo has a real rule: only repositories/ may import db/store.ts. Here is what each artifact says about that same subject.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089404"/>
            <a:ext cx="6583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it says about the repository boundary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77440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CLAUDE.md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2377440"/>
            <a:ext cx="65836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real line, verbatim: "Don't: access db.json outside server/src/repositories/". Always loaded, no rationale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61488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ADR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761488"/>
            <a:ext cx="65836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Why a repository layer was chosen, what else was considered, what it costs. Written once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45536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NFR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3145536"/>
            <a:ext cx="65836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rule as a standing requirement — plus how compliance is checked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29584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Recipe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3529584"/>
            <a:ext cx="65836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docs/best-practices/adding-a-resource.md — the steps for adding a resource within that boundary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913631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Rules 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3913631"/>
            <a:ext cx="65836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Guidance that loads only when you are in the files it applies 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None of them is redundant. ADR = history. NFR = law. Recipe = procedure. CLAUDE.md = index. Rules file = context that arrives just in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DIFFERENTIATION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Telling them apart when it is unclear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69364"/>
            <a:ext cx="93202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4986" y="1769364"/>
            <a:ext cx="127134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9213" y="1769364"/>
            <a:ext cx="117439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Rules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6491" y="1769364"/>
            <a:ext cx="127134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ADR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20718" y="1769364"/>
            <a:ext cx="136829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NFR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1893" y="1769364"/>
            <a:ext cx="93202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Recipe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0253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057400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3135E"/>
                </a:solidFill>
                <a:latin typeface="Arial"/>
              </a:rPr>
              <a:t>Answers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4986" y="2057400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What to know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9213" y="2057400"/>
            <a:ext cx="117439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What applies 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6491" y="2057400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Why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20718" y="2057400"/>
            <a:ext cx="1368294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What must 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1893" y="2057400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How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38658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2441448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3135E"/>
                </a:solidFill>
                <a:latin typeface="Arial"/>
              </a:rPr>
              <a:t>Tense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54986" y="2441448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Present, standing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9213" y="2441448"/>
            <a:ext cx="117439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Present, scoped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6491" y="2441448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Past — a choice made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20718" y="2441448"/>
            <a:ext cx="1368294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Present — holds now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71893" y="2441448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Imperative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77063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825496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3135E"/>
                </a:solidFill>
                <a:latin typeface="Arial"/>
              </a:rPr>
              <a:t>Lifecycle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54986" y="2825496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Revised continuously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9213" y="2825496"/>
            <a:ext cx="117439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Revised in place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66491" y="2825496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Superseded, never edited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20718" y="2825496"/>
            <a:ext cx="1368294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Revised in place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71893" y="2825496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Updated freely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154679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3209544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3135E"/>
                </a:solidFill>
                <a:latin typeface="Arial"/>
              </a:rPr>
              <a:t>Carries a check?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54986" y="3209544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9213" y="3209544"/>
            <a:ext cx="117439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No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6491" y="3209544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20718" y="3209544"/>
            <a:ext cx="1368294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B7F4B"/>
                </a:solidFill>
                <a:latin typeface="Arial"/>
              </a:rPr>
              <a:t>YES — that is why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71893" y="3209544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No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3538727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3593591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3135E"/>
                </a:solidFill>
                <a:latin typeface="Arial"/>
              </a:rPr>
              <a:t>When it loads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54986" y="3593591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403FE8"/>
                </a:solidFill>
                <a:latin typeface="Arial"/>
              </a:rPr>
              <a:t>ALWAYS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9213" y="3593591"/>
            <a:ext cx="117439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On matching paths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66491" y="3593591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On demand, via a trigger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20718" y="3593591"/>
            <a:ext cx="1368294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On demand + binding 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71893" y="3593591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On demand, via a trigger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3922776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3977639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3135E"/>
                </a:solidFill>
                <a:latin typeface="Arial"/>
              </a:rPr>
              <a:t>Lose it and…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54986" y="3977639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The agent is unoriented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9213" y="3977639"/>
            <a:ext cx="117439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Guidance stops arriving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66491" y="3977639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You lose the why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20718" y="3977639"/>
            <a:ext cx="1368294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You lose the rule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71893" y="3977639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You lose the how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Quick test: one-time choice → ADR · always-holds + checkable → NFR · steps → recipe · every session → CLAUDE.md · some files → rules file. One home per fact: duplicates drift — hence CLAUDE.md holds a trigger table, not the docs' contents.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CLAUDE.MD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How big should it get?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scaling answer, because "keep it short" stops being useful advice at some point. The trigger table is Lab 1's lazy loading, systematized: pointer = the lazy load, trigger = when it fires.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HONEST ANSWER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Lab 1.a said 100–200 lines. Right — to start.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Past that, do not grow the file. Add a trigger row.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The table is the mechanism: always-loaded index, on-demand detail.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Dozens of docs later, copies drift: keep ONE home and let agents query it on demand.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CLAUDE.MD, THIS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## Reference docs — read on demand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| When you are…      | Read first    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| ------------------ | -----------------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| Changing response  | docs/adr/0001…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| shapes or codes    |               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| Calling an         | docs/nfr/0001…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| external API       |               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a trigger is a SITUATION,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not a topic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MATURITY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Start light — and know when to graduate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This repo ships the light forms. Today you write light ADRs — and an NFR that is already one rung up, because per-clause checks are the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089404"/>
            <a:ext cx="3108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ADR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089404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NFR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188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Start 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2377440"/>
            <a:ext cx="31089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Nygard: Context · Decision · Status · Consequences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377440"/>
            <a:ext cx="32004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Prose rule + one "how compliance is checked" section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188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Graduate 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2761488"/>
            <a:ext cx="31089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MADR: + Decision Drivers, Considered Options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761488"/>
            <a:ext cx="32004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Numbered MUSTs + per-clause checks + thresholds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188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Graduate when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3145536"/>
            <a:ext cx="31089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Consequences keep coming out thin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3145536"/>
            <a:ext cx="32004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rule starts being ignored — you want a gate, not a hope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602736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An NFR without a verification method is a wish with a document number.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AUTHORING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When is a document required — and who owns it?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reason ADR practices die is not the template — nobody wrote down the trigger, the reviewer, or where it lives.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289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Write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12040" y="2089404"/>
            <a:ext cx="364421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When…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39139" y="2089404"/>
            <a:ext cx="25647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Authored / reviewed by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2890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ADR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12040" y="2377440"/>
            <a:ext cx="364421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hard to reverse, contested, or a newcomer would ask "why is it like this?"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9139" y="2377440"/>
            <a:ext cx="25647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Anyone; peer PR review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2890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NFR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12040" y="2761488"/>
            <a:ext cx="364421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rule spans features AND you can say how it is checked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9139" y="2761488"/>
            <a:ext cx="25647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few author, many adopt; EM reviews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2890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Recipe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12040" y="3145536"/>
            <a:ext cx="364421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you have answered the same question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39139" y="3145536"/>
            <a:ext cx="25647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person who answered; peer review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12890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CLAUDE.md 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12040" y="3529584"/>
            <a:ext cx="364421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agent needs it every session — and it is one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39139" y="3529584"/>
            <a:ext cx="25647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Champion-gated: it costs every session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913631"/>
            <a:ext cx="12890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Rules file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12040" y="3913631"/>
            <a:ext cx="364421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it only applies when specific files are open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39139" y="3913631"/>
            <a:ext cx="25647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Same as a recipe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Peer review via PR is the acceptance gate today. An unreviewed standard is a draft. The "how we use these" README (2.b) exists to record exactly this table for your team.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AUTHORING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Drafting with Claude,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ETH finding again: generated context hurts, human-written helps. Draft, do not delegate.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DIVISION OF LABOUR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Claude drafts from EVIDENCE in the code.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You own the Decision and the Consequences.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Never ask it what the team should do.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Read the draft as someone who disagrees.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PROMPT STARTERS (2 OF 5 — CARD IN HANDOUT)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gather evidence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Read @server/src/repositories/ and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@server/src/services/todos.service.ts.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What boundary do these files enforce,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and what would break if it were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violated? Don't propose changes.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draft, but leave the decision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Using @docs/adr/template.md, draft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an ADR for that boundary. Fill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Context and Consequences from what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you just read. Leave Decision as a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question for me to answer.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Keeping them true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half of governance nobody plans for: what happens when the world moves.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Supersede, never edit, an accepted ADR. </a:t>
            </a:r>
            <a:r>
              <a:rPr sz="1250" b="0">
                <a:solidFill>
                  <a:srgbClr val="434343"/>
                </a:solidFill>
                <a:latin typeface="Arial"/>
              </a:rPr>
              <a:t>The old decision happened. Write a new one that replaces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Revise NFRs in place. </a:t>
            </a:r>
            <a:r>
              <a:rPr sz="1250" b="0">
                <a:solidFill>
                  <a:srgbClr val="434343"/>
                </a:solidFill>
                <a:latin typeface="Arial"/>
              </a:rPr>
              <a:t>They describe what holds now.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Every rule cites the incident that produced it. </a:t>
            </a:r>
            <a:r>
              <a:rPr sz="1250" b="0">
                <a:solidFill>
                  <a:srgbClr val="434343"/>
                </a:solidFill>
                <a:latin typeface="Arial"/>
              </a:rPr>
              <a:t>A "Why" naming a real failure survives staff turnover; "best practice" does not.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Review on a cadence, not on vibes. </a:t>
            </a:r>
            <a:r>
              <a:rPr sz="1250" b="0">
                <a:solidFill>
                  <a:srgbClr val="434343"/>
                </a:solidFill>
                <a:latin typeface="Arial"/>
              </a:rPr>
              <a:t>A date on the document, and a person against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39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148840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Demo — write an ADR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7180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CCD9FF"/>
                </a:solidFill>
                <a:latin typeface="Arial"/>
              </a:rPr>
              <a:t>The repository boundary. Watch the whole shape — then you write the same 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THE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A rule with no recorded reason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Real, load-bearing, and undocumented — the ADR trigger on all three counts.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404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 rule exists. </a:t>
            </a:r>
            <a:r>
              <a:rPr sz="1250" b="0">
                <a:solidFill>
                  <a:srgbClr val="434343"/>
                </a:solidFill>
                <a:latin typeface="Arial"/>
              </a:rPr>
              <a:t>CLAUDE.md says routes and services never import `db/store.ts`.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 code obeys it. </a:t>
            </a:r>
            <a:r>
              <a:rPr sz="1250" b="0">
                <a:solidFill>
                  <a:srgbClr val="434343"/>
                </a:solidFill>
                <a:latin typeface="Arial"/>
              </a:rPr>
              <a:t>Only `server/src/repositories/` touches the store.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Nothing says why. </a:t>
            </a:r>
            <a:r>
              <a:rPr sz="1250" b="0">
                <a:solidFill>
                  <a:srgbClr val="434343"/>
                </a:solidFill>
                <a:latin typeface="Arial"/>
              </a:rPr>
              <a:t>A newcomer sees a constraint with no rationale — so they route around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Nothing checks it. </a:t>
            </a:r>
            <a:r>
              <a:rPr sz="1250" b="0">
                <a:solidFill>
                  <a:srgbClr val="434343"/>
                </a:solidFill>
                <a:latin typeface="Arial"/>
              </a:rPr>
              <a:t>Which is next week's problem, and worth noticing now.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261104"/>
            <a:ext cx="41148" cy="402336"/>
          </a:xfrm>
          <a:prstGeom prst="rect">
            <a:avLst/>
          </a:prstGeom>
          <a:solidFill>
            <a:srgbClr val="A9B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261104"/>
            <a:ext cx="766267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"But the decision was already made — isn't an ADR written when you decide?" Recording is not deciding: a retroactive ADR captures the WHY before it evaporates with the people who knew it. Status: Accepted. Date: when recorded, not when decided.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THE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Six steps — follow along 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Steps 2 and 4 are Claude's; steps 3, 5, and 6 are yours — that split is the lesson. The full walkthrough, with prompts and example replies: docs/labs/lab-2a-demo-walkthrough.md.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089404"/>
            <a:ext cx="24688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I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089404"/>
            <a:ext cx="4754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you should see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2743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377440"/>
            <a:ext cx="24688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Create the file from the template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377440"/>
            <a:ext cx="47548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docs/adr/0002-repository-only-store-access.md — next number, kebab-case title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2743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761488"/>
            <a:ext cx="24688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Prompt 1 — gather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2761488"/>
            <a:ext cx="47548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Claude reads repositories/ + a service, reports the boundary. It READS; it does not decide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2743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145536"/>
            <a:ext cx="24688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Check its answer against the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3145536"/>
            <a:ext cx="47548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If Claude got the boundary wrong, correct it now — bad evidence makes a bad Context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2743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3529584"/>
            <a:ext cx="24688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Prompt 2 — draft, Decision left open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529584"/>
            <a:ext cx="47548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Context + Consequences filled from evidence; Decision returned as a question to 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913631"/>
            <a:ext cx="2743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3913631"/>
            <a:ext cx="24688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Edit Context; WRITE the Decision myself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39" y="3913631"/>
            <a:ext cx="47548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One sentence, present tense: "Only modules under repositories/ may import db/store.ts"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242816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297679"/>
            <a:ext cx="2743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4297679"/>
            <a:ext cx="24688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Add one honest cost, then stage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9039" y="4297679"/>
            <a:ext cx="47548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A consequence someone could complain about — then git add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THE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What good looks like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finished artifact. The interesting part is the Consequences section.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SPLIT THAT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Claude gathered the evidence. I edited it.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The Decision is ONE sentence, and it is mine.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Context has no verbs of choosing — it describes forces.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At least one consequence is genuinely a cost.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MATCHES DOCS/ADR/TEMPLATE.MD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# docs/adr/0002-repository-only-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#   store-access.md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- Status: Accepted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- Date: &lt;today&gt;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- Deciders: &lt;the team&gt;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## Context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&lt;from Claude, edited&gt;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## Decision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Only modules under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server/src/repositories/ may import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db/store.ts.  &lt;-- I wrote this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## Consequences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- Good: persistence is swappable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- Bad: one more hop for simple reads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Now write yours — same subject, your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clause list later is group work. Every document today is yours, in your copy.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Ten minutes, in your own copy. </a:t>
            </a:r>
            <a:r>
              <a:rPr sz="1250" b="0">
                <a:solidFill>
                  <a:srgbClr val="434343"/>
                </a:solidFill>
                <a:latin typeface="Arial"/>
              </a:rPr>
              <a:t>Same boundary, your own Context and Consequences. The motion is the point, not novelty.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Use the two prompts you just watched. </a:t>
            </a:r>
            <a:r>
              <a:rPr sz="1250" b="0">
                <a:solidFill>
                  <a:srgbClr val="434343"/>
                </a:solidFill>
                <a:latin typeface="Arial"/>
              </a:rPr>
              <a:t>Evidence first, then draft-with-the-decision-left-open. Both are in the handout.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Write the Decision yourself. </a:t>
            </a:r>
            <a:r>
              <a:rPr sz="1250" b="0">
                <a:solidFill>
                  <a:srgbClr val="434343"/>
                </a:solidFill>
                <a:latin typeface="Arial"/>
              </a:rPr>
              <a:t>One sentence. If it came out of Claude, rewrite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Find one honest cost. </a:t>
            </a:r>
            <a:r>
              <a:rPr sz="1250" b="0">
                <a:solidFill>
                  <a:srgbClr val="434343"/>
                </a:solidFill>
                <a:latin typeface="Arial"/>
              </a:rPr>
              <a:t>The acceptance bar has a cost in Consequences — "none" is not an answer.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Checkpoint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046720" cy="1417320"/>
          </a:xfrm>
          <a:prstGeom prst="rect">
            <a:avLst/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54864" cy="14173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74980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1B7F4B"/>
                </a:solidFill>
                <a:latin typeface="Arial"/>
              </a:rPr>
              <a:t>NOBODY ADVANCES UNTIL THIS IS TRUE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74980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3135E"/>
                </a:solidFill>
                <a:latin typeface="Arial"/>
              </a:rPr>
              <a:t>You have docs/adr/0002-*.md staged in YOUR copy: metadata block (Status / Date / Deciders) complete, all three sections — Context, Decision, Consequences — filled, and at least one real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434343"/>
                </a:solidFill>
                <a:latin typeface="Arial"/>
              </a:rPr>
              <a:t>Paste your Decision sentence into chat. If it came out of Claude rather than out of you, rewrite it first — that is the one part of an ADR that cannot be delegated.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39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148840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Your turn — derive a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7180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CCD9FF"/>
                </a:solidFill>
                <a:latin typeface="Arial"/>
              </a:rPr>
              <a:t>Three fixes on screen. You decide what the standard is — and it becomes your NFR.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STIMULUS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Three ways the same bug got fixed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Three fixes, authored for this exercise. All reviewed. All merged. All green. This is the raw material for the rule you are about to write.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089404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The situation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08940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CI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54864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377440"/>
            <a:ext cx="58521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Fixed under pressure and shipped. "Test to follow" — it never did.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377440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1B7F4B"/>
                </a:solidFill>
                <a:latin typeface="Arial"/>
              </a:rPr>
              <a:t>green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54864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2761488"/>
            <a:ext cx="58521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Fixed, then a test written afterwards. It passes — and it also passes on the UNfixed code.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2761488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1B7F4B"/>
                </a:solidFill>
                <a:latin typeface="Arial"/>
              </a:rPr>
              <a:t>green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54864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145536"/>
            <a:ext cx="58521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failing test written first; the fix made it pass. (This is what your own 1.b PRs did.)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3145536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1B7F4B"/>
                </a:solidFill>
                <a:latin typeface="Arial"/>
              </a:rPr>
              <a:t>green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602736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While you read, answer two questions per fix, silently: Would you merge it? And — what, exactly, convinces you the bug is actually fixed? Hold your answers.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DERIVE · THE CLOCK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Your ten minutes, structured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A good clause names an observable fact: "a change under server/src ships with a test in the same PR" is a clause. "Tests should be good" is a wish.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457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089404"/>
            <a:ext cx="33832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Do this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19" y="208940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45719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0–1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377440"/>
            <a:ext cx="33832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Pick who writes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19" y="2377440"/>
            <a:ext cx="36576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One list everyone can see — talk without writing leaves nothing to merge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45719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1–5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2761488"/>
            <a:ext cx="33832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Verdict each seed: keep, tighten, or drop. A clause earns KEEP only if you can name which of A / B / C it catches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19" y="2761488"/>
            <a:ext cx="36576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Four verdicts, each tagged MECHANICAL or FUZZY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45719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5–8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3145536"/>
            <a:ext cx="33832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Add your own clauses — what did the seeds miss?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19" y="3145536"/>
            <a:ext cx="36576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One or two more, tagged. More than 6 total means they're too small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45719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8–10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529584"/>
            <a:ext cx="33832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Pick your one biggest disagreement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19" y="3529584"/>
            <a:ext cx="36576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You'll say it out loud in the merge — disagreement is the interesting 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986783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The clause list is the only group output. Everything graded — the NFR you write next — is yours alone, in your own copy, through your own PR. (And: tighten = more checkable, not more strict.)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DERIVE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Which are acceptable? Write the rule.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Ten minutes, in groups, on the clock you just saw: verdict each seed (keep / tighten / drop), tag it, add your own. These clauses become the Rules section of your NFR.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33172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SEED CLAUSES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1. A fix ships with a test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2. The test failed before the fix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3. Test lives next to its module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4. Full suite green before the PR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33172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TAG EVERY CLAUSE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MECHANICAL — a script decides it from the diff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FUZZY — it needs a person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tag is the point. Do not skip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33172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TWO GROUPS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A: test discipline (these diffs)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B: the store boundary (imports of db/store.ts)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Same job: clauses, tagged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CONVERGE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Where we landed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Written down before anyone moves on. This is the agreed list, not my list.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MECHANICAL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 change under server/src ships with a test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test file is co-located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Full suite green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FUZZY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test failed first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test asserts behaviour, not implementation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assertion is meaningful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DECIDE 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Accepted risk?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Human gate?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Or dropped?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Which of the five artifacts is this list? Apply the quick test: must always hold, and you can say how it is checked → an NFR. It feels decision-ish — but it is present-tense law, revised in place. Tiebreak when groups conflict: the stricter clause wins unless someone shows it false-positives on real code here.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HINGE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Same file, three enforcement states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A rule with half a gate. Your NFR clauses will have the same three states — that is what the tag is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ONE CLAUDE.MD, THREE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Store boundary: written, NOTHING checks it.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console.log in server/src: lint FAILS it.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logger.info with a wrong first arg: passes SILENTLY.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Which of these is a standard? Why?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SERVER/SRC — TRY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// the rule (CLAUDE.md):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// logger.info('&lt;file-basename&gt;',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//   message, meta?)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console.log('created', id)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// -&gt; lint error. CAUGHT.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logger.info('creating a todo',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{ id })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// wrong first arg -&gt; passes.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// HALF a gate.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What a mature team wrote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A real NFR from a mature 137-document corpus — shown now that your list exists, not before.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5544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Section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39" y="2089404"/>
            <a:ext cx="6126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it contains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77440"/>
            <a:ext cx="15544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Classification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39" y="2377440"/>
            <a:ext cx="6126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Category, priority, and which external framework it traces 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61488"/>
            <a:ext cx="15544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Requirements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39" y="2761488"/>
            <a:ext cx="6126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Numbered MUST clauses — no prose, no hedging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45536"/>
            <a:ext cx="15544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Thresholds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39" y="3145536"/>
            <a:ext cx="6126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Target / Warning / Critical, so "compliant" is measurable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29584"/>
            <a:ext cx="15544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Verification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39" y="3529584"/>
            <a:ext cx="6126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Per clause: the exact test or check that proves 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913631"/>
            <a:ext cx="15544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Plan reference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39" y="3913631"/>
            <a:ext cx="6126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Which phase implements it, so it is not aspirational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What did you catch that they did not? Their form is heavier than you need today; the per-clause Verification is the part worth stealing.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WRITE IT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Turn the clauses into an NFR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Twenty minutes: your own doc, in your own copy, from the agreed clause list.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Copy NFR-0001's headings and tone —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then ADD the per-clause checks it predates.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Every clause: "Checked by: &lt;what&gt;".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Unenforceable ones get the marking convention →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Peer review is the last five minutes. Protected.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DOCS/NFR/0002-… (YOURS)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## The rules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1. A change under server/src ships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with a test in the same PR.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Checked by: CI diff check.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2. The test failed before the fix.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Checked by: — NOT MECHANICALLY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CHECKABLE — decision: human gate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(reviewer asks) — &lt;name&gt;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clause + check + mark + name.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an unmarked unenforceable clause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is the dangerous kind.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Checkpoint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046720" cy="1417320"/>
          </a:xfrm>
          <a:prstGeom prst="rect">
            <a:avLst/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54864" cy="14173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74980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1B7F4B"/>
                </a:solidFill>
                <a:latin typeface="Arial"/>
              </a:rPr>
              <a:t>NOBODY ADVANCES UNTIL THIS IS TRUE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74980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3135E"/>
                </a:solidFill>
                <a:latin typeface="Arial"/>
              </a:rPr>
              <a:t>Your NFR names how each clause is checked — and the ones that cannot be are marked, with a decision and a name.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434343"/>
                </a:solidFill>
                <a:latin typeface="Arial"/>
              </a:rPr>
              <a:t>Artifact check, not a state check: I am reading your document, not your test output. A clause with no check and no mark is the one thing that fails here.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WIRE IT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A document nothing points at is a document nobody reads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Claude included. This step is why the last two hours matter.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TWO KINDS OF WIRING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TRIGGER ROW per doc — fetches the full doc when the situation applies.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BINDING LINE for the NFR — one line, always in force, never fetched.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Same pair as 1.a: trigger row = the lazy pointer; binding line = a one-line EAGER load.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The doc is the law; the binding line is the sign on the wall.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Then smoke-test in a FRESH session.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CLAUDE.MD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| When you are…       | Read first  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| ------------------- | ---------------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| Changing the store  | docs/adr/0002…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| boundary            |             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| Fixing a bug or     | docs/nfr/0002…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| adding behaviour    |             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## Do / Don't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- Do: every change under server/src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ships with a test in the same PR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(NFR-0002)   &lt;-- the binding line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smoke test, fresh session: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"what is our rule about tests?"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REVIEW &amp; RETRO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Compare, reflect, capture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Five minutes that make the difference between an exercise and a practice.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Two volunteers, two NFRs. </a:t>
            </a:r>
            <a:r>
              <a:rPr sz="1250" b="0">
                <a:solidFill>
                  <a:srgbClr val="434343"/>
                </a:solidFill>
                <a:latin typeface="Arial"/>
              </a:rPr>
              <a:t>Same clause list, different documents — screen-share each: what did they choose to check, and what did they mark?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One retro question. </a:t>
            </a:r>
            <a:r>
              <a:rPr sz="1250" b="0">
                <a:solidFill>
                  <a:srgbClr val="434343"/>
                </a:solidFill>
                <a:latin typeface="Arial"/>
              </a:rPr>
              <a:t>What was hard, what was easy? One line each in chat, waterfall style.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Reflection note — now, not later. </a:t>
            </a:r>
            <a:r>
              <a:rPr sz="1250" b="0">
                <a:solidFill>
                  <a:srgbClr val="434343"/>
                </a:solidFill>
                <a:latin typeface="Arial"/>
              </a:rPr>
              <a:t>3–5 sentences in your PR description: what you learned, what surprised you, what you'd apply tomorrow. It is an acceptance criterion.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Unfinished work finishes async. </a:t>
            </a:r>
            <a:r>
              <a:rPr sz="1250" b="0">
                <a:solidFill>
                  <a:srgbClr val="434343"/>
                </a:solidFill>
                <a:latin typeface="Arial"/>
              </a:rPr>
              <a:t>Still required, still peer-reviewed — the list does not shrink because the clock ran out.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WRAP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Ship checklist, and what is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Questions &amp; support: #extra-duty-solutions-ai-training — your instructor and the Applied AI Engineer are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Ship checklist. </a:t>
            </a:r>
            <a:r>
              <a:rPr sz="1250" b="0">
                <a:solidFill>
                  <a:srgbClr val="434343"/>
                </a:solidFill>
                <a:latin typeface="Arial"/>
              </a:rPr>
              <a:t>ADR (cost included) · NFR (checks + marks) · wired into CLAUDE.md (trigger rows + binding line) · smoke-tested · PR-reviewed, CI green · reflection note in the PR.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Stretch, self-paced. </a:t>
            </a:r>
            <a:r>
              <a:rPr sz="1250" b="0">
                <a:solidFill>
                  <a:srgbClr val="434343"/>
                </a:solidFill>
                <a:latin typeface="Arial"/>
              </a:rPr>
              <a:t>Store-boundary clauses · the half-gate ESLint clause · a rules-file conversion · a head start on the "how we use these" README.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Everything is in the handout. </a:t>
            </a:r>
            <a:r>
              <a:rPr sz="1250" b="0">
                <a:solidFill>
                  <a:srgbClr val="434343"/>
                </a:solidFill>
                <a:latin typeface="Arial"/>
              </a:rPr>
              <a:t>All five prompt starters, the stuck-points table, the skeletons.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Next week: teeth. </a:t>
            </a:r>
            <a:r>
              <a:rPr sz="1250" b="0">
                <a:solidFill>
                  <a:srgbClr val="434343"/>
                </a:solidFill>
                <a:latin typeface="Arial"/>
              </a:rPr>
              <a:t>Your clause becomes a hook and a CI gate — and the marked clauses get their reckoning.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