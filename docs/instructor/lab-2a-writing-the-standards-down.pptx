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Lab 2.a. Two hours, mostly hands-on. The challenge in one breath: this repo has a real, load-bearing rule that nothing explains and nothing checks — you will document the why as an ADR, derive a rule from last week's real fixes and write it as an NFR, and wire both into CLAUDE.md so Claude actually reads them.</a:t>
            </a:r>
          </a:p>
          <a:p/>
          <a:p>
            <a:r>
              <a:t>~1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The blocks sum to 120 — keep yourself honest on them. No setup block: everyone arrives ready per the handout (branch created, docs/labs pulled, npm test green) — verify in chat ("type READY if npm test is green on your branch"), and route any exception to Slack during the Why slide rather than stopping the call. Set expectations: this block is less typing than 1.b and more deciding. Two unusual asks today: read code cold and write a rule from it, and mark which parts of your own rule a machine could not check. Also say once: how you're assessed is on the handout — same five-dimension rubric as Lab 1, counts toward Agentic Developer.</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 this room is already positive about AI; the pitch is "stop solving the same problem sixteen times." Land the vocabulary on card 3, once, and reuse it all day: a RULE is what the team agrees on; a DOCUMENT is where the rule lives (one document can hold many rules); a rule written down and agreed is a STANDARD — the same definition the distribution guide uses. Then land the ETH note: the point is not "AI cannot write docs", it is that a doc nobody thought about is negative value. Ask who has run /init and never read the output in chat, as a +1 — the +1s will come. Source link is in the handout.</a:t>
            </a:r>
          </a:p>
          <a:p/>
          <a:p>
            <a:r>
              <a:t>~3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sorting question — say it twice: WHO must obey this rule? Everyone everywhere → Collective. Everyone in this repo → Project. Only some files → Feature/path. All three example rules are real and in this repo right now; open CLAUDE.md line 72 if anyone doubts the secrets one. The footnote is the payoff: the secrets rule is mis-layered today, and the room can SEE it — that mismatch is why the sixth artifact (an org-wide home + how repos inherit from it) exists, and 2.b hands it to them to define. Today all their work is Project-layer.</a:t>
            </a:r>
          </a:p>
          <a:p/>
          <a:p>
            <a:r>
              <a:t>~3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middle column aloud, row by row — the questions do the teaching. The expansions (Architecture Decision Record, Non-Functional Requirement) get said out loud exactly once, here. Then the footnote, with this repo's pair as the example: the envelope rule is an NFR — every response uses it, checkable, a bare res.json() is a defect. adding-a-resource.md is a recipe — the recommended steps; you may add a resource differently and violate nothing, as long as the envelope rule still holds. Binding vs guiding is the line.</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of the block — spend time here. Walk the same subject across all five rows, then land the one-word summary. If someone says "that is a lot of documents for one rule" — good: you would not write all five; you write the one that answers the question you actually have. EXPECT the pairing question ("does every NFR have an ADR?"): no, and no — they pair ONLY when one subject has both a contested decision AND a checkable standing rule, like this boundary. NFR-0001 has no ADR (hygiene, not a decision); a cloud-choice ADR would have no NFR (nothing to check per PR). When both exist they cross-reference, never duplicate: the NFR says "rationale: ADR-0002", the ADR says "enforced via NFR-0002". If the room wants a second worked pair, use the one on the takeaway card (enforcing-a-convention.md): "all backends must use SQLite" — ADR holds the decision, NFR holds the must + a CI dependency-scan check, and the word ALL makes it Collective-layer, which previews the sixth artifact. The CLAUDE.md row quotes the file verbatim on purpose — open it live if anyone doubts.</a:t>
            </a:r>
          </a:p>
          <a:p/>
          <a:p>
            <a:r>
              <a:t>~5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all 30 cells. Two rows do the work: "carries a check" isolates the NFR — the only artifact obliged to say how compliance is verified, the bridge to 2.b — and "when it loads" separates the two context files from the three documents. Then read the footnote aloud: the quick test is the take-home, and one-home-per-fact is the failure mode that kills governance corpora. Recipes and rules files get no further slide — the handout covers them.</a:t>
            </a:r>
          </a:p>
          <a:p/>
          <a:p>
            <a:r>
              <a:t>~4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continuity first — this is NOT new: 1.a taught POINTER = LAZY vs @IMPORT = EAGER, and said "give a clear trigger — before X, read Y." The table is that one line as rows: situation -&gt; pointer. A lazy pointer WITHOUT a trigger is a link the agent may never follow; the trigger is the firing condition that makes lazy reliable. Then pre-empt the objection: they saw a 72-line CLAUDE.md in 1.a and will meet 500-line ones in the wild. Both are correct at their scale; the trigger table is what makes the difference. Phrase triggers as situations, not topics — the agent matches on what it is doing. The last bullet is the third rung, one sentence only: past a few dozen docs, per-repo copies drift and even the trigger table bloats — so the docs get ONE canonical home and consumers QUERY it (a search tool over the governance repo, or a small docs service the agent calls). The mature corpus we cite runs 137 docs that way. Do not teach the mechanics here — the distribution guide 2.b hands over covers them; it puts the crossover at roughly 20+ docs.</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sell the heavy forms. The one nuance: your NFR today is deliberately mid-ladder — the handout gives the clause + "Checked by:" skeleton, which NFR-0001 predates. Fun fact for the room: a mature corpus we know contains an ADR recording its own choice of ADR format — the format itself is a decision.</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Cite the finding as a finding: published field experience says teams stop writing ADRs because the operational questions were never answered. Ask which of these five triggers they could answer for their own repos today — usually none. Champions co-lead the standards work from here on and the EM reviews the output — name the confirmed co-leads here (see the engagement plan; do not name anyone in shared material), and make sure the room knows a review is coming.</a:t>
            </a:r>
          </a:p>
          <a:p/>
          <a:p>
            <a:r>
              <a:t>~4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shape: the second prompt deliberately ends "leave Decision as a question for me to answer" — that clause is the difference between drafting and delegating. All five starters are in the handout's prompt table; these two are quoted from it verbatim.</a:t>
            </a:r>
          </a:p>
          <a:p/>
          <a:p>
            <a:r>
              <a:t>~4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incident-citing pattern is the most transferable thing in this block. Give the shape: "Rule: never X. Why: on &lt;date&gt; we did X and &lt;consequence&gt;." It is also the answer to the yes-man complaint from their interviews — rules with reasons survive pushback from a persuasive agent.</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three beats: (1) the gap — a real rule with no recorded reason; (2) the demo, six steps, on screen so nobody gets lost; (3) what good looks like. Tell them what to watch for: where the evidence comes from, and the moment I stop Claude and write the Decision myself. Tell them now: you write yours immediately after, same subject, your own words. Invite questions DURING the demo — and expect the big one ("why write an ADR for a decision already made?"), which the next slide answers before anyone asks.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actual directories, not the slide. Grep for imports of store.ts and show the boundary really holds. The "nothing checks it" line plants 2.b — don't explain it yet.</a:t>
            </a:r>
          </a:p>
          <a:p/>
          <a:p>
            <a:r>
              <a:t>COMMON QUESTIONS here —</a:t>
            </a:r>
          </a:p>
          <a:p/>
          <a:p>
            <a:r>
              <a:t>Q: "Who decided this, then?"</a:t>
            </a:r>
          </a:p>
          <a:p>
            <a:r>
              <a:t>A: whoever built the repo; the ADR records the reasoning that decision implies — and if we get it slightly wrong, a PR fixes a document, which beats the nothing we have now.</a:t>
            </a:r>
          </a:p>
          <a:p/>
          <a:p>
            <a:r>
              <a:t>Q: "Is a retroactive ADR cheating?"</a:t>
            </a:r>
          </a:p>
          <a:p>
            <a:r>
              <a:t>A: no — most real ADR practices START by back-filling the 3–5 decisions newcomers always ask about; the alternative is oral history.</a:t>
            </a:r>
          </a:p>
          <a:p/>
          <a:p>
            <a:r>
              <a:t>Q: "Why not just add a comment in the code?"</a:t>
            </a:r>
          </a:p>
          <a:p>
            <a:r>
              <a:t>A: comments explain a line; this decision spans four directories — it needs a home that isn't inside any one of them.</a:t>
            </a:r>
          </a:p>
          <a:p/>
          <a:p>
            <a:r>
              <a:t>~3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demo AGAINST this slide — point at the step number as you go, so anyone who looks away can rejoin.</a:t>
            </a:r>
          </a:p>
          <a:p/>
          <a:p>
            <a:r>
              <a:t>COMMON QUESTIONS</a:t>
            </a:r>
          </a:p>
          <a:p/>
          <a:p>
            <a:r>
              <a:t>Q: "What filename/number?"</a:t>
            </a:r>
          </a:p>
          <a:p>
            <a:r>
              <a:t>A: next number in docs/adr/, kebab-case: 0002-repository-only-store-access.md; the number is an identity, never reused, even if an ADR is later superseded.</a:t>
            </a:r>
          </a:p>
          <a:p/>
          <a:p>
            <a:r>
              <a:t>Q: "What if Claude's evidence is wrong at step 3?"</a:t>
            </a:r>
          </a:p>
          <a:p>
            <a:r>
              <a:t>A: correct it in conversation and re-ask — and say out loud that this is why step 3 exists; a wrong Context poisons everything after it — and there IS a real catch planted in this repo: index.ts imports ensureDb from the store (boot, not data access), which Claude's tidy summary usually misses; the walkthrough doc works it. Tell the room the walkthrough exists so nobody transcribes the demo.</a:t>
            </a:r>
          </a:p>
          <a:p/>
          <a:p>
            <a:r>
              <a:t>Q: "How long should the ADR be?"</a:t>
            </a:r>
          </a:p>
          <a:p>
            <a:r>
              <a:t>A: template-length — Context 3–6 sentences, Decision ONE, a handful of consequences; if it sprawls you are writing documentation, not a decision.</a:t>
            </a:r>
          </a:p>
          <a:p/>
          <a:p>
            <a:r>
              <a:t>Q: "Can I just write it by hand, no Claude?"</a:t>
            </a:r>
          </a:p>
          <a:p>
            <a:r>
              <a:t>A: absolutely — the artifact is graded, not the tooling; the prompts exist because evidence-gathering across four directories is the part Claude is genuinely good at.</a:t>
            </a:r>
          </a:p>
          <a:p/>
          <a:p>
            <a:r>
              <a:t>~4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Narrate the wrong turns — if Claude writes a consequence that is really a benefit in disguise ("Bad: developers must learn the pattern" is really an upside wearing a frown), say so and fix it live. The honest cost is what makes an ADR credible; a document with only upsides is marketing. The shape matches the shipped template exactly: metadata bullet block, then THREE sections.</a:t>
            </a:r>
          </a:p>
          <a:p/>
          <a:p>
            <a:r>
              <a:t>COMMON QUESTIONS</a:t>
            </a:r>
          </a:p>
          <a:p/>
          <a:p>
            <a:r>
              <a:t>Q: "What is the difference between Context and Decision content?"</a:t>
            </a:r>
          </a:p>
          <a:p>
            <a:r>
              <a:t>A: Context describes the situation and forces, no verbs of choosing; the Decision is one active-voice sentence; if your Context contains "we decided", move that sentence down.</a:t>
            </a:r>
          </a:p>
          <a:p/>
          <a:p>
            <a:r>
              <a:t>Q: "What counts as an honest cost?"</a:t>
            </a:r>
          </a:p>
          <a:p>
            <a:r>
              <a:t>A: something a real person could complain about on a real day — the extra hop for simple reads, one more file per resource; test: would a sceptic nod?</a:t>
            </a:r>
          </a:p>
          <a:p/>
          <a:p>
            <a:r>
              <a:t>Q: "What goes in Deciders for a training repo?"</a:t>
            </a:r>
          </a:p>
          <a:p>
            <a:r>
              <a:t>A: your name today; in real life, the people who MADE the call — which is rarely the person writing the record.</a:t>
            </a:r>
          </a:p>
          <a:p/>
          <a:p>
            <a:r>
              <a:t>Q: "Claude wrote a different Decision than yours."</a:t>
            </a:r>
          </a:p>
          <a:p>
            <a:r>
              <a:t>A: fine, if the substance matches; the wording must be yours — rewrite it in your own words as the test that you own it.</a:t>
            </a:r>
          </a:p>
          <a:p/>
          <a:p>
            <a:r>
              <a:t>~5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This is the follow-along increment — everyone in the same state before the checkpoint. If anyone skipped the handout prep, now is when it bites: branch `feat/governance`, docs/labs pulled. Remote circulation: one chat nudge at ~5 min ("stuck on Context? Slack me"); the common stall is over-polishing Context. Ten minutes, hard stop. Fast finishers: point at the stretch — derive the store-boundary clause list early, or swap draft Decisions with another fast finisher over Slack.</a:t>
            </a:r>
          </a:p>
          <a:p/>
          <a:p>
            <a:r>
              <a:t>COMMON QUESTIONS</a:t>
            </a:r>
          </a:p>
          <a:p/>
          <a:p>
            <a:r>
              <a:t>Q: "Same subject as yours — is that not just copying?"</a:t>
            </a:r>
          </a:p>
          <a:p>
            <a:r>
              <a:t>A: the MOTION is the point: your prompts, your edit, your Decision sentence, your cost; next week the subject is one nobody has modelled.</a:t>
            </a:r>
          </a:p>
          <a:p/>
          <a:p>
            <a:r>
              <a:t>Q: "What if I disagree with the repository pattern?"</a:t>
            </a:r>
          </a:p>
          <a:p>
            <a:r>
              <a:t>A: perfect — record it anyway (Status: Accepted; it IS this repo's reality) and put your objection in Consequences as a cost; recording is not endorsing, and in real life your objection becomes a superseding ADR proposal.</a:t>
            </a:r>
          </a:p>
          <a:p/>
          <a:p>
            <a:r>
              <a:t>Q: "Commit now or at the end?"</a:t>
            </a:r>
          </a:p>
          <a:p>
            <a:r>
              <a:t>A: commit to feat/governance now — small commits, one PR at the end of the block.</a:t>
            </a:r>
          </a:p>
          <a:p/>
          <a:p>
            <a:r>
              <a:t>Q: "My ADR came out nearly identical to the demo."</a:t>
            </a:r>
          </a:p>
          <a:p>
            <a:r>
              <a:t>A: expected on a shared subject; the checkpoint checks the metadata block, three sections, and a real cost — not originality.</a:t>
            </a:r>
          </a:p>
          <a:p/>
          <a:p>
            <a:r>
              <a:t>~11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Chat is the room-walk: Decision sentences land where you can read them, and a missing name is your signal (Slack them, not the whole call). If more than two people are stuck, the cause is usually prompt shape — show yours again. Fast finishers go to the stretch list (handout): the store-boundary clauses or a peer review.</a:t>
            </a:r>
          </a:p>
          <a:p/>
          <a:p>
            <a:r>
              <a:t>~3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Scaffolding drops here — from following along to deciding. Announce the mode change explicitly; it should not be discovered. Say what the next 40 minutes look like in one breath: read three fixes (4 min, silent) -&gt; ON YOUR OWN, turn four seed clauses into your rule (10 min, structured — the clock slide gives the shape) -&gt; we compare lists and agree one as a class (4 min) -&gt; each of you writes it up as YOUR OWN NFR (20 min). Individual by design — this course must also work self-guided; the class compare is calibration, not committee work. Full teaching guide for this block — run sheet, scripts, expected-clause bank, recoveries: docs/instructor/lab-2a-derive-teachers-guide.md.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STIMULUS (settled 2026-08-12): all three are AUTHORED scenarios — nothing on screen is anyone's real diff, because the cohort's own 1.b PRs were all done properly. Say that as CREDIT, out loud: fix C is exactly what this room did. Then frame A and B as what happens on real teams on busy days — the situations are on the slide now. Give the two reading questions, then stop talking; the silence is deliberate.</a:t>
            </a:r>
          </a:p>
          <a:p/>
          <a:p>
            <a:r>
              <a:t>COMMON QUESTIONS</a:t>
            </a:r>
          </a:p>
          <a:p/>
          <a:p>
            <a:r>
              <a:t>Q: "Are these real?"</a:t>
            </a:r>
          </a:p>
          <a:p>
            <a:r>
              <a:t>A: authored for this exercise; C mirrors your own PRs.</a:t>
            </a:r>
          </a:p>
          <a:p/>
          <a:p>
            <a:r>
              <a:t>Q: "How does B happen if nobody is careless?"</a:t>
            </a:r>
          </a:p>
          <a:p>
            <a:r>
              <a:t>A: one mechanism — the test was written AFTER the fix and never run against the broken code; variants: weak assertions, testing the mock, an agent characterizing already-fixed code. Recall 1.b's fixture trap (the Jan-2026 completed todo): a stats test written without completing a todo first passed regardless — this room brushed against a B two weeks ago.</a:t>
            </a:r>
          </a:p>
          <a:p/>
          <a:p>
            <a:r>
              <a:t>Landing line: A and B happen to careful people under pressure — that is why it needs a rule, not a scolding.</a:t>
            </a:r>
          </a:p>
          <a:p/>
          <a:p>
            <a:r>
              <a:t>BONUS BEAT (use in converge if energy is good, and this one IS true of the room): several 1.b fixes never became PRs at all — working code, invisible to review. What rule would catch a fix that never ships?</a:t>
            </a:r>
          </a:p>
          <a:p/>
          <a:p>
            <a:r>
              <a:t>~4 min of reading.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in ONE minute, then start the clock and watch the Doc, not faces — the structure is the mitigation for a cohort that waits to be told — and the INDIVIDUAL shape is deliberate: this course must survive becoming self-guided, and independent verdicts beat one early consensus. The catch-test ("which of A/B/C does this clause catch?") is self-administering: anyone who runs it honestly discovers that "ships with a test" does not catch B — the discovery the exercise exists for.</a:t>
            </a:r>
          </a:p>
          <a:p/>
          <a:p>
            <a:r>
              <a:t>COMMON QUESTIONS</a:t>
            </a:r>
          </a:p>
          <a:p/>
          <a:p>
            <a:r>
              <a:t>Q: "What does mechanical mean, exactly?"</a:t>
            </a:r>
          </a:p>
          <a:p>
            <a:r>
              <a:t>A: a script, given ONLY the diff, could return pass/fail — if you need to know intent, it's fuzzy.</a:t>
            </a:r>
          </a:p>
          <a:p/>
          <a:p>
            <a:r>
              <a:t>Q: "Can a clause be conditional?"</a:t>
            </a:r>
          </a:p>
          <a:p>
            <a:r>
              <a:t>A: yes — "docs-only changes are exempt" is a fine clause, and note it: that exemption becomes a CI path filter next week.</a:t>
            </a:r>
          </a:p>
          <a:p/>
          <a:p>
            <a:r>
              <a:t>Q: "What if we all just agree?"</a:t>
            </a:r>
          </a:p>
          <a:p>
            <a:r>
              <a:t>A: run the catch-test out loud — which fix does each kept clause catch? If nothing on your list catches B, you are not done.</a:t>
            </a:r>
          </a:p>
          <a:p/>
          <a:p>
            <a:r>
              <a:t>Q: "Does wording matter?"</a:t>
            </a:r>
          </a:p>
          <a:p>
            <a:r>
              <a:t>A: substance now, wording when you write the NFR — the lists in the Doc are raw material, not the document.</a:t>
            </a:r>
          </a:p>
          <a:p/>
          <a:p>
            <a:r>
              <a:t>~1 min to present.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Ten minutes, silent, individual — mics muted, monitor the Doc as lists appear. 1.b says this cohort waits to be told, so the ladder is delivered as TIMED CHAT NUDGES to everyone, not as visits: at ~3 min, "Seed 2 — keep, tighten, or drop?"; at ~6, "Fix B is green. Would seed 1 alone have caught it?"; at ~8, "Which of your tags could a script actually decide?" Never state a clause. Individuals stuck beyond the nudges get a Slack ping, not a call-out. Watch the Doc for lists where B passes — the interesting case; do NOT flag it yet. Fast finishers: the store boundary, same method, as stretch.</a:t>
            </a:r>
          </a:p>
          <a:p/>
          <a:p>
            <a:r>
              <a:t>~10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MANDATORY: state and write the agreed clauses before advancing — an unresolved compare is worse than none. Run it as: share the Doc on screen, name the clauses MOST lists agree on (those enter AGREED fast), then ask two or three people to unmute and read their LEAST-SURE clause (that is why they marked one) — divergence is where the standard gets made. Card contents are illustrative; replace live with what the room produced. If they missed "failed first", ask: "B was green before the fix. Would your rule have caught it?" Apply the tiebreak on mic when lists conflict: the stricter clause wins unless someone can show it false-positives on real code in this repo.</a:t>
            </a:r>
          </a:p>
          <a:p/>
          <a:p>
            <a:r>
              <a:t>COMMON QUESTIONS</a:t>
            </a:r>
          </a:p>
          <a:p/>
          <a:p>
            <a:r>
              <a:t>Q: "Who owns this agreed list?"</a:t>
            </a:r>
          </a:p>
          <a:p>
            <a:r>
              <a:t>A: the class does, as of now — it goes in everyone's NFR; a champion owns keeping it true after today.</a:t>
            </a:r>
          </a:p>
          <a:p/>
          <a:p>
            <a:r>
              <a:t>Q: "My list disagrees with AGREED — do I write mine or ours?"</a:t>
            </a:r>
          </a:p>
          <a:p>
            <a:r>
              <a:t>A: ours — AGREED is the standard; record your dissent as a dropped clause with a reason, which is exactly how disagreement with a live standard works on a real team.</a:t>
            </a:r>
          </a:p>
          <a:p/>
          <a:p>
            <a:r>
              <a:t>Q: "Can we change the list later?"</a:t>
            </a:r>
          </a:p>
          <a:p>
            <a:r>
              <a:t>A: yes — NFRs revise in place; that is the lifecycle slide made real.</a:t>
            </a:r>
          </a:p>
          <a:p/>
          <a:p>
            <a:r>
              <a:t>ARTIFACT BEAT (30 sec, do not skip): ask "which artifact is this list?" and give ten seconds before answering — someone will say ADR, and that is the productive mistake: it FEELS like a decision, but the quick test says NFR (always-holds + checkable; present tense; revised in place). If adopting the rule ever becomes genuinely contested, THAT argument earns an ADR. And the know-how ("how do I write a failing test first?") is recipe material — a stretch, not today. One derivation, three artifact homes — the slide-6 skill, used on their own work. "The test failed first" is the clause that matters most, and no gate can decide it — that is the finding, and 2.b's opening problem.</a:t>
            </a:r>
          </a:p>
          <a:p/>
          <a:p>
            <a:r>
              <a:t>~3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OF THIS SLIDE, in one sentence: prove that the MECHANICAL/FUZZY tag they just put on their own clauses is not homework bookkeeping — it is a property every written rule already has, demonstrated in a file they already trust. Same CLAUDE.md, three rules, three enforcement states: the store boundary is WRITTEN and nothing checks it (their morning ADR subject — a rule can be documented and still be only a promise); console.log is CHECKED (lint fails it — the only one of the three that is actually a gate); logger.info with a wrong first arg is HALF-CHECKED — it looks enforced, passes silently, and that false confidence makes the half-gate the most dangerous state of the three, worse than unchecked because nobody is watching a rule they believe a machine watches. The three states are NAMED on the slide — walk them top to bottom, then land the last bullet as the bridge to the write-up: the Checked-by line is where each clause's state gets RECORDED, and 2.b is where the unchecked ones get teeth. If you want a discussion beat, ask "so which of these is a standard?" and answer it: all three (written + agreed) — what differs is only how much of each is backed by a check.</a:t>
            </a:r>
          </a:p>
          <a:p/>
          <a:p>
            <a:r>
              <a:t>FACT-CHECKED against the repo 2026-08-13: the shown call keeps the signature (scope, message, meta) typed correctly, so tsc passes it AND eslint passes it — only the CONVENTION (scope = file basename) is violated, and nothing checks that. Say the strengthened version out loud: TWO machine checkers watch this exact line, and the rule still slips through, because neither was aimed at it. This slide is a taught exhibit, NOT an exercise — do not invite a live paste-test.</a:t>
            </a:r>
          </a:p>
          <a:p/>
          <a:p>
            <a:r>
              <a:t>COMMON QUESTIONS</a:t>
            </a:r>
          </a:p>
          <a:p/>
          <a:p>
            <a:r>
              <a:t>Q: "I tried a wrong first arg and the editor DID flag it"</a:t>
            </a:r>
          </a:p>
          <a:p>
            <a:r>
              <a:t>A: almost certainly the TYPE checker, because the pasted call dropped the message argument — a shape error, not the convention; keep all three args typed right and every checker goes quiet. And that near-miss IS the lesson: an error NEAR a rule reads as enforcement of the rule, which is how half-gates stay invisible.</a:t>
            </a:r>
          </a:p>
          <a:p/>
          <a:p>
            <a:r>
              <a:t>Q: "What is meta?"</a:t>
            </a:r>
          </a:p>
          <a:p>
            <a:r>
              <a:t>A: the optional third argument — a plain object of structured context (Record&lt;string, unknown&gt;) that the logger JSON-stringifies onto the log line; the ? means optional, borrowed from TypeScript.</a:t>
            </a:r>
          </a:p>
          <a:p/>
          <a:p>
            <a:r>
              <a:t>VALID (all pass tsc): logger.info('todos.service', 'created', { id }) — object literal in the third slot; logger.info('http', 'GET /api/todos 200', { durationMs }) — the live call in requestLogger.ts; logger.info('index', 'server started') — meta omitted entirely, that is what optional means.</a:t>
            </a:r>
          </a:p>
          <a:p/>
          <a:p>
            <a:r>
              <a:t>INVALID (each verified against tsc 2026-08-13): logger.info('todos.service', { id }) — only two args, so the object sits in the MESSAGE slot, which must be a string (the classic mistake); logger.info('todos.service', 'created', 'id=' + id) — meta must be an object, never a pre-formatted string: put values IN the object; logger.info('todos.service', 'created', id) — a bare value is not a Record: wrap it as { id }.</a:t>
            </a:r>
          </a:p>
          <a:p/>
          <a:p>
            <a:r>
              <a:t>Rule of thumb: two strings, then one object or nothing.</a:t>
            </a:r>
          </a:p>
          <a:p/>
          <a:p>
            <a:r>
              <a:t>Q: "Isn't the scope convention FUZZY, then — nothing checks it?"</a:t>
            </a:r>
          </a:p>
          <a:p>
            <a:r>
              <a:t>A: no — unchecked and UNCHECKABLE are different facts. CAN a machine check it? Yes: the linter always knows which file it is in, so a rule comparing the first-arg literal to the file basename is a dumb string comparison — MECHANICAL. DOES anything check it today? No — nobody wrote that rule. Checkable-but-unchecked is exactly what a half-gate is. Contrast: "the test failed before the fix" is UNCHECKABLE from the code — that one is fuzzy. (Full honesty for a sharp room: a variable first arg defeats the literal comparison, so strictly the clause is PARTLY — 2.b names that tier.)</a:t>
            </a:r>
          </a:p>
          <a:p/>
          <a:p>
            <a:r>
              <a:t>Q: "So is the logging rule enforced or not?"</a:t>
            </a:r>
          </a:p>
          <a:p>
            <a:r>
              <a:t>A: half — the channel is enforced, the content is not; "enforced" is per-CLAUSE, never per-rule, which is why your NFR marks each clause separately.</a:t>
            </a:r>
          </a:p>
          <a:p/>
          <a:p>
            <a:r>
              <a:t>Q: "Why not just fix the half-gate now?"</a:t>
            </a:r>
          </a:p>
          <a:p>
            <a:r>
              <a:t>A: it is an ESLint rule away and makes a fine stretch — but today the point is SEEING the state, not fixing it; you will close a gap like this in 2.b.</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is the point: AFTER the room commits, so it reads as comparison, not answer key. Sanitised — no client, product, or domain detail; if asked, "another engagement, and that is all I can say."</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One recurring chat nudge: "how is that clause checked?" If someone cannot answer, the clause is not finished. The skeleton on screen is also in the handout. Reserve the last five minutes for peer review — it is an acceptance criterion and the first thing skipped.</a:t>
            </a:r>
          </a:p>
          <a:p/>
          <a:p>
            <a:r>
              <a:t>COMMON QUESTIONS</a:t>
            </a:r>
          </a:p>
          <a:p/>
          <a:p>
            <a:r>
              <a:t>Q: "We all start from the same AGREED list — does everyone write the same NFR?"</a:t>
            </a:r>
          </a:p>
          <a:p>
            <a:r>
              <a:t>A: same clauses, YOUR document: your wording, your Checked-by lines, your marks, your dropped-clause dissents; the peer review is what catches where wording changed the meaning.</a:t>
            </a:r>
          </a:p>
          <a:p/>
          <a:p>
            <a:r>
              <a:t>Q: "What filename?"</a:t>
            </a:r>
          </a:p>
          <a:p>
            <a:r>
              <a:t>A: docs/nfr/0002-test-discipline.md — next number, kebab-case, like the ADR (the store-boundary stretch would be 0003).</a:t>
            </a:r>
          </a:p>
          <a:p/>
          <a:p>
            <a:r>
              <a:t>Q: "Do dropped clauses go in?"</a:t>
            </a:r>
          </a:p>
          <a:p>
            <a:r>
              <a:t>A: yes, one line each at the bottom with the drop decision and a name — a visibly-considered-and-dropped clause stops the same debate re-running next quarter.</a:t>
            </a:r>
          </a:p>
          <a:p/>
          <a:p>
            <a:r>
              <a:t>Q: "How formal is the wording?"</a:t>
            </a:r>
          </a:p>
          <a:p>
            <a:r>
              <a:t>A: NFR-0001's tone: plain sentences, numbered, no legalese — the Checked-by line is where the rigour lives.</a:t>
            </a:r>
          </a:p>
          <a:p/>
          <a:p>
            <a:r>
              <a:t>~20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Ask two or three people to unmute and read a fuzzy clause with its recorded decision — two minutes, and it makes the standard real. The common failure here: a "Checked by: code review" line on every clause — that is the human gate as a reflex, not a decision; push once: "could a script check THIS one?" Fast finishers: the half-gate stretch (write the ESLint clause) or the rules-file conversion.</a:t>
            </a:r>
          </a:p>
          <a:p/>
          <a:p>
            <a:r>
              <a:t>~2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before showed WHAT the two entries are; this one says what each DOES — same rule, referenced twice, two different jobs. Say the mechanics precisely. The BINDING LINE enforces by PRESENCE: it is the rule's one operative sentence living inside CLAUDE.md, so it is in context every session — loaded once with the file, no separate fetch, and above all no DECISION: the trigger row works only if Claude correctly decides the situation applies; the binding line arrives whether or not anything decides anything. (Precision for the sharp student: CLAUDE.md itself IS read at session start — the claim is not "never loaded", it is "never conditional".) The binding line's (NFR-0002) tail is a CITATION, not a loader: it tells Claude and humans where the full law lives, one deliberate hop away.</a:t>
            </a:r>
          </a:p>
          <a:p/>
          <a:p>
            <a:r>
              <a:t>SAY THE WORD OUT LOUD BEFORE THE ROOM MISREADS IT: binding as in a binding CONTRACT — the line is the rule, in force — NOT binding as in data-binding; it does not wire anything to anything, and its citation loads nothing. Developers reliably hear the wrong one first. The TRIGGER ROW has two parts, and naming them helps: a SITUATION ("when you are fixing a bug or adding behaviour") and a POINTER ("read docs/nfr/0002 first") — the pointer gives Claude the ABILITY to load the full doc; the situation says WHEN. Task matches, Claude reads the whole NFR: every clause, Checked-by line, dropped clause.</a:t>
            </a:r>
          </a:p>
          <a:p/>
          <a:p>
            <a:r>
              <a:t>TWO PATHS to the full document, and only one is designed: (1) the trigger row — the situation matches, the doc is read; this is the reliable path. (2) following the citation — Claude (or a person) mid-task decides it needs more than the headline and chases NFR-0002; possible because the citation exists, but voluntary — nothing forces it. Delete the trigger row and path 2 still exists, but now you are relying on Claude spontaneously deciding to look things up — hope-based governance, the exact thing this lab replaces.</a:t>
            </a:r>
          </a:p>
          <a:p/>
          <a:p>
            <a:r>
              <a:t>Anchor in 1.a: the trigger row is the lazy pointer they already know; the binding line is a deliberate one-line eager load, kept to one sentence precisely because eager space is paid every session.</a:t>
            </a:r>
          </a:p>
          <a:p/>
          <a:p>
            <a:r>
              <a:t>Kill each one mentally to prove both are needed: no binding line, and the always-applies rule hangs on Claude deciding to fetch; no trigger row, and the details (how each clause is checked, the exceptions) are unreachable by situation. The binding line is new vocabulary and it is graded.</a:t>
            </a:r>
          </a:p>
          <a:p/>
          <a:p>
            <a:r>
              <a:t>WHEN IS A BINDING LINE NEEDED — give them the test, then the repo's own contrast: ask "in what situation does this rule apply?" If you can name one narrower than ANY CHANGE, the trigger row is enough — that is why NFR-0001 needs NO binding line: "calling an external API" is a nameable situation, so its trigger row suffices. Test discipline applies to every change — no situation could trigger the fetch reliably — so it is the first rule in this repo that EARNS the eager line.</a:t>
            </a:r>
          </a:p>
          <a:p/>
          <a:p>
            <a:r>
              <a:t>Expect binding lines to stay RARE: a CLAUDE.md full of them is just a second copy of every document — one or two in a healthy file.</a:t>
            </a:r>
          </a:p>
          <a:p/>
          <a:p>
            <a:r>
              <a:t>COMMON QUESTIONS</a:t>
            </a:r>
          </a:p>
          <a:p/>
          <a:p>
            <a:r>
              <a:t>Q: "Why not just make the binding line say READ docs/nfr/0002 before any change?"</a:t>
            </a:r>
          </a:p>
          <a:p>
            <a:r>
              <a:t>A: three reasons. One: that converts a one-line cost into a full-document fetch on every session, to retrieve a rule whose operative sentence fits in one line. Two: "always read X first" is the weakest kind of instruction — under pressure it gets skipped, while a rule stated in place is simply THERE; the sign on the wall works because it IS the rule, not directions to the rulebook. Three: the binding line already cites NFR-0002, so the full law — all clauses, Checked-by lines, dropped clauses — is one hop away when nuance is needed.</a:t>
            </a:r>
          </a:p>
          <a:p/>
          <a:p>
            <a:r>
              <a:t>Q: "Then why not paste the whole NFR into CLAUDE.md?"</a:t>
            </a:r>
          </a:p>
          <a:p>
            <a:r>
              <a:t>A: one home per fact — a copy drifts from the doc and then nobody knows which is authoritative; and CLAUDE.md is a paid-every-session index, not a library.</a:t>
            </a:r>
          </a:p>
          <a:p/>
          <a:p>
            <a:r>
              <a:t>Q: "The trigger row already says fixing-a-bug -&gt; read the NFR — is the binding line not redundant?"</a:t>
            </a:r>
          </a:p>
          <a:p>
            <a:r>
              <a:t>A: the trigger is a fetch DECISION Claude makes each time, and a rule that applies to every change would need that decision made right every time; the binding line is deterministic presence. Redundant on purpose — like the deny rule and the hook next week.</a:t>
            </a:r>
          </a:p>
          <a:p/>
          <a:p>
            <a:r>
              <a:t>Q: "Why doesn't the binding line load the NFR when I am fixing a bug?"</a:t>
            </a:r>
          </a:p>
          <a:p>
            <a:r>
              <a:t>A: nothing in CLAUDE.md EXECUTES — every entry is a sentence Claude obeys, and each does exactly what its text says: "Read first: docs/nfr/0002" instructs a read, "ships with a test" instructs a test. The load while bug-fixing comes from the trigger row, the only sentence that says READ.</a:t>
            </a:r>
          </a:p>
          <a:p/>
          <a:p>
            <a:r>
              <a:t>Q: "Is the trigger row enforced?"</a:t>
            </a:r>
          </a:p>
          <a:p>
            <a:r>
              <a:t>A: no — all of this wiring is layer 1, instruction; nothing verifies the read happened, and the smoke test is a manual probe, not a gate. Next week does NOT change that: 2.b enforces the OUTCOME (a test in the diff, via hook + CI gate), never the reading — you cannot usefully gate "did the model read the doc", you gate the consequence, and once the outcome is gated the read matters less. Layer 1 informs; layers 2–4 enforce.</a:t>
            </a:r>
          </a:p>
          <a:p/>
          <a:p>
            <a:r>
              <a:t>The smoke test takes 60 seconds: new session, ask the rule, watch whether it reads the doc or guesses. If it guesses, the trigger is phrased as a topic, not a situation — fixable in one edit.</a:t>
            </a:r>
          </a:p>
          <a:p/>
          <a:p>
            <a:r>
              <a:t>~9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slide of the wire-in — read it BY JOBS, one row at a time, and let it preview 2.b. Two facts to land while reading. FIRST, one home per fact survives: none of the four references duplicates the law — the binding line states one headline sentence and cites the doc; the trigger row points at the doc; the hook and the gate re-encode ONE mechanical clause each, and a human writes that encoding — the gate does not read the NFR, it greps the diff for what the clause says. SECOND, the layer split: both CLAUDE.md rows are layer 1 — instruction, never validated, never enforced — and stay that way forever; enforcement arrives next week as SEPARATE artifacts at layers 2 and 4, and even then it is the OUTCOME of the clause that gets checked, never whether anything was read. If one table survives the block in their heads, it is this one.</a:t>
            </a:r>
          </a:p>
          <a:p/>
          <a:p>
            <a:r>
              <a:t>~1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from Lab 1.b, 2026-08-12: agenda held · prompting depth right · checkpoint gates worked · mostly solo, fine · room waits to be told → 4 seed clauses + 10-min derive]</a:t>
            </a:r>
          </a:p>
          <a:p/>
          <a:p>
            <a:r>
              <a:t>Do not skip this to buy build time — it is the review+capture close Format B requires.</a:t>
            </a:r>
          </a:p>
          <a:p/>
          <a:p>
            <a:r>
              <a:t>COPY THE CHAT BEFORE ENDING THE CALL — Meet deletes it, and the Decision sentences, the AGREED clause list, and the retro lines all feed the capture. INSTRUCTOR, within 24h: file the lab-capture entry (AI-Transformation-Playbook/04-labs/lab-capture-template.md) — what was built, stuck points, timings, refinements. This deck is the Format B pilot; the capture entry is how it gets validated.</a:t>
            </a:r>
          </a:p>
          <a:p/>
          <a:p>
            <a:r>
              <a:t>~4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through-line: last week a habit, this week a standard, next week a gate. The wrap checklist mirrors the handout acceptance criteria exactly — read it as one list, not highlights.</a:t>
            </a:r>
          </a:p>
          <a:p/>
          <a:p>
            <a:r>
              <a:t>~1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9144000" cy="5143500"/>
          </a:xfrm>
          <a:prstGeom prst="rect">
            <a:avLst/>
          </a:prstGeom>
        </p:spPr>
      </p:pic>
      <p:pic>
        <p:nvPicPr>
          <p:cNvPr id="3" name="Picture 2" descr="image2.png"/>
          <p:cNvPicPr>
            <a:picLocks noChangeAspect="1"/>
          </p:cNvPicPr>
          <p:nvPr/>
        </p:nvPicPr>
        <p:blipFill>
          <a:blip r:embed="rId3"/>
          <a:stretch>
            <a:fillRect/>
          </a:stretch>
        </p:blipFill>
        <p:spPr>
          <a:xfrm>
            <a:off x="548640" y="457200"/>
            <a:ext cx="850392" cy="457200"/>
          </a:xfrm>
          <a:prstGeom prst="rect">
            <a:avLst/>
          </a:prstGeom>
        </p:spPr>
      </p:pic>
      <p:sp>
        <p:nvSpPr>
          <p:cNvPr id="4" name="TextBox 3"/>
          <p:cNvSpPr txBox="1"/>
          <p:nvPr/>
        </p:nvSpPr>
        <p:spPr>
          <a:xfrm>
            <a:off x="548640" y="1965960"/>
            <a:ext cx="7863840" cy="914400"/>
          </a:xfrm>
          <a:prstGeom prst="rect">
            <a:avLst/>
          </a:prstGeom>
          <a:noFill/>
        </p:spPr>
        <p:txBody>
          <a:bodyPr wrap="square" anchor="t" lIns="0" rIns="0" tIns="0" bIns="0">
            <a:spAutoFit/>
          </a:bodyPr>
          <a:lstStyle/>
          <a:p>
            <a:pPr algn="l">
              <a:spcAft>
                <a:spcPts val="400"/>
              </a:spcAft>
            </a:pPr>
            <a:r>
              <a:rPr sz="3600" b="1">
                <a:solidFill>
                  <a:srgbClr val="FFFFFF"/>
                </a:solidFill>
                <a:latin typeface="Arial"/>
              </a:rPr>
              <a:t>Writing the Standards Down</a:t>
            </a:r>
          </a:p>
        </p:txBody>
      </p:sp>
      <p:sp>
        <p:nvSpPr>
          <p:cNvPr id="5" name="TextBox 4"/>
          <p:cNvSpPr txBox="1"/>
          <p:nvPr/>
        </p:nvSpPr>
        <p:spPr>
          <a:xfrm>
            <a:off x="548640" y="2926080"/>
            <a:ext cx="7863840" cy="457200"/>
          </a:xfrm>
          <a:prstGeom prst="rect">
            <a:avLst/>
          </a:prstGeom>
          <a:noFill/>
        </p:spPr>
        <p:txBody>
          <a:bodyPr wrap="square" anchor="t" lIns="0" rIns="0" tIns="0" bIns="0">
            <a:spAutoFit/>
          </a:bodyPr>
          <a:lstStyle/>
          <a:p>
            <a:pPr algn="l">
              <a:lnSpc>
                <a:spcPct val="130000"/>
              </a:lnSpc>
              <a:spcAft>
                <a:spcPts val="400"/>
              </a:spcAft>
            </a:pPr>
            <a:r>
              <a:rPr sz="1400" b="0">
                <a:solidFill>
                  <a:srgbClr val="CCD9FF"/>
                </a:solidFill>
                <a:latin typeface="Arial"/>
              </a:rPr>
              <a:t>Lab 2.a — the governance documents an AI agent actually uses</a:t>
            </a:r>
          </a:p>
        </p:txBody>
      </p:sp>
      <p:sp>
        <p:nvSpPr>
          <p:cNvPr id="6" name="TextBox 5"/>
          <p:cNvSpPr txBox="1"/>
          <p:nvPr/>
        </p:nvSpPr>
        <p:spPr>
          <a:xfrm>
            <a:off x="548640" y="4434840"/>
            <a:ext cx="7863840" cy="274320"/>
          </a:xfrm>
          <a:prstGeom prst="rect">
            <a:avLst/>
          </a:prstGeom>
          <a:noFill/>
        </p:spPr>
        <p:txBody>
          <a:bodyPr wrap="square" anchor="t" lIns="0" rIns="0" tIns="0" bIns="0">
            <a:spAutoFit/>
          </a:bodyPr>
          <a:lstStyle/>
          <a:p>
            <a:pPr algn="l">
              <a:spcAft>
                <a:spcPts val="400"/>
              </a:spcAft>
            </a:pPr>
            <a:r>
              <a:rPr sz="1000" b="0">
                <a:solidFill>
                  <a:srgbClr val="A9B7F7"/>
                </a:solidFill>
                <a:latin typeface="Arial"/>
              </a:rPr>
              <a:t>FSL AI Training · Phase 1 · Week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TODAY</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Two hours, mostly hands-on</a:t>
            </a:r>
          </a:p>
        </p:txBody>
      </p:sp>
      <p:sp>
        <p:nvSpPr>
          <p:cNvPr id="7" name="TextBox 6"/>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8" name="Rectangle 7"/>
          <p:cNvSpPr/>
          <p:nvPr/>
        </p:nvSpPr>
        <p:spPr>
          <a:xfrm>
            <a:off x="548640" y="1554480"/>
            <a:ext cx="8046720" cy="4114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55064"/>
            <a:ext cx="868680" cy="237744"/>
          </a:xfrm>
          <a:prstGeom prst="rect">
            <a:avLst/>
          </a:prstGeom>
          <a:noFill/>
        </p:spPr>
        <p:txBody>
          <a:bodyPr wrap="square" anchor="t" lIns="0" rIns="0" tIns="0" bIns="0">
            <a:spAutoFit/>
          </a:bodyPr>
          <a:lstStyle/>
          <a:p>
            <a:pPr algn="l">
              <a:spcAft>
                <a:spcPts val="400"/>
              </a:spcAft>
            </a:pPr>
            <a:r>
              <a:rPr sz="1050" b="1">
                <a:solidFill>
                  <a:srgbClr val="403FE8"/>
                </a:solidFill>
                <a:latin typeface="Arial"/>
              </a:rPr>
              <a:t>6 min</a:t>
            </a:r>
          </a:p>
        </p:txBody>
      </p:sp>
      <p:sp>
        <p:nvSpPr>
          <p:cNvPr id="10" name="TextBox 9"/>
          <p:cNvSpPr txBox="1"/>
          <p:nvPr/>
        </p:nvSpPr>
        <p:spPr>
          <a:xfrm>
            <a:off x="1691640" y="1604772"/>
            <a:ext cx="2606040" cy="329184"/>
          </a:xfrm>
          <a:prstGeom prst="rect">
            <a:avLst/>
          </a:prstGeom>
          <a:noFill/>
        </p:spPr>
        <p:txBody>
          <a:bodyPr wrap="square" anchor="t" lIns="0" rIns="0" tIns="0" bIns="0">
            <a:spAutoFit/>
          </a:bodyPr>
          <a:lstStyle/>
          <a:p>
            <a:pPr algn="l">
              <a:spcAft>
                <a:spcPts val="400"/>
              </a:spcAft>
            </a:pPr>
            <a:r>
              <a:rPr sz="1100" b="1">
                <a:solidFill>
                  <a:srgbClr val="13135E"/>
                </a:solidFill>
                <a:latin typeface="Arial"/>
              </a:rPr>
              <a:t>Why</a:t>
            </a:r>
          </a:p>
        </p:txBody>
      </p:sp>
      <p:sp>
        <p:nvSpPr>
          <p:cNvPr id="11" name="TextBox 10"/>
          <p:cNvSpPr txBox="1"/>
          <p:nvPr/>
        </p:nvSpPr>
        <p:spPr>
          <a:xfrm>
            <a:off x="4389120" y="1623060"/>
            <a:ext cx="4069080" cy="310896"/>
          </a:xfrm>
          <a:prstGeom prst="rect">
            <a:avLst/>
          </a:prstGeom>
          <a:noFill/>
        </p:spPr>
        <p:txBody>
          <a:bodyPr wrap="square" anchor="t" lIns="0" rIns="0" tIns="0" bIns="0">
            <a:spAutoFit/>
          </a:bodyPr>
          <a:lstStyle/>
          <a:p>
            <a:pPr algn="l">
              <a:lnSpc>
                <a:spcPct val="115000"/>
              </a:lnSpc>
              <a:spcAft>
                <a:spcPts val="400"/>
              </a:spcAft>
            </a:pPr>
            <a:r>
              <a:rPr sz="950" b="0">
                <a:solidFill>
                  <a:srgbClr val="666666"/>
                </a:solidFill>
                <a:latin typeface="Arial"/>
              </a:rPr>
              <a:t>What shared standards buy you</a:t>
            </a:r>
          </a:p>
        </p:txBody>
      </p:sp>
      <p:sp>
        <p:nvSpPr>
          <p:cNvPr id="12" name="Rectangle 11"/>
          <p:cNvSpPr/>
          <p:nvPr/>
        </p:nvSpPr>
        <p:spPr>
          <a:xfrm>
            <a:off x="548640" y="2029967"/>
            <a:ext cx="80467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130551"/>
            <a:ext cx="868680" cy="237744"/>
          </a:xfrm>
          <a:prstGeom prst="rect">
            <a:avLst/>
          </a:prstGeom>
          <a:noFill/>
        </p:spPr>
        <p:txBody>
          <a:bodyPr wrap="square" anchor="t" lIns="0" rIns="0" tIns="0" bIns="0">
            <a:spAutoFit/>
          </a:bodyPr>
          <a:lstStyle/>
          <a:p>
            <a:pPr algn="l">
              <a:spcAft>
                <a:spcPts val="400"/>
              </a:spcAft>
            </a:pPr>
            <a:r>
              <a:rPr sz="1050" b="1">
                <a:solidFill>
                  <a:srgbClr val="403FE8"/>
                </a:solidFill>
                <a:latin typeface="Arial"/>
              </a:rPr>
              <a:t>18 min</a:t>
            </a:r>
          </a:p>
        </p:txBody>
      </p:sp>
      <p:sp>
        <p:nvSpPr>
          <p:cNvPr id="14" name="TextBox 13"/>
          <p:cNvSpPr txBox="1"/>
          <p:nvPr/>
        </p:nvSpPr>
        <p:spPr>
          <a:xfrm>
            <a:off x="1691640" y="2080260"/>
            <a:ext cx="2606040" cy="329184"/>
          </a:xfrm>
          <a:prstGeom prst="rect">
            <a:avLst/>
          </a:prstGeom>
          <a:noFill/>
        </p:spPr>
        <p:txBody>
          <a:bodyPr wrap="square" anchor="t" lIns="0" rIns="0" tIns="0" bIns="0">
            <a:spAutoFit/>
          </a:bodyPr>
          <a:lstStyle/>
          <a:p>
            <a:pPr algn="l">
              <a:spcAft>
                <a:spcPts val="400"/>
              </a:spcAft>
            </a:pPr>
            <a:r>
              <a:rPr sz="1100" b="1">
                <a:solidFill>
                  <a:srgbClr val="13135E"/>
                </a:solidFill>
                <a:latin typeface="Arial"/>
              </a:rPr>
              <a:t>The five artifacts</a:t>
            </a:r>
          </a:p>
        </p:txBody>
      </p:sp>
      <p:sp>
        <p:nvSpPr>
          <p:cNvPr id="15" name="TextBox 14"/>
          <p:cNvSpPr txBox="1"/>
          <p:nvPr/>
        </p:nvSpPr>
        <p:spPr>
          <a:xfrm>
            <a:off x="4389120" y="2098548"/>
            <a:ext cx="4069080" cy="310896"/>
          </a:xfrm>
          <a:prstGeom prst="rect">
            <a:avLst/>
          </a:prstGeom>
          <a:noFill/>
        </p:spPr>
        <p:txBody>
          <a:bodyPr wrap="square" anchor="t" lIns="0" rIns="0" tIns="0" bIns="0">
            <a:spAutoFit/>
          </a:bodyPr>
          <a:lstStyle/>
          <a:p>
            <a:pPr algn="l">
              <a:lnSpc>
                <a:spcPct val="115000"/>
              </a:lnSpc>
              <a:spcAft>
                <a:spcPts val="400"/>
              </a:spcAft>
            </a:pPr>
            <a:r>
              <a:rPr sz="950" b="0">
                <a:solidFill>
                  <a:srgbClr val="666666"/>
                </a:solidFill>
                <a:latin typeface="Arial"/>
              </a:rPr>
              <a:t>What each is — and how to tell them apart</a:t>
            </a:r>
          </a:p>
        </p:txBody>
      </p:sp>
      <p:sp>
        <p:nvSpPr>
          <p:cNvPr id="16" name="Rectangle 15"/>
          <p:cNvSpPr/>
          <p:nvPr/>
        </p:nvSpPr>
        <p:spPr>
          <a:xfrm>
            <a:off x="548640" y="2505456"/>
            <a:ext cx="8046720" cy="4114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606040"/>
            <a:ext cx="868680" cy="237744"/>
          </a:xfrm>
          <a:prstGeom prst="rect">
            <a:avLst/>
          </a:prstGeom>
          <a:noFill/>
        </p:spPr>
        <p:txBody>
          <a:bodyPr wrap="square" anchor="t" lIns="0" rIns="0" tIns="0" bIns="0">
            <a:spAutoFit/>
          </a:bodyPr>
          <a:lstStyle/>
          <a:p>
            <a:pPr algn="l">
              <a:spcAft>
                <a:spcPts val="400"/>
              </a:spcAft>
            </a:pPr>
            <a:r>
              <a:rPr sz="1050" b="1">
                <a:solidFill>
                  <a:srgbClr val="403FE8"/>
                </a:solidFill>
                <a:latin typeface="Arial"/>
              </a:rPr>
              <a:t>10 min</a:t>
            </a:r>
          </a:p>
        </p:txBody>
      </p:sp>
      <p:sp>
        <p:nvSpPr>
          <p:cNvPr id="18" name="TextBox 17"/>
          <p:cNvSpPr txBox="1"/>
          <p:nvPr/>
        </p:nvSpPr>
        <p:spPr>
          <a:xfrm>
            <a:off x="1691640" y="2555748"/>
            <a:ext cx="2606040" cy="329184"/>
          </a:xfrm>
          <a:prstGeom prst="rect">
            <a:avLst/>
          </a:prstGeom>
          <a:noFill/>
        </p:spPr>
        <p:txBody>
          <a:bodyPr wrap="square" anchor="t" lIns="0" rIns="0" tIns="0" bIns="0">
            <a:spAutoFit/>
          </a:bodyPr>
          <a:lstStyle/>
          <a:p>
            <a:pPr algn="l">
              <a:spcAft>
                <a:spcPts val="400"/>
              </a:spcAft>
            </a:pPr>
            <a:r>
              <a:rPr sz="1100" b="1">
                <a:solidFill>
                  <a:srgbClr val="13135E"/>
                </a:solidFill>
                <a:latin typeface="Arial"/>
              </a:rPr>
              <a:t>How they get authored</a:t>
            </a:r>
          </a:p>
        </p:txBody>
      </p:sp>
      <p:sp>
        <p:nvSpPr>
          <p:cNvPr id="19" name="TextBox 18"/>
          <p:cNvSpPr txBox="1"/>
          <p:nvPr/>
        </p:nvSpPr>
        <p:spPr>
          <a:xfrm>
            <a:off x="4389120" y="2574036"/>
            <a:ext cx="4069080" cy="310896"/>
          </a:xfrm>
          <a:prstGeom prst="rect">
            <a:avLst/>
          </a:prstGeom>
          <a:noFill/>
        </p:spPr>
        <p:txBody>
          <a:bodyPr wrap="square" anchor="t" lIns="0" rIns="0" tIns="0" bIns="0">
            <a:spAutoFit/>
          </a:bodyPr>
          <a:lstStyle/>
          <a:p>
            <a:pPr algn="l">
              <a:lnSpc>
                <a:spcPct val="115000"/>
              </a:lnSpc>
              <a:spcAft>
                <a:spcPts val="400"/>
              </a:spcAft>
            </a:pPr>
            <a:r>
              <a:rPr sz="950" b="0">
                <a:solidFill>
                  <a:srgbClr val="666666"/>
                </a:solidFill>
                <a:latin typeface="Arial"/>
              </a:rPr>
              <a:t>When one is required, who reviews, drafting with Claude</a:t>
            </a:r>
          </a:p>
        </p:txBody>
      </p:sp>
      <p:sp>
        <p:nvSpPr>
          <p:cNvPr id="20" name="Rectangle 19"/>
          <p:cNvSpPr/>
          <p:nvPr/>
        </p:nvSpPr>
        <p:spPr>
          <a:xfrm>
            <a:off x="548640" y="2980944"/>
            <a:ext cx="80467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081527"/>
            <a:ext cx="868680" cy="237744"/>
          </a:xfrm>
          <a:prstGeom prst="rect">
            <a:avLst/>
          </a:prstGeom>
          <a:noFill/>
        </p:spPr>
        <p:txBody>
          <a:bodyPr wrap="square" anchor="t" lIns="0" rIns="0" tIns="0" bIns="0">
            <a:spAutoFit/>
          </a:bodyPr>
          <a:lstStyle/>
          <a:p>
            <a:pPr algn="l">
              <a:spcAft>
                <a:spcPts val="400"/>
              </a:spcAft>
            </a:pPr>
            <a:r>
              <a:rPr sz="1050" b="1">
                <a:solidFill>
                  <a:srgbClr val="403FE8"/>
                </a:solidFill>
                <a:latin typeface="Arial"/>
              </a:rPr>
              <a:t>26 min</a:t>
            </a:r>
          </a:p>
        </p:txBody>
      </p:sp>
      <p:sp>
        <p:nvSpPr>
          <p:cNvPr id="22" name="TextBox 21"/>
          <p:cNvSpPr txBox="1"/>
          <p:nvPr/>
        </p:nvSpPr>
        <p:spPr>
          <a:xfrm>
            <a:off x="1691640" y="3031236"/>
            <a:ext cx="2606040" cy="329184"/>
          </a:xfrm>
          <a:prstGeom prst="rect">
            <a:avLst/>
          </a:prstGeom>
          <a:noFill/>
        </p:spPr>
        <p:txBody>
          <a:bodyPr wrap="square" anchor="t" lIns="0" rIns="0" tIns="0" bIns="0">
            <a:spAutoFit/>
          </a:bodyPr>
          <a:lstStyle/>
          <a:p>
            <a:pPr algn="l">
              <a:spcAft>
                <a:spcPts val="400"/>
              </a:spcAft>
            </a:pPr>
            <a:r>
              <a:rPr sz="1100" b="1">
                <a:solidFill>
                  <a:srgbClr val="13135E"/>
                </a:solidFill>
                <a:latin typeface="Arial"/>
              </a:rPr>
              <a:t>Demo an ADR — then write yours</a:t>
            </a:r>
          </a:p>
        </p:txBody>
      </p:sp>
      <p:sp>
        <p:nvSpPr>
          <p:cNvPr id="23" name="TextBox 22"/>
          <p:cNvSpPr txBox="1"/>
          <p:nvPr/>
        </p:nvSpPr>
        <p:spPr>
          <a:xfrm>
            <a:off x="4389120" y="3049524"/>
            <a:ext cx="4069080" cy="310896"/>
          </a:xfrm>
          <a:prstGeom prst="rect">
            <a:avLst/>
          </a:prstGeom>
          <a:noFill/>
        </p:spPr>
        <p:txBody>
          <a:bodyPr wrap="square" anchor="t" lIns="0" rIns="0" tIns="0" bIns="0">
            <a:spAutoFit/>
          </a:bodyPr>
          <a:lstStyle/>
          <a:p>
            <a:pPr algn="l">
              <a:lnSpc>
                <a:spcPct val="115000"/>
              </a:lnSpc>
              <a:spcAft>
                <a:spcPts val="400"/>
              </a:spcAft>
            </a:pPr>
            <a:r>
              <a:rPr sz="950" b="0">
                <a:solidFill>
                  <a:srgbClr val="666666"/>
                </a:solidFill>
                <a:latin typeface="Arial"/>
              </a:rPr>
              <a:t>The repository boundary, documented twice</a:t>
            </a:r>
          </a:p>
        </p:txBody>
      </p:sp>
      <p:sp>
        <p:nvSpPr>
          <p:cNvPr id="24" name="Rectangle 23"/>
          <p:cNvSpPr/>
          <p:nvPr/>
        </p:nvSpPr>
        <p:spPr>
          <a:xfrm>
            <a:off x="548640" y="3456432"/>
            <a:ext cx="8046720" cy="4114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557016"/>
            <a:ext cx="868680" cy="237744"/>
          </a:xfrm>
          <a:prstGeom prst="rect">
            <a:avLst/>
          </a:prstGeom>
          <a:noFill/>
        </p:spPr>
        <p:txBody>
          <a:bodyPr wrap="square" anchor="t" lIns="0" rIns="0" tIns="0" bIns="0">
            <a:spAutoFit/>
          </a:bodyPr>
          <a:lstStyle/>
          <a:p>
            <a:pPr algn="l">
              <a:spcAft>
                <a:spcPts val="400"/>
              </a:spcAft>
            </a:pPr>
            <a:r>
              <a:rPr sz="1050" b="1">
                <a:solidFill>
                  <a:srgbClr val="403FE8"/>
                </a:solidFill>
                <a:latin typeface="Arial"/>
              </a:rPr>
              <a:t>44 min</a:t>
            </a:r>
          </a:p>
        </p:txBody>
      </p:sp>
      <p:sp>
        <p:nvSpPr>
          <p:cNvPr id="26" name="TextBox 25"/>
          <p:cNvSpPr txBox="1"/>
          <p:nvPr/>
        </p:nvSpPr>
        <p:spPr>
          <a:xfrm>
            <a:off x="1691640" y="3506724"/>
            <a:ext cx="2606040" cy="329184"/>
          </a:xfrm>
          <a:prstGeom prst="rect">
            <a:avLst/>
          </a:prstGeom>
          <a:noFill/>
        </p:spPr>
        <p:txBody>
          <a:bodyPr wrap="square" anchor="t" lIns="0" rIns="0" tIns="0" bIns="0">
            <a:spAutoFit/>
          </a:bodyPr>
          <a:lstStyle/>
          <a:p>
            <a:pPr algn="l">
              <a:spcAft>
                <a:spcPts val="400"/>
              </a:spcAft>
            </a:pPr>
            <a:r>
              <a:rPr sz="1100" b="1">
                <a:solidFill>
                  <a:srgbClr val="13135E"/>
                </a:solidFill>
                <a:latin typeface="Arial"/>
              </a:rPr>
              <a:t>Derive + write an NFR</a:t>
            </a:r>
          </a:p>
        </p:txBody>
      </p:sp>
      <p:sp>
        <p:nvSpPr>
          <p:cNvPr id="27" name="TextBox 26"/>
          <p:cNvSpPr txBox="1"/>
          <p:nvPr/>
        </p:nvSpPr>
        <p:spPr>
          <a:xfrm>
            <a:off x="4389120" y="3525012"/>
            <a:ext cx="4069080" cy="310896"/>
          </a:xfrm>
          <a:prstGeom prst="rect">
            <a:avLst/>
          </a:prstGeom>
          <a:noFill/>
        </p:spPr>
        <p:txBody>
          <a:bodyPr wrap="square" anchor="t" lIns="0" rIns="0" tIns="0" bIns="0">
            <a:spAutoFit/>
          </a:bodyPr>
          <a:lstStyle/>
          <a:p>
            <a:pPr algn="l">
              <a:lnSpc>
                <a:spcPct val="115000"/>
              </a:lnSpc>
              <a:spcAft>
                <a:spcPts val="400"/>
              </a:spcAft>
            </a:pPr>
            <a:r>
              <a:rPr sz="950" b="0">
                <a:solidFill>
                  <a:srgbClr val="666666"/>
                </a:solidFill>
                <a:latin typeface="Arial"/>
              </a:rPr>
              <a:t>Judge three fixes from last week — your verdict becomes the team standard</a:t>
            </a:r>
          </a:p>
        </p:txBody>
      </p:sp>
      <p:sp>
        <p:nvSpPr>
          <p:cNvPr id="28" name="Rectangle 27"/>
          <p:cNvSpPr/>
          <p:nvPr/>
        </p:nvSpPr>
        <p:spPr>
          <a:xfrm>
            <a:off x="548640" y="3931920"/>
            <a:ext cx="80467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032504"/>
            <a:ext cx="868680" cy="237744"/>
          </a:xfrm>
          <a:prstGeom prst="rect">
            <a:avLst/>
          </a:prstGeom>
          <a:noFill/>
        </p:spPr>
        <p:txBody>
          <a:bodyPr wrap="square" anchor="t" lIns="0" rIns="0" tIns="0" bIns="0">
            <a:spAutoFit/>
          </a:bodyPr>
          <a:lstStyle/>
          <a:p>
            <a:pPr algn="l">
              <a:spcAft>
                <a:spcPts val="400"/>
              </a:spcAft>
            </a:pPr>
            <a:r>
              <a:rPr sz="1050" b="1">
                <a:solidFill>
                  <a:srgbClr val="403FE8"/>
                </a:solidFill>
                <a:latin typeface="Arial"/>
              </a:rPr>
              <a:t>16 min</a:t>
            </a:r>
          </a:p>
        </p:txBody>
      </p:sp>
      <p:sp>
        <p:nvSpPr>
          <p:cNvPr id="30" name="TextBox 29"/>
          <p:cNvSpPr txBox="1"/>
          <p:nvPr/>
        </p:nvSpPr>
        <p:spPr>
          <a:xfrm>
            <a:off x="1691640" y="3982211"/>
            <a:ext cx="2606040" cy="329184"/>
          </a:xfrm>
          <a:prstGeom prst="rect">
            <a:avLst/>
          </a:prstGeom>
          <a:noFill/>
        </p:spPr>
        <p:txBody>
          <a:bodyPr wrap="square" anchor="t" lIns="0" rIns="0" tIns="0" bIns="0">
            <a:spAutoFit/>
          </a:bodyPr>
          <a:lstStyle/>
          <a:p>
            <a:pPr algn="l">
              <a:spcAft>
                <a:spcPts val="400"/>
              </a:spcAft>
            </a:pPr>
            <a:r>
              <a:rPr sz="1100" b="1">
                <a:solidFill>
                  <a:srgbClr val="13135E"/>
                </a:solidFill>
                <a:latin typeface="Arial"/>
              </a:rPr>
              <a:t>Wire it in + review &amp; retro</a:t>
            </a:r>
          </a:p>
        </p:txBody>
      </p:sp>
      <p:sp>
        <p:nvSpPr>
          <p:cNvPr id="31" name="TextBox 30"/>
          <p:cNvSpPr txBox="1"/>
          <p:nvPr/>
        </p:nvSpPr>
        <p:spPr>
          <a:xfrm>
            <a:off x="4389120" y="4000500"/>
            <a:ext cx="4069080" cy="310896"/>
          </a:xfrm>
          <a:prstGeom prst="rect">
            <a:avLst/>
          </a:prstGeom>
          <a:noFill/>
        </p:spPr>
        <p:txBody>
          <a:bodyPr wrap="square" anchor="t" lIns="0" rIns="0" tIns="0" bIns="0">
            <a:spAutoFit/>
          </a:bodyPr>
          <a:lstStyle/>
          <a:p>
            <a:pPr algn="l">
              <a:lnSpc>
                <a:spcPct val="115000"/>
              </a:lnSpc>
              <a:spcAft>
                <a:spcPts val="400"/>
              </a:spcAft>
            </a:pPr>
            <a:r>
              <a:rPr sz="950" b="0">
                <a:solidFill>
                  <a:srgbClr val="666666"/>
                </a:solidFill>
                <a:latin typeface="Arial"/>
              </a:rPr>
              <a:t>Trigger table, binding line, smoke test, reflect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WHY</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Sixteen developers, sixteen private setups</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assessment called this a Cultural Gap: engineers ahead of shared norms.</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103120"/>
            <a:ext cx="2602992" cy="20116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WHAT WORKS TODAY</a:t>
            </a:r>
          </a:p>
        </p:txBody>
      </p:sp>
      <p:sp>
        <p:nvSpPr>
          <p:cNvPr id="12" name="TextBox 11"/>
          <p:cNvSpPr txBox="1"/>
          <p:nvPr/>
        </p:nvSpPr>
        <p:spPr>
          <a:xfrm>
            <a:off x="731520" y="2816352"/>
            <a:ext cx="2237232" cy="1143000"/>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Individual practice is genuinely strong</a:t>
            </a:r>
          </a:p>
          <a:p>
            <a:pPr algn="l">
              <a:lnSpc>
                <a:spcPct val="118000"/>
              </a:lnSpc>
              <a:spcAft>
                <a:spcPts val="600"/>
              </a:spcAft>
            </a:pPr>
            <a:r>
              <a:rPr sz="1000" b="1">
                <a:solidFill>
                  <a:srgbClr val="A9B7F7"/>
                </a:solidFill>
                <a:latin typeface="Arial"/>
              </a:rPr>
              <a:t>•  </a:t>
            </a:r>
            <a:r>
              <a:rPr sz="1000" b="0">
                <a:solidFill>
                  <a:srgbClr val="434343"/>
                </a:solidFill>
                <a:latin typeface="Arial"/>
              </a:rPr>
              <a:t>Claude is productive on this repo</a:t>
            </a:r>
          </a:p>
          <a:p>
            <a:pPr algn="l">
              <a:lnSpc>
                <a:spcPct val="118000"/>
              </a:lnSpc>
              <a:spcAft>
                <a:spcPts val="600"/>
              </a:spcAft>
            </a:pPr>
            <a:r>
              <a:rPr sz="1000" b="1">
                <a:solidFill>
                  <a:srgbClr val="A9B7F7"/>
                </a:solidFill>
                <a:latin typeface="Arial"/>
              </a:rPr>
              <a:t>•  </a:t>
            </a:r>
            <a:r>
              <a:rPr sz="1000" b="0">
                <a:solidFill>
                  <a:srgbClr val="434343"/>
                </a:solidFill>
                <a:latin typeface="Arial"/>
              </a:rPr>
              <a:t>The habits from 1.b landed</a:t>
            </a:r>
          </a:p>
        </p:txBody>
      </p:sp>
      <p:sp>
        <p:nvSpPr>
          <p:cNvPr id="13" name="Rectangle 12"/>
          <p:cNvSpPr/>
          <p:nvPr/>
        </p:nvSpPr>
        <p:spPr>
          <a:xfrm>
            <a:off x="3270504" y="2103120"/>
            <a:ext cx="2602992" cy="20116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70504"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3384"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WHAT DOES NOT</a:t>
            </a:r>
          </a:p>
        </p:txBody>
      </p:sp>
      <p:sp>
        <p:nvSpPr>
          <p:cNvPr id="16" name="TextBox 15"/>
          <p:cNvSpPr txBox="1"/>
          <p:nvPr/>
        </p:nvSpPr>
        <p:spPr>
          <a:xfrm>
            <a:off x="3453384" y="2816352"/>
            <a:ext cx="2237232" cy="1143000"/>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None of it is shared</a:t>
            </a:r>
          </a:p>
          <a:p>
            <a:pPr algn="l">
              <a:lnSpc>
                <a:spcPct val="118000"/>
              </a:lnSpc>
              <a:spcAft>
                <a:spcPts val="600"/>
              </a:spcAft>
            </a:pPr>
            <a:r>
              <a:rPr sz="1000" b="1">
                <a:solidFill>
                  <a:srgbClr val="A9B7F7"/>
                </a:solidFill>
                <a:latin typeface="Arial"/>
              </a:rPr>
              <a:t>•  </a:t>
            </a:r>
            <a:r>
              <a:rPr sz="1000" b="0">
                <a:solidFill>
                  <a:srgbClr val="434343"/>
                </a:solidFill>
                <a:latin typeface="Arial"/>
              </a:rPr>
              <a:t>Every dev re-teaches Claude the same things</a:t>
            </a:r>
          </a:p>
          <a:p>
            <a:pPr algn="l">
              <a:lnSpc>
                <a:spcPct val="118000"/>
              </a:lnSpc>
              <a:spcAft>
                <a:spcPts val="600"/>
              </a:spcAft>
            </a:pPr>
            <a:r>
              <a:rPr sz="1000" b="1">
                <a:solidFill>
                  <a:srgbClr val="A9B7F7"/>
                </a:solidFill>
                <a:latin typeface="Arial"/>
              </a:rPr>
              <a:t>•  </a:t>
            </a:r>
            <a:r>
              <a:rPr sz="1000" b="0">
                <a:solidFill>
                  <a:srgbClr val="434343"/>
                </a:solidFill>
                <a:latin typeface="Arial"/>
              </a:rPr>
              <a:t>No way to tell if a rule is followed</a:t>
            </a:r>
          </a:p>
        </p:txBody>
      </p:sp>
      <p:sp>
        <p:nvSpPr>
          <p:cNvPr id="17" name="Rectangle 16"/>
          <p:cNvSpPr/>
          <p:nvPr/>
        </p:nvSpPr>
        <p:spPr>
          <a:xfrm>
            <a:off x="5992368" y="2103120"/>
            <a:ext cx="2602992" cy="20116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92368"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5248"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WHAT TODAY CHANGES</a:t>
            </a:r>
          </a:p>
        </p:txBody>
      </p:sp>
      <p:sp>
        <p:nvSpPr>
          <p:cNvPr id="20" name="TextBox 19"/>
          <p:cNvSpPr txBox="1"/>
          <p:nvPr/>
        </p:nvSpPr>
        <p:spPr>
          <a:xfrm>
            <a:off x="6175248" y="2816352"/>
            <a:ext cx="2237232" cy="1143000"/>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Habits become written rules</a:t>
            </a:r>
          </a:p>
          <a:p>
            <a:pPr algn="l">
              <a:lnSpc>
                <a:spcPct val="118000"/>
              </a:lnSpc>
              <a:spcAft>
                <a:spcPts val="600"/>
              </a:spcAft>
            </a:pPr>
            <a:r>
              <a:rPr sz="1000" b="1">
                <a:solidFill>
                  <a:srgbClr val="A9B7F7"/>
                </a:solidFill>
                <a:latin typeface="Arial"/>
              </a:rPr>
              <a:t>•  </a:t>
            </a:r>
            <a:r>
              <a:rPr sz="1000" b="0">
                <a:solidFill>
                  <a:srgbClr val="434343"/>
                </a:solidFill>
                <a:latin typeface="Arial"/>
              </a:rPr>
              <a:t>Rules get homes: documents</a:t>
            </a:r>
          </a:p>
          <a:p>
            <a:pPr algn="l">
              <a:lnSpc>
                <a:spcPct val="118000"/>
              </a:lnSpc>
              <a:spcAft>
                <a:spcPts val="600"/>
              </a:spcAft>
            </a:pPr>
            <a:r>
              <a:rPr sz="1000" b="1">
                <a:solidFill>
                  <a:srgbClr val="A9B7F7"/>
                </a:solidFill>
                <a:latin typeface="Arial"/>
              </a:rPr>
              <a:t>•  </a:t>
            </a:r>
            <a:r>
              <a:rPr sz="1000" b="0">
                <a:solidFill>
                  <a:srgbClr val="434343"/>
                </a:solidFill>
                <a:latin typeface="Arial"/>
              </a:rPr>
              <a:t>Written + agreed = a standard</a:t>
            </a:r>
          </a:p>
        </p:txBody>
      </p:sp>
      <p:sp>
        <p:nvSpPr>
          <p:cNvPr id="21" name="TextBox 20"/>
          <p:cNvSpPr txBox="1"/>
          <p:nvPr/>
        </p:nvSpPr>
        <p:spPr>
          <a:xfrm>
            <a:off x="548640" y="4261104"/>
            <a:ext cx="7863840" cy="402336"/>
          </a:xfrm>
          <a:prstGeom prst="rect">
            <a:avLst/>
          </a:prstGeom>
          <a:noFill/>
        </p:spPr>
        <p:txBody>
          <a:bodyPr wrap="square" anchor="t" lIns="0" rIns="0" tIns="0" bIns="0">
            <a:spAutoFit/>
          </a:bodyPr>
          <a:lstStyle/>
          <a:p>
            <a:pPr algn="l">
              <a:lnSpc>
                <a:spcPct val="120000"/>
              </a:lnSpc>
              <a:spcAft>
                <a:spcPts val="400"/>
              </a:spcAft>
            </a:pPr>
            <a:r>
              <a:rPr sz="1050" b="0">
                <a:solidFill>
                  <a:srgbClr val="666666"/>
                </a:solidFill>
                <a:latin typeface="Arial"/>
              </a:rPr>
              <a:t>And the evidence says authorship matters: an ETH Zurich study (Feb 2026) found LLM-generated context files LOWERED task success ~3% while raising cost 20%+; human-written improved it ~4%. /init-and-walk-away is worse than nothing.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SCOPE</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Every rule has a reach — that reach is its layer</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A rule is the agreement; a document is its home — one document can hold many rules. A rule's LAYER is its reach: who must obey it. That decides which document it belongs in, so the right people (and agents) inherit it.</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118872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Layer</a:t>
            </a:r>
          </a:p>
        </p:txBody>
      </p:sp>
      <p:sp>
        <p:nvSpPr>
          <p:cNvPr id="11" name="TextBox 10"/>
          <p:cNvSpPr txBox="1"/>
          <p:nvPr/>
        </p:nvSpPr>
        <p:spPr>
          <a:xfrm>
            <a:off x="2011680" y="2089404"/>
            <a:ext cx="173736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Who must obey it</a:t>
            </a:r>
          </a:p>
        </p:txBody>
      </p:sp>
      <p:sp>
        <p:nvSpPr>
          <p:cNvPr id="12" name="TextBox 11"/>
          <p:cNvSpPr txBox="1"/>
          <p:nvPr/>
        </p:nvSpPr>
        <p:spPr>
          <a:xfrm>
            <a:off x="3931920" y="2089404"/>
            <a:ext cx="228600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A real rule at this layer</a:t>
            </a:r>
          </a:p>
        </p:txBody>
      </p:sp>
      <p:sp>
        <p:nvSpPr>
          <p:cNvPr id="13" name="TextBox 12"/>
          <p:cNvSpPr txBox="1"/>
          <p:nvPr/>
        </p:nvSpPr>
        <p:spPr>
          <a:xfrm>
            <a:off x="6400800" y="2089404"/>
            <a:ext cx="210312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So the document lives…</a:t>
            </a:r>
          </a:p>
        </p:txBody>
      </p:sp>
      <p:sp>
        <p:nvSpPr>
          <p:cNvPr id="14" name="Rectangle 13"/>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77440"/>
            <a:ext cx="11887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Collective</a:t>
            </a:r>
          </a:p>
        </p:txBody>
      </p:sp>
      <p:sp>
        <p:nvSpPr>
          <p:cNvPr id="16" name="TextBox 15"/>
          <p:cNvSpPr txBox="1"/>
          <p:nvPr/>
        </p:nvSpPr>
        <p:spPr>
          <a:xfrm>
            <a:off x="2011680" y="2377440"/>
            <a:ext cx="173736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Everyone, in every repo</a:t>
            </a:r>
          </a:p>
        </p:txBody>
      </p:sp>
      <p:sp>
        <p:nvSpPr>
          <p:cNvPr id="17" name="TextBox 16"/>
          <p:cNvSpPr txBox="1"/>
          <p:nvPr/>
        </p:nvSpPr>
        <p:spPr>
          <a:xfrm>
            <a:off x="3931920" y="2377440"/>
            <a:ext cx="228600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"Never commit secrets"</a:t>
            </a:r>
          </a:p>
        </p:txBody>
      </p:sp>
      <p:sp>
        <p:nvSpPr>
          <p:cNvPr id="18" name="TextBox 17"/>
          <p:cNvSpPr txBox="1"/>
          <p:nvPr/>
        </p:nvSpPr>
        <p:spPr>
          <a:xfrm>
            <a:off x="6400800" y="2377440"/>
            <a:ext cx="210312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In an org-wide home — which does not exist yet</a:t>
            </a:r>
          </a:p>
        </p:txBody>
      </p:sp>
      <p:sp>
        <p:nvSpPr>
          <p:cNvPr id="19" name="Rectangle 18"/>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61488"/>
            <a:ext cx="11887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Project</a:t>
            </a:r>
          </a:p>
        </p:txBody>
      </p:sp>
      <p:sp>
        <p:nvSpPr>
          <p:cNvPr id="21" name="TextBox 20"/>
          <p:cNvSpPr txBox="1"/>
          <p:nvPr/>
        </p:nvSpPr>
        <p:spPr>
          <a:xfrm>
            <a:off x="2011680" y="2761488"/>
            <a:ext cx="173736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Everyone in ONE repo</a:t>
            </a:r>
          </a:p>
        </p:txBody>
      </p:sp>
      <p:sp>
        <p:nvSpPr>
          <p:cNvPr id="22" name="TextBox 21"/>
          <p:cNvSpPr txBox="1"/>
          <p:nvPr/>
        </p:nvSpPr>
        <p:spPr>
          <a:xfrm>
            <a:off x="3931920" y="2761488"/>
            <a:ext cx="228600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"Responses only via the respond.ts envelope"</a:t>
            </a:r>
          </a:p>
        </p:txBody>
      </p:sp>
      <p:sp>
        <p:nvSpPr>
          <p:cNvPr id="23" name="TextBox 22"/>
          <p:cNvSpPr txBox="1"/>
          <p:nvPr/>
        </p:nvSpPr>
        <p:spPr>
          <a:xfrm>
            <a:off x="6400800" y="2761488"/>
            <a:ext cx="210312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In this repo: CLAUDE.md, docs/adr, docs/nfr</a:t>
            </a:r>
          </a:p>
        </p:txBody>
      </p:sp>
      <p:sp>
        <p:nvSpPr>
          <p:cNvPr id="24" name="Rectangle 23"/>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145536"/>
            <a:ext cx="11887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Feature / path</a:t>
            </a:r>
          </a:p>
        </p:txBody>
      </p:sp>
      <p:sp>
        <p:nvSpPr>
          <p:cNvPr id="26" name="TextBox 25"/>
          <p:cNvSpPr txBox="1"/>
          <p:nvPr/>
        </p:nvSpPr>
        <p:spPr>
          <a:xfrm>
            <a:off x="2011680" y="3145536"/>
            <a:ext cx="173736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Only work touching certain files</a:t>
            </a:r>
          </a:p>
        </p:txBody>
      </p:sp>
      <p:sp>
        <p:nvSpPr>
          <p:cNvPr id="27" name="TextBox 26"/>
          <p:cNvSpPr txBox="1"/>
          <p:nvPr/>
        </p:nvSpPr>
        <p:spPr>
          <a:xfrm>
            <a:off x="3931920" y="3145536"/>
            <a:ext cx="228600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"Server tests MUST use makeTestDb()"</a:t>
            </a:r>
          </a:p>
        </p:txBody>
      </p:sp>
      <p:sp>
        <p:nvSpPr>
          <p:cNvPr id="28" name="TextBox 27"/>
          <p:cNvSpPr txBox="1"/>
          <p:nvPr/>
        </p:nvSpPr>
        <p:spPr>
          <a:xfrm>
            <a:off x="6400800" y="3145536"/>
            <a:ext cx="210312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In .claude/rules/testing.md — loads only on matching paths</a:t>
            </a:r>
          </a:p>
        </p:txBody>
      </p:sp>
      <p:sp>
        <p:nvSpPr>
          <p:cNvPr id="29" name="TextBox 28"/>
          <p:cNvSpPr txBox="1"/>
          <p:nvPr/>
        </p:nvSpPr>
        <p:spPr>
          <a:xfrm>
            <a:off x="548640" y="3602736"/>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Spot the mismatch: "never commit secrets" binds every repo, but it lives in THIS repo's CLAUDE.md — a Collective-reach rule parked at Project layer, because no org-wide home exists. Building that home is the sixth artifact 2.b hands your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THE ARTIFACTS</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Five types — and the question each answers</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Two acronyms spelled out once, then never again. If you can name the question, you know which document you are writing.</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1405288"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Artifact</a:t>
            </a:r>
          </a:p>
        </p:txBody>
      </p:sp>
      <p:sp>
        <p:nvSpPr>
          <p:cNvPr id="11" name="TextBox 10"/>
          <p:cNvSpPr txBox="1"/>
          <p:nvPr/>
        </p:nvSpPr>
        <p:spPr>
          <a:xfrm>
            <a:off x="2228248" y="2089404"/>
            <a:ext cx="3416968"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The question it answers</a:t>
            </a:r>
          </a:p>
        </p:txBody>
      </p:sp>
      <p:sp>
        <p:nvSpPr>
          <p:cNvPr id="12" name="TextBox 11"/>
          <p:cNvSpPr txBox="1"/>
          <p:nvPr/>
        </p:nvSpPr>
        <p:spPr>
          <a:xfrm>
            <a:off x="5828096" y="2089404"/>
            <a:ext cx="2675823"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What it is</a:t>
            </a:r>
          </a:p>
        </p:txBody>
      </p:sp>
      <p:sp>
        <p:nvSpPr>
          <p:cNvPr id="13" name="Rectangle 12"/>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77440"/>
            <a:ext cx="1405288"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CLAUDE.md</a:t>
            </a:r>
          </a:p>
        </p:txBody>
      </p:sp>
      <p:sp>
        <p:nvSpPr>
          <p:cNvPr id="15" name="TextBox 14"/>
          <p:cNvSpPr txBox="1"/>
          <p:nvPr/>
        </p:nvSpPr>
        <p:spPr>
          <a:xfrm>
            <a:off x="2228248" y="2377440"/>
            <a:ext cx="341696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What must the agent know before anything else?</a:t>
            </a:r>
          </a:p>
        </p:txBody>
      </p:sp>
      <p:sp>
        <p:nvSpPr>
          <p:cNvPr id="16" name="TextBox 15"/>
          <p:cNvSpPr txBox="1"/>
          <p:nvPr/>
        </p:nvSpPr>
        <p:spPr>
          <a:xfrm>
            <a:off x="5828096" y="2377440"/>
            <a:ext cx="2675823"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Always-loaded context + pointers</a:t>
            </a:r>
          </a:p>
        </p:txBody>
      </p:sp>
      <p:sp>
        <p:nvSpPr>
          <p:cNvPr id="17" name="Rectangle 16"/>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61488"/>
            <a:ext cx="1405288"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ADR</a:t>
            </a:r>
          </a:p>
        </p:txBody>
      </p:sp>
      <p:sp>
        <p:nvSpPr>
          <p:cNvPr id="19" name="TextBox 18"/>
          <p:cNvSpPr txBox="1"/>
          <p:nvPr/>
        </p:nvSpPr>
        <p:spPr>
          <a:xfrm>
            <a:off x="2228248" y="2761488"/>
            <a:ext cx="341696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WHY is it like this?</a:t>
            </a:r>
          </a:p>
        </p:txBody>
      </p:sp>
      <p:sp>
        <p:nvSpPr>
          <p:cNvPr id="20" name="TextBox 19"/>
          <p:cNvSpPr txBox="1"/>
          <p:nvPr/>
        </p:nvSpPr>
        <p:spPr>
          <a:xfrm>
            <a:off x="5828096" y="2761488"/>
            <a:ext cx="2675823"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Architecture Decision Record — one decision, with its cost</a:t>
            </a:r>
          </a:p>
        </p:txBody>
      </p:sp>
      <p:sp>
        <p:nvSpPr>
          <p:cNvPr id="21" name="Rectangle 20"/>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45536"/>
            <a:ext cx="1405288"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NFR</a:t>
            </a:r>
          </a:p>
        </p:txBody>
      </p:sp>
      <p:sp>
        <p:nvSpPr>
          <p:cNvPr id="23" name="TextBox 22"/>
          <p:cNvSpPr txBox="1"/>
          <p:nvPr/>
        </p:nvSpPr>
        <p:spPr>
          <a:xfrm>
            <a:off x="2228248" y="3145536"/>
            <a:ext cx="341696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What must always be TRUE — and how do we check?</a:t>
            </a:r>
          </a:p>
        </p:txBody>
      </p:sp>
      <p:sp>
        <p:nvSpPr>
          <p:cNvPr id="24" name="TextBox 23"/>
          <p:cNvSpPr txBox="1"/>
          <p:nvPr/>
        </p:nvSpPr>
        <p:spPr>
          <a:xfrm>
            <a:off x="5828096" y="3145536"/>
            <a:ext cx="2675823"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Non-Functional Requirement — a standing, testable rule</a:t>
            </a:r>
          </a:p>
        </p:txBody>
      </p:sp>
      <p:sp>
        <p:nvSpPr>
          <p:cNvPr id="25" name="Rectangle 24"/>
          <p:cNvSpPr/>
          <p:nvPr/>
        </p:nvSpPr>
        <p:spPr>
          <a:xfrm>
            <a:off x="548640" y="3474720"/>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529584"/>
            <a:ext cx="1405288"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Best-practice recipe</a:t>
            </a:r>
          </a:p>
        </p:txBody>
      </p:sp>
      <p:sp>
        <p:nvSpPr>
          <p:cNvPr id="27" name="TextBox 26"/>
          <p:cNvSpPr txBox="1"/>
          <p:nvPr/>
        </p:nvSpPr>
        <p:spPr>
          <a:xfrm>
            <a:off x="2228248" y="3529584"/>
            <a:ext cx="341696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HOW do I do X here?</a:t>
            </a:r>
          </a:p>
        </p:txBody>
      </p:sp>
      <p:sp>
        <p:nvSpPr>
          <p:cNvPr id="28" name="TextBox 27"/>
          <p:cNvSpPr txBox="1"/>
          <p:nvPr/>
        </p:nvSpPr>
        <p:spPr>
          <a:xfrm>
            <a:off x="5828096" y="3529584"/>
            <a:ext cx="2675823"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A worked procedure — "recipe" from here on</a:t>
            </a:r>
          </a:p>
        </p:txBody>
      </p:sp>
      <p:sp>
        <p:nvSpPr>
          <p:cNvPr id="29" name="Rectangle 28"/>
          <p:cNvSpPr/>
          <p:nvPr/>
        </p:nvSpPr>
        <p:spPr>
          <a:xfrm>
            <a:off x="548640" y="3858768"/>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913631"/>
            <a:ext cx="1405288"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Rules file</a:t>
            </a:r>
          </a:p>
        </p:txBody>
      </p:sp>
      <p:sp>
        <p:nvSpPr>
          <p:cNvPr id="31" name="TextBox 30"/>
          <p:cNvSpPr txBox="1"/>
          <p:nvPr/>
        </p:nvSpPr>
        <p:spPr>
          <a:xfrm>
            <a:off x="2228248" y="3913631"/>
            <a:ext cx="341696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What applies ONLY in these files?</a:t>
            </a:r>
          </a:p>
        </p:txBody>
      </p:sp>
      <p:sp>
        <p:nvSpPr>
          <p:cNvPr id="32" name="TextBox 31"/>
          <p:cNvSpPr txBox="1"/>
          <p:nvPr/>
        </p:nvSpPr>
        <p:spPr>
          <a:xfrm>
            <a:off x="5828096" y="3913631"/>
            <a:ext cx="2675823"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Path-scoped context (.claude/rules/)</a:t>
            </a:r>
          </a:p>
        </p:txBody>
      </p:sp>
      <p:sp>
        <p:nvSpPr>
          <p:cNvPr id="33" name="TextBox 32"/>
          <p:cNvSpPr txBox="1"/>
          <p:nvPr/>
        </p:nvSpPr>
        <p:spPr>
          <a:xfrm>
            <a:off x="548640" y="4315968"/>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The pair people conflate — NFR vs recipe: an NFR BINDS (what must be true, checkable; a deviation is a defect). A recipe GUIDES (the recommended route there; deviate freely, so long as the NFRs still hold).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DIFFERENTIATION</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One subject, five artifacts</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This repo has a real rule: only repositories/ may import db/store.ts. Here is what each artifact says about that same subject.</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109728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Artifact</a:t>
            </a:r>
          </a:p>
        </p:txBody>
      </p:sp>
      <p:sp>
        <p:nvSpPr>
          <p:cNvPr id="11" name="TextBox 10"/>
          <p:cNvSpPr txBox="1"/>
          <p:nvPr/>
        </p:nvSpPr>
        <p:spPr>
          <a:xfrm>
            <a:off x="1920240" y="2089404"/>
            <a:ext cx="658368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What it says about the repository boundary</a:t>
            </a:r>
          </a:p>
        </p:txBody>
      </p:sp>
      <p:sp>
        <p:nvSpPr>
          <p:cNvPr id="12" name="Rectangle 11"/>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10972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CLAUDE.md</a:t>
            </a:r>
          </a:p>
        </p:txBody>
      </p:sp>
      <p:sp>
        <p:nvSpPr>
          <p:cNvPr id="14" name="TextBox 13"/>
          <p:cNvSpPr txBox="1"/>
          <p:nvPr/>
        </p:nvSpPr>
        <p:spPr>
          <a:xfrm>
            <a:off x="1920240" y="2377440"/>
            <a:ext cx="65836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The real line, verbatim: "Don't: access db.json outside server/src/repositories/". Always loaded, no rationale</a:t>
            </a:r>
          </a:p>
        </p:txBody>
      </p:sp>
      <p:sp>
        <p:nvSpPr>
          <p:cNvPr id="15" name="Rectangle 14"/>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761488"/>
            <a:ext cx="10972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ADR</a:t>
            </a:r>
          </a:p>
        </p:txBody>
      </p:sp>
      <p:sp>
        <p:nvSpPr>
          <p:cNvPr id="17" name="TextBox 16"/>
          <p:cNvSpPr txBox="1"/>
          <p:nvPr/>
        </p:nvSpPr>
        <p:spPr>
          <a:xfrm>
            <a:off x="1920240" y="2761488"/>
            <a:ext cx="65836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Why a repository layer was chosen, what else was considered, what it costs. Written once</a:t>
            </a:r>
          </a:p>
        </p:txBody>
      </p:sp>
      <p:sp>
        <p:nvSpPr>
          <p:cNvPr id="18" name="Rectangle 17"/>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45536"/>
            <a:ext cx="10972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NFR</a:t>
            </a:r>
          </a:p>
        </p:txBody>
      </p:sp>
      <p:sp>
        <p:nvSpPr>
          <p:cNvPr id="20" name="TextBox 19"/>
          <p:cNvSpPr txBox="1"/>
          <p:nvPr/>
        </p:nvSpPr>
        <p:spPr>
          <a:xfrm>
            <a:off x="1920240" y="3145536"/>
            <a:ext cx="65836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The rule as a standing requirement — plus how compliance is checked</a:t>
            </a:r>
          </a:p>
        </p:txBody>
      </p:sp>
      <p:sp>
        <p:nvSpPr>
          <p:cNvPr id="21" name="Rectangle 20"/>
          <p:cNvSpPr/>
          <p:nvPr/>
        </p:nvSpPr>
        <p:spPr>
          <a:xfrm>
            <a:off x="548640" y="3474720"/>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529584"/>
            <a:ext cx="10972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Recipe</a:t>
            </a:r>
          </a:p>
        </p:txBody>
      </p:sp>
      <p:sp>
        <p:nvSpPr>
          <p:cNvPr id="23" name="TextBox 22"/>
          <p:cNvSpPr txBox="1"/>
          <p:nvPr/>
        </p:nvSpPr>
        <p:spPr>
          <a:xfrm>
            <a:off x="1920240" y="3529584"/>
            <a:ext cx="65836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docs/best-practices/adding-a-resource.md — the steps for adding a resource within that boundary</a:t>
            </a:r>
          </a:p>
        </p:txBody>
      </p:sp>
      <p:sp>
        <p:nvSpPr>
          <p:cNvPr id="24" name="Rectangle 23"/>
          <p:cNvSpPr/>
          <p:nvPr/>
        </p:nvSpPr>
        <p:spPr>
          <a:xfrm>
            <a:off x="548640" y="3858768"/>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913631"/>
            <a:ext cx="10972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Rules file</a:t>
            </a:r>
          </a:p>
        </p:txBody>
      </p:sp>
      <p:sp>
        <p:nvSpPr>
          <p:cNvPr id="26" name="TextBox 25"/>
          <p:cNvSpPr txBox="1"/>
          <p:nvPr/>
        </p:nvSpPr>
        <p:spPr>
          <a:xfrm>
            <a:off x="1920240" y="3913631"/>
            <a:ext cx="65836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Guidance that loads only when you are in the files it applies to</a:t>
            </a:r>
          </a:p>
        </p:txBody>
      </p:sp>
      <p:sp>
        <p:nvSpPr>
          <p:cNvPr id="27" name="TextBox 26"/>
          <p:cNvSpPr txBox="1"/>
          <p:nvPr/>
        </p:nvSpPr>
        <p:spPr>
          <a:xfrm>
            <a:off x="548640" y="4315968"/>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None of them is redundant. ADR = history. NFR = law. Recipe = procedure. CLAUDE.md = index. Rules file = context that arrives just in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DIFFERENTIATION</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Telling them apart when it is unclear</a:t>
            </a:r>
          </a:p>
        </p:txBody>
      </p:sp>
      <p:sp>
        <p:nvSpPr>
          <p:cNvPr id="7" name="TextBox 6"/>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8" name="Rectangle 7"/>
          <p:cNvSpPr/>
          <p:nvPr/>
        </p:nvSpPr>
        <p:spPr>
          <a:xfrm>
            <a:off x="548640" y="169164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69364"/>
            <a:ext cx="932026"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
            </a:r>
          </a:p>
        </p:txBody>
      </p:sp>
      <p:sp>
        <p:nvSpPr>
          <p:cNvPr id="10" name="TextBox 9"/>
          <p:cNvSpPr txBox="1"/>
          <p:nvPr/>
        </p:nvSpPr>
        <p:spPr>
          <a:xfrm>
            <a:off x="1754986" y="1769364"/>
            <a:ext cx="1271346"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CLAUDE.md</a:t>
            </a:r>
          </a:p>
        </p:txBody>
      </p:sp>
      <p:sp>
        <p:nvSpPr>
          <p:cNvPr id="11" name="TextBox 10"/>
          <p:cNvSpPr txBox="1"/>
          <p:nvPr/>
        </p:nvSpPr>
        <p:spPr>
          <a:xfrm>
            <a:off x="3209213" y="1769364"/>
            <a:ext cx="1174398"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Rules file</a:t>
            </a:r>
          </a:p>
        </p:txBody>
      </p:sp>
      <p:sp>
        <p:nvSpPr>
          <p:cNvPr id="12" name="TextBox 11"/>
          <p:cNvSpPr txBox="1"/>
          <p:nvPr/>
        </p:nvSpPr>
        <p:spPr>
          <a:xfrm>
            <a:off x="4566491" y="1769364"/>
            <a:ext cx="1271346"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ADR</a:t>
            </a:r>
          </a:p>
        </p:txBody>
      </p:sp>
      <p:sp>
        <p:nvSpPr>
          <p:cNvPr id="13" name="TextBox 12"/>
          <p:cNvSpPr txBox="1"/>
          <p:nvPr/>
        </p:nvSpPr>
        <p:spPr>
          <a:xfrm>
            <a:off x="6020718" y="1769364"/>
            <a:ext cx="1368294"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NFR</a:t>
            </a:r>
          </a:p>
        </p:txBody>
      </p:sp>
      <p:sp>
        <p:nvSpPr>
          <p:cNvPr id="14" name="TextBox 13"/>
          <p:cNvSpPr txBox="1"/>
          <p:nvPr/>
        </p:nvSpPr>
        <p:spPr>
          <a:xfrm>
            <a:off x="7571893" y="1769364"/>
            <a:ext cx="932026"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Recipe</a:t>
            </a:r>
          </a:p>
        </p:txBody>
      </p:sp>
      <p:sp>
        <p:nvSpPr>
          <p:cNvPr id="15" name="Rectangle 14"/>
          <p:cNvSpPr/>
          <p:nvPr/>
        </p:nvSpPr>
        <p:spPr>
          <a:xfrm>
            <a:off x="548640" y="200253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057400"/>
            <a:ext cx="932026" cy="292607"/>
          </a:xfrm>
          <a:prstGeom prst="rect">
            <a:avLst/>
          </a:prstGeom>
          <a:noFill/>
        </p:spPr>
        <p:txBody>
          <a:bodyPr wrap="square" anchor="t" lIns="0" rIns="0" tIns="0" bIns="0">
            <a:spAutoFit/>
          </a:bodyPr>
          <a:lstStyle/>
          <a:p>
            <a:pPr algn="l">
              <a:lnSpc>
                <a:spcPct val="112000"/>
              </a:lnSpc>
              <a:spcAft>
                <a:spcPts val="400"/>
              </a:spcAft>
            </a:pPr>
            <a:r>
              <a:rPr sz="800" b="1">
                <a:solidFill>
                  <a:srgbClr val="13135E"/>
                </a:solidFill>
                <a:latin typeface="Arial"/>
              </a:rPr>
              <a:t>Answers</a:t>
            </a:r>
          </a:p>
        </p:txBody>
      </p:sp>
      <p:sp>
        <p:nvSpPr>
          <p:cNvPr id="17" name="TextBox 16"/>
          <p:cNvSpPr txBox="1"/>
          <p:nvPr/>
        </p:nvSpPr>
        <p:spPr>
          <a:xfrm>
            <a:off x="1754986" y="2057400"/>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What to know first</a:t>
            </a:r>
          </a:p>
        </p:txBody>
      </p:sp>
      <p:sp>
        <p:nvSpPr>
          <p:cNvPr id="18" name="TextBox 17"/>
          <p:cNvSpPr txBox="1"/>
          <p:nvPr/>
        </p:nvSpPr>
        <p:spPr>
          <a:xfrm>
            <a:off x="3209213" y="2057400"/>
            <a:ext cx="1174398"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What applies here</a:t>
            </a:r>
          </a:p>
        </p:txBody>
      </p:sp>
      <p:sp>
        <p:nvSpPr>
          <p:cNvPr id="19" name="TextBox 18"/>
          <p:cNvSpPr txBox="1"/>
          <p:nvPr/>
        </p:nvSpPr>
        <p:spPr>
          <a:xfrm>
            <a:off x="4566491" y="2057400"/>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Why</a:t>
            </a:r>
          </a:p>
        </p:txBody>
      </p:sp>
      <p:sp>
        <p:nvSpPr>
          <p:cNvPr id="20" name="TextBox 19"/>
          <p:cNvSpPr txBox="1"/>
          <p:nvPr/>
        </p:nvSpPr>
        <p:spPr>
          <a:xfrm>
            <a:off x="6020718" y="2057400"/>
            <a:ext cx="1368294"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What must hold</a:t>
            </a:r>
          </a:p>
        </p:txBody>
      </p:sp>
      <p:sp>
        <p:nvSpPr>
          <p:cNvPr id="21" name="TextBox 20"/>
          <p:cNvSpPr txBox="1"/>
          <p:nvPr/>
        </p:nvSpPr>
        <p:spPr>
          <a:xfrm>
            <a:off x="7571893" y="2057400"/>
            <a:ext cx="93202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How</a:t>
            </a:r>
          </a:p>
        </p:txBody>
      </p:sp>
      <p:sp>
        <p:nvSpPr>
          <p:cNvPr id="22" name="Rectangle 21"/>
          <p:cNvSpPr/>
          <p:nvPr/>
        </p:nvSpPr>
        <p:spPr>
          <a:xfrm>
            <a:off x="548640" y="238658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441448"/>
            <a:ext cx="932026" cy="292607"/>
          </a:xfrm>
          <a:prstGeom prst="rect">
            <a:avLst/>
          </a:prstGeom>
          <a:noFill/>
        </p:spPr>
        <p:txBody>
          <a:bodyPr wrap="square" anchor="t" lIns="0" rIns="0" tIns="0" bIns="0">
            <a:spAutoFit/>
          </a:bodyPr>
          <a:lstStyle/>
          <a:p>
            <a:pPr algn="l">
              <a:lnSpc>
                <a:spcPct val="112000"/>
              </a:lnSpc>
              <a:spcAft>
                <a:spcPts val="400"/>
              </a:spcAft>
            </a:pPr>
            <a:r>
              <a:rPr sz="800" b="1">
                <a:solidFill>
                  <a:srgbClr val="13135E"/>
                </a:solidFill>
                <a:latin typeface="Arial"/>
              </a:rPr>
              <a:t>Tense</a:t>
            </a:r>
          </a:p>
        </p:txBody>
      </p:sp>
      <p:sp>
        <p:nvSpPr>
          <p:cNvPr id="24" name="TextBox 23"/>
          <p:cNvSpPr txBox="1"/>
          <p:nvPr/>
        </p:nvSpPr>
        <p:spPr>
          <a:xfrm>
            <a:off x="1754986" y="2441448"/>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Present, standing</a:t>
            </a:r>
          </a:p>
        </p:txBody>
      </p:sp>
      <p:sp>
        <p:nvSpPr>
          <p:cNvPr id="25" name="TextBox 24"/>
          <p:cNvSpPr txBox="1"/>
          <p:nvPr/>
        </p:nvSpPr>
        <p:spPr>
          <a:xfrm>
            <a:off x="3209213" y="2441448"/>
            <a:ext cx="1174398"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Present, scoped</a:t>
            </a:r>
          </a:p>
        </p:txBody>
      </p:sp>
      <p:sp>
        <p:nvSpPr>
          <p:cNvPr id="26" name="TextBox 25"/>
          <p:cNvSpPr txBox="1"/>
          <p:nvPr/>
        </p:nvSpPr>
        <p:spPr>
          <a:xfrm>
            <a:off x="4566491" y="2441448"/>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Past — a choice made</a:t>
            </a:r>
          </a:p>
        </p:txBody>
      </p:sp>
      <p:sp>
        <p:nvSpPr>
          <p:cNvPr id="27" name="TextBox 26"/>
          <p:cNvSpPr txBox="1"/>
          <p:nvPr/>
        </p:nvSpPr>
        <p:spPr>
          <a:xfrm>
            <a:off x="6020718" y="2441448"/>
            <a:ext cx="1368294"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Present — holds now</a:t>
            </a:r>
          </a:p>
        </p:txBody>
      </p:sp>
      <p:sp>
        <p:nvSpPr>
          <p:cNvPr id="28" name="TextBox 27"/>
          <p:cNvSpPr txBox="1"/>
          <p:nvPr/>
        </p:nvSpPr>
        <p:spPr>
          <a:xfrm>
            <a:off x="7571893" y="2441448"/>
            <a:ext cx="93202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Imperative</a:t>
            </a:r>
          </a:p>
        </p:txBody>
      </p:sp>
      <p:sp>
        <p:nvSpPr>
          <p:cNvPr id="29" name="Rectangle 28"/>
          <p:cNvSpPr/>
          <p:nvPr/>
        </p:nvSpPr>
        <p:spPr>
          <a:xfrm>
            <a:off x="548640" y="277063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2825496"/>
            <a:ext cx="932026" cy="292607"/>
          </a:xfrm>
          <a:prstGeom prst="rect">
            <a:avLst/>
          </a:prstGeom>
          <a:noFill/>
        </p:spPr>
        <p:txBody>
          <a:bodyPr wrap="square" anchor="t" lIns="0" rIns="0" tIns="0" bIns="0">
            <a:spAutoFit/>
          </a:bodyPr>
          <a:lstStyle/>
          <a:p>
            <a:pPr algn="l">
              <a:lnSpc>
                <a:spcPct val="112000"/>
              </a:lnSpc>
              <a:spcAft>
                <a:spcPts val="400"/>
              </a:spcAft>
            </a:pPr>
            <a:r>
              <a:rPr sz="800" b="1">
                <a:solidFill>
                  <a:srgbClr val="13135E"/>
                </a:solidFill>
                <a:latin typeface="Arial"/>
              </a:rPr>
              <a:t>Lifecycle</a:t>
            </a:r>
          </a:p>
        </p:txBody>
      </p:sp>
      <p:sp>
        <p:nvSpPr>
          <p:cNvPr id="31" name="TextBox 30"/>
          <p:cNvSpPr txBox="1"/>
          <p:nvPr/>
        </p:nvSpPr>
        <p:spPr>
          <a:xfrm>
            <a:off x="1754986" y="2825496"/>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Revised continuously</a:t>
            </a:r>
          </a:p>
        </p:txBody>
      </p:sp>
      <p:sp>
        <p:nvSpPr>
          <p:cNvPr id="32" name="TextBox 31"/>
          <p:cNvSpPr txBox="1"/>
          <p:nvPr/>
        </p:nvSpPr>
        <p:spPr>
          <a:xfrm>
            <a:off x="3209213" y="2825496"/>
            <a:ext cx="1174398"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Revised in place</a:t>
            </a:r>
          </a:p>
        </p:txBody>
      </p:sp>
      <p:sp>
        <p:nvSpPr>
          <p:cNvPr id="33" name="TextBox 32"/>
          <p:cNvSpPr txBox="1"/>
          <p:nvPr/>
        </p:nvSpPr>
        <p:spPr>
          <a:xfrm>
            <a:off x="4566491" y="2825496"/>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Superseded, never edited</a:t>
            </a:r>
          </a:p>
        </p:txBody>
      </p:sp>
      <p:sp>
        <p:nvSpPr>
          <p:cNvPr id="34" name="TextBox 33"/>
          <p:cNvSpPr txBox="1"/>
          <p:nvPr/>
        </p:nvSpPr>
        <p:spPr>
          <a:xfrm>
            <a:off x="6020718" y="2825496"/>
            <a:ext cx="1368294"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Revised in place</a:t>
            </a:r>
          </a:p>
        </p:txBody>
      </p:sp>
      <p:sp>
        <p:nvSpPr>
          <p:cNvPr id="35" name="TextBox 34"/>
          <p:cNvSpPr txBox="1"/>
          <p:nvPr/>
        </p:nvSpPr>
        <p:spPr>
          <a:xfrm>
            <a:off x="7571893" y="2825496"/>
            <a:ext cx="93202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Updated freely</a:t>
            </a:r>
          </a:p>
        </p:txBody>
      </p:sp>
      <p:sp>
        <p:nvSpPr>
          <p:cNvPr id="36" name="Rectangle 35"/>
          <p:cNvSpPr/>
          <p:nvPr/>
        </p:nvSpPr>
        <p:spPr>
          <a:xfrm>
            <a:off x="548640" y="3154679"/>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3209544"/>
            <a:ext cx="932026" cy="292607"/>
          </a:xfrm>
          <a:prstGeom prst="rect">
            <a:avLst/>
          </a:prstGeom>
          <a:noFill/>
        </p:spPr>
        <p:txBody>
          <a:bodyPr wrap="square" anchor="t" lIns="0" rIns="0" tIns="0" bIns="0">
            <a:spAutoFit/>
          </a:bodyPr>
          <a:lstStyle/>
          <a:p>
            <a:pPr algn="l">
              <a:lnSpc>
                <a:spcPct val="112000"/>
              </a:lnSpc>
              <a:spcAft>
                <a:spcPts val="400"/>
              </a:spcAft>
            </a:pPr>
            <a:r>
              <a:rPr sz="800" b="1">
                <a:solidFill>
                  <a:srgbClr val="13135E"/>
                </a:solidFill>
                <a:latin typeface="Arial"/>
              </a:rPr>
              <a:t>Carries a check?</a:t>
            </a:r>
          </a:p>
        </p:txBody>
      </p:sp>
      <p:sp>
        <p:nvSpPr>
          <p:cNvPr id="38" name="TextBox 37"/>
          <p:cNvSpPr txBox="1"/>
          <p:nvPr/>
        </p:nvSpPr>
        <p:spPr>
          <a:xfrm>
            <a:off x="1754986" y="3209544"/>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No</a:t>
            </a:r>
          </a:p>
        </p:txBody>
      </p:sp>
      <p:sp>
        <p:nvSpPr>
          <p:cNvPr id="39" name="TextBox 38"/>
          <p:cNvSpPr txBox="1"/>
          <p:nvPr/>
        </p:nvSpPr>
        <p:spPr>
          <a:xfrm>
            <a:off x="3209213" y="3209544"/>
            <a:ext cx="1174398"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No</a:t>
            </a:r>
          </a:p>
        </p:txBody>
      </p:sp>
      <p:sp>
        <p:nvSpPr>
          <p:cNvPr id="40" name="TextBox 39"/>
          <p:cNvSpPr txBox="1"/>
          <p:nvPr/>
        </p:nvSpPr>
        <p:spPr>
          <a:xfrm>
            <a:off x="4566491" y="3209544"/>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No</a:t>
            </a:r>
          </a:p>
        </p:txBody>
      </p:sp>
      <p:sp>
        <p:nvSpPr>
          <p:cNvPr id="41" name="TextBox 40"/>
          <p:cNvSpPr txBox="1"/>
          <p:nvPr/>
        </p:nvSpPr>
        <p:spPr>
          <a:xfrm>
            <a:off x="6020718" y="3209544"/>
            <a:ext cx="1368294" cy="292607"/>
          </a:xfrm>
          <a:prstGeom prst="rect">
            <a:avLst/>
          </a:prstGeom>
          <a:noFill/>
        </p:spPr>
        <p:txBody>
          <a:bodyPr wrap="square" anchor="t" lIns="0" rIns="0" tIns="0" bIns="0">
            <a:spAutoFit/>
          </a:bodyPr>
          <a:lstStyle/>
          <a:p>
            <a:pPr algn="l">
              <a:lnSpc>
                <a:spcPct val="112000"/>
              </a:lnSpc>
              <a:spcAft>
                <a:spcPts val="400"/>
              </a:spcAft>
            </a:pPr>
            <a:r>
              <a:rPr sz="800" b="1">
                <a:solidFill>
                  <a:srgbClr val="1B7F4B"/>
                </a:solidFill>
                <a:latin typeface="Arial"/>
              </a:rPr>
              <a:t>YES — that is why</a:t>
            </a:r>
          </a:p>
        </p:txBody>
      </p:sp>
      <p:sp>
        <p:nvSpPr>
          <p:cNvPr id="42" name="TextBox 41"/>
          <p:cNvSpPr txBox="1"/>
          <p:nvPr/>
        </p:nvSpPr>
        <p:spPr>
          <a:xfrm>
            <a:off x="7571893" y="3209544"/>
            <a:ext cx="93202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No</a:t>
            </a:r>
          </a:p>
        </p:txBody>
      </p:sp>
      <p:sp>
        <p:nvSpPr>
          <p:cNvPr id="43" name="Rectangle 42"/>
          <p:cNvSpPr/>
          <p:nvPr/>
        </p:nvSpPr>
        <p:spPr>
          <a:xfrm>
            <a:off x="548640" y="3538727"/>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3593591"/>
            <a:ext cx="932026" cy="292607"/>
          </a:xfrm>
          <a:prstGeom prst="rect">
            <a:avLst/>
          </a:prstGeom>
          <a:noFill/>
        </p:spPr>
        <p:txBody>
          <a:bodyPr wrap="square" anchor="t" lIns="0" rIns="0" tIns="0" bIns="0">
            <a:spAutoFit/>
          </a:bodyPr>
          <a:lstStyle/>
          <a:p>
            <a:pPr algn="l">
              <a:lnSpc>
                <a:spcPct val="112000"/>
              </a:lnSpc>
              <a:spcAft>
                <a:spcPts val="400"/>
              </a:spcAft>
            </a:pPr>
            <a:r>
              <a:rPr sz="800" b="1">
                <a:solidFill>
                  <a:srgbClr val="13135E"/>
                </a:solidFill>
                <a:latin typeface="Arial"/>
              </a:rPr>
              <a:t>When it loads</a:t>
            </a:r>
          </a:p>
        </p:txBody>
      </p:sp>
      <p:sp>
        <p:nvSpPr>
          <p:cNvPr id="45" name="TextBox 44"/>
          <p:cNvSpPr txBox="1"/>
          <p:nvPr/>
        </p:nvSpPr>
        <p:spPr>
          <a:xfrm>
            <a:off x="1754986" y="3593591"/>
            <a:ext cx="1271346" cy="292607"/>
          </a:xfrm>
          <a:prstGeom prst="rect">
            <a:avLst/>
          </a:prstGeom>
          <a:noFill/>
        </p:spPr>
        <p:txBody>
          <a:bodyPr wrap="square" anchor="t" lIns="0" rIns="0" tIns="0" bIns="0">
            <a:spAutoFit/>
          </a:bodyPr>
          <a:lstStyle/>
          <a:p>
            <a:pPr algn="l">
              <a:lnSpc>
                <a:spcPct val="112000"/>
              </a:lnSpc>
              <a:spcAft>
                <a:spcPts val="400"/>
              </a:spcAft>
            </a:pPr>
            <a:r>
              <a:rPr sz="800" b="1">
                <a:solidFill>
                  <a:srgbClr val="403FE8"/>
                </a:solidFill>
                <a:latin typeface="Arial"/>
              </a:rPr>
              <a:t>ALWAYS</a:t>
            </a:r>
          </a:p>
        </p:txBody>
      </p:sp>
      <p:sp>
        <p:nvSpPr>
          <p:cNvPr id="46" name="TextBox 45"/>
          <p:cNvSpPr txBox="1"/>
          <p:nvPr/>
        </p:nvSpPr>
        <p:spPr>
          <a:xfrm>
            <a:off x="3209213" y="3593591"/>
            <a:ext cx="1174398"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On matching paths</a:t>
            </a:r>
          </a:p>
        </p:txBody>
      </p:sp>
      <p:sp>
        <p:nvSpPr>
          <p:cNvPr id="47" name="TextBox 46"/>
          <p:cNvSpPr txBox="1"/>
          <p:nvPr/>
        </p:nvSpPr>
        <p:spPr>
          <a:xfrm>
            <a:off x="4566491" y="3593591"/>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On demand, via a trigger</a:t>
            </a:r>
          </a:p>
        </p:txBody>
      </p:sp>
      <p:sp>
        <p:nvSpPr>
          <p:cNvPr id="48" name="TextBox 47"/>
          <p:cNvSpPr txBox="1"/>
          <p:nvPr/>
        </p:nvSpPr>
        <p:spPr>
          <a:xfrm>
            <a:off x="6020718" y="3593591"/>
            <a:ext cx="1368294"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On demand + binding line</a:t>
            </a:r>
          </a:p>
        </p:txBody>
      </p:sp>
      <p:sp>
        <p:nvSpPr>
          <p:cNvPr id="49" name="TextBox 48"/>
          <p:cNvSpPr txBox="1"/>
          <p:nvPr/>
        </p:nvSpPr>
        <p:spPr>
          <a:xfrm>
            <a:off x="7571893" y="3593591"/>
            <a:ext cx="93202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On demand, via a trigger</a:t>
            </a:r>
          </a:p>
        </p:txBody>
      </p:sp>
      <p:sp>
        <p:nvSpPr>
          <p:cNvPr id="50" name="Rectangle 49"/>
          <p:cNvSpPr/>
          <p:nvPr/>
        </p:nvSpPr>
        <p:spPr>
          <a:xfrm>
            <a:off x="548640" y="3922776"/>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3977639"/>
            <a:ext cx="932026" cy="292607"/>
          </a:xfrm>
          <a:prstGeom prst="rect">
            <a:avLst/>
          </a:prstGeom>
          <a:noFill/>
        </p:spPr>
        <p:txBody>
          <a:bodyPr wrap="square" anchor="t" lIns="0" rIns="0" tIns="0" bIns="0">
            <a:spAutoFit/>
          </a:bodyPr>
          <a:lstStyle/>
          <a:p>
            <a:pPr algn="l">
              <a:lnSpc>
                <a:spcPct val="112000"/>
              </a:lnSpc>
              <a:spcAft>
                <a:spcPts val="400"/>
              </a:spcAft>
            </a:pPr>
            <a:r>
              <a:rPr sz="800" b="1">
                <a:solidFill>
                  <a:srgbClr val="13135E"/>
                </a:solidFill>
                <a:latin typeface="Arial"/>
              </a:rPr>
              <a:t>Lose it and…</a:t>
            </a:r>
          </a:p>
        </p:txBody>
      </p:sp>
      <p:sp>
        <p:nvSpPr>
          <p:cNvPr id="52" name="TextBox 51"/>
          <p:cNvSpPr txBox="1"/>
          <p:nvPr/>
        </p:nvSpPr>
        <p:spPr>
          <a:xfrm>
            <a:off x="1754986" y="3977639"/>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The agent is unoriented</a:t>
            </a:r>
          </a:p>
        </p:txBody>
      </p:sp>
      <p:sp>
        <p:nvSpPr>
          <p:cNvPr id="53" name="TextBox 52"/>
          <p:cNvSpPr txBox="1"/>
          <p:nvPr/>
        </p:nvSpPr>
        <p:spPr>
          <a:xfrm>
            <a:off x="3209213" y="3977639"/>
            <a:ext cx="1174398"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Guidance stops arriving</a:t>
            </a:r>
          </a:p>
        </p:txBody>
      </p:sp>
      <p:sp>
        <p:nvSpPr>
          <p:cNvPr id="54" name="TextBox 53"/>
          <p:cNvSpPr txBox="1"/>
          <p:nvPr/>
        </p:nvSpPr>
        <p:spPr>
          <a:xfrm>
            <a:off x="4566491" y="3977639"/>
            <a:ext cx="127134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You lose the why</a:t>
            </a:r>
          </a:p>
        </p:txBody>
      </p:sp>
      <p:sp>
        <p:nvSpPr>
          <p:cNvPr id="55" name="TextBox 54"/>
          <p:cNvSpPr txBox="1"/>
          <p:nvPr/>
        </p:nvSpPr>
        <p:spPr>
          <a:xfrm>
            <a:off x="6020718" y="3977639"/>
            <a:ext cx="1368294"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You lose the rule</a:t>
            </a:r>
          </a:p>
        </p:txBody>
      </p:sp>
      <p:sp>
        <p:nvSpPr>
          <p:cNvPr id="56" name="TextBox 55"/>
          <p:cNvSpPr txBox="1"/>
          <p:nvPr/>
        </p:nvSpPr>
        <p:spPr>
          <a:xfrm>
            <a:off x="7571893" y="3977639"/>
            <a:ext cx="932026" cy="292607"/>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Arial"/>
              </a:rPr>
              <a:t>You lose the how</a:t>
            </a:r>
          </a:p>
        </p:txBody>
      </p:sp>
      <p:sp>
        <p:nvSpPr>
          <p:cNvPr id="57" name="TextBox 56"/>
          <p:cNvSpPr txBox="1"/>
          <p:nvPr/>
        </p:nvSpPr>
        <p:spPr>
          <a:xfrm>
            <a:off x="548640" y="4315968"/>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Quick test: one-time choice → ADR · always-holds + checkable → NFR · steps → recipe · every session → CLAUDE.md · some files → rules file. One home per fact: duplicates drift — hence CLAUDE.md holds a trigger table, not the docs' contents.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CLAUDE.MD</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How big should it get?</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scaling answer, because "keep it short" stops being useful advice at some point. The trigger table is Lab 1's lazy loading, systematized: pointer = the lazy load, trigger = when it fires.</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2011680"/>
            <a:ext cx="3703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THE HONEST ANSWER</a:t>
            </a:r>
          </a:p>
        </p:txBody>
      </p:sp>
      <p:sp>
        <p:nvSpPr>
          <p:cNvPr id="10" name="TextBox 9"/>
          <p:cNvSpPr txBox="1"/>
          <p:nvPr/>
        </p:nvSpPr>
        <p:spPr>
          <a:xfrm>
            <a:off x="548640" y="2377440"/>
            <a:ext cx="3703320" cy="2249424"/>
          </a:xfrm>
          <a:prstGeom prst="rect">
            <a:avLst/>
          </a:prstGeom>
          <a:noFill/>
        </p:spPr>
        <p:txBody>
          <a:bodyPr wrap="square" anchor="t" lIns="0" rIns="0" tIns="0" bIns="0">
            <a:spAutoFit/>
          </a:bodyPr>
          <a:lstStyle/>
          <a:p>
            <a:pPr algn="l">
              <a:lnSpc>
                <a:spcPct val="120000"/>
              </a:lnSpc>
              <a:spcAft>
                <a:spcPts val="800"/>
              </a:spcAft>
            </a:pPr>
            <a:r>
              <a:rPr sz="1100" b="1">
                <a:solidFill>
                  <a:srgbClr val="A9B7F7"/>
                </a:solidFill>
                <a:latin typeface="Arial"/>
              </a:rPr>
              <a:t>•  </a:t>
            </a:r>
            <a:r>
              <a:rPr sz="1100" b="0">
                <a:solidFill>
                  <a:srgbClr val="434343"/>
                </a:solidFill>
                <a:latin typeface="Arial"/>
              </a:rPr>
              <a:t>Lab 1.a said 100–200 lines. Right — to start.</a:t>
            </a:r>
          </a:p>
          <a:p>
            <a:pPr algn="l">
              <a:lnSpc>
                <a:spcPct val="120000"/>
              </a:lnSpc>
              <a:spcAft>
                <a:spcPts val="800"/>
              </a:spcAft>
            </a:pPr>
            <a:r>
              <a:rPr sz="1100" b="1">
                <a:solidFill>
                  <a:srgbClr val="A9B7F7"/>
                </a:solidFill>
                <a:latin typeface="Arial"/>
              </a:rPr>
              <a:t>•  </a:t>
            </a:r>
            <a:r>
              <a:rPr sz="1100" b="0">
                <a:solidFill>
                  <a:srgbClr val="434343"/>
                </a:solidFill>
                <a:latin typeface="Arial"/>
              </a:rPr>
              <a:t>Past that, do not grow the file. Add a trigger row.</a:t>
            </a:r>
          </a:p>
          <a:p>
            <a:pPr algn="l">
              <a:lnSpc>
                <a:spcPct val="120000"/>
              </a:lnSpc>
              <a:spcAft>
                <a:spcPts val="800"/>
              </a:spcAft>
            </a:pPr>
            <a:r>
              <a:rPr sz="1100" b="1">
                <a:solidFill>
                  <a:srgbClr val="A9B7F7"/>
                </a:solidFill>
                <a:latin typeface="Arial"/>
              </a:rPr>
              <a:t>•  </a:t>
            </a:r>
            <a:r>
              <a:rPr sz="1100" b="0">
                <a:solidFill>
                  <a:srgbClr val="434343"/>
                </a:solidFill>
                <a:latin typeface="Arial"/>
              </a:rPr>
              <a:t>The table is the mechanism: always-loaded index, on-demand detail.</a:t>
            </a:r>
          </a:p>
          <a:p>
            <a:pPr algn="l">
              <a:lnSpc>
                <a:spcPct val="120000"/>
              </a:lnSpc>
              <a:spcAft>
                <a:spcPts val="800"/>
              </a:spcAft>
            </a:pPr>
            <a:r>
              <a:rPr sz="1100" b="1">
                <a:solidFill>
                  <a:srgbClr val="A9B7F7"/>
                </a:solidFill>
                <a:latin typeface="Arial"/>
              </a:rPr>
              <a:t>•  </a:t>
            </a:r>
            <a:r>
              <a:rPr sz="1100" b="0">
                <a:solidFill>
                  <a:srgbClr val="434343"/>
                </a:solidFill>
                <a:latin typeface="Arial"/>
              </a:rPr>
              <a:t>Dozens of docs later, copies drift: keep ONE home and let agents query it on demand.</a:t>
            </a:r>
          </a:p>
        </p:txBody>
      </p:sp>
      <p:sp>
        <p:nvSpPr>
          <p:cNvPr id="11" name="Rectangle 10"/>
          <p:cNvSpPr/>
          <p:nvPr/>
        </p:nvSpPr>
        <p:spPr>
          <a:xfrm>
            <a:off x="4572000" y="2011680"/>
            <a:ext cx="4023360" cy="2706624"/>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011680"/>
            <a:ext cx="41148" cy="270662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139696"/>
            <a:ext cx="3657600" cy="219456"/>
          </a:xfrm>
          <a:prstGeom prst="rect">
            <a:avLst/>
          </a:prstGeom>
          <a:noFill/>
        </p:spPr>
        <p:txBody>
          <a:bodyPr wrap="square" anchor="t" lIns="0" rIns="0" tIns="0" bIns="0">
            <a:spAutoFit/>
          </a:bodyPr>
          <a:lstStyle/>
          <a:p>
            <a:pPr algn="l">
              <a:spcAft>
                <a:spcPts val="400"/>
              </a:spcAft>
            </a:pPr>
            <a:r>
              <a:rPr sz="850" b="1">
                <a:solidFill>
                  <a:srgbClr val="999999"/>
                </a:solidFill>
                <a:latin typeface="Arial"/>
              </a:rPr>
              <a:t>CLAUDE.MD, THIS REPO</a:t>
            </a:r>
          </a:p>
        </p:txBody>
      </p:sp>
      <p:sp>
        <p:nvSpPr>
          <p:cNvPr id="14" name="TextBox 13"/>
          <p:cNvSpPr txBox="1"/>
          <p:nvPr/>
        </p:nvSpPr>
        <p:spPr>
          <a:xfrm>
            <a:off x="4773168" y="2414016"/>
            <a:ext cx="3657600" cy="2212848"/>
          </a:xfrm>
          <a:prstGeom prst="rect">
            <a:avLst/>
          </a:prstGeom>
          <a:noFill/>
        </p:spPr>
        <p:txBody>
          <a:bodyPr wrap="square" anchor="t" lIns="0" rIns="0" tIns="0" bIns="0">
            <a:spAutoFit/>
          </a:bodyPr>
          <a:lstStyle/>
          <a:p>
            <a:pPr algn="l">
              <a:lnSpc>
                <a:spcPct val="114000"/>
              </a:lnSpc>
              <a:spcAft>
                <a:spcPts val="0"/>
              </a:spcAft>
            </a:pPr>
            <a:r>
              <a:rPr sz="900" b="0">
                <a:solidFill>
                  <a:srgbClr val="434343"/>
                </a:solidFill>
                <a:latin typeface="Consolas"/>
              </a:rPr>
              <a:t>## Reference docs — read on demand</a:t>
            </a:r>
          </a:p>
          <a:p>
            <a:pPr algn="l">
              <a:lnSpc>
                <a:spcPct val="114000"/>
              </a:lnSpc>
              <a:spcAft>
                <a:spcPts val="0"/>
              </a:spcAft>
            </a:pPr>
            <a:r>
              <a:rPr sz="900" b="0">
                <a:solidFill>
                  <a:srgbClr val="434343"/>
                </a:solidFill>
                <a:latin typeface="Consolas"/>
              </a:rPr>
              <a:t/>
            </a:r>
          </a:p>
          <a:p>
            <a:pPr algn="l">
              <a:lnSpc>
                <a:spcPct val="114000"/>
              </a:lnSpc>
              <a:spcAft>
                <a:spcPts val="0"/>
              </a:spcAft>
            </a:pPr>
            <a:r>
              <a:rPr sz="900" b="0">
                <a:solidFill>
                  <a:srgbClr val="434343"/>
                </a:solidFill>
                <a:latin typeface="Consolas"/>
              </a:rPr>
              <a:t>| When you are…      | Read first        |</a:t>
            </a:r>
          </a:p>
          <a:p>
            <a:pPr algn="l">
              <a:lnSpc>
                <a:spcPct val="114000"/>
              </a:lnSpc>
              <a:spcAft>
                <a:spcPts val="0"/>
              </a:spcAft>
            </a:pPr>
            <a:r>
              <a:rPr sz="900" b="0">
                <a:solidFill>
                  <a:srgbClr val="434343"/>
                </a:solidFill>
                <a:latin typeface="Consolas"/>
              </a:rPr>
              <a:t>| ------------------ | ----------------- |</a:t>
            </a:r>
          </a:p>
          <a:p>
            <a:pPr algn="l">
              <a:lnSpc>
                <a:spcPct val="114000"/>
              </a:lnSpc>
              <a:spcAft>
                <a:spcPts val="0"/>
              </a:spcAft>
            </a:pPr>
            <a:r>
              <a:rPr sz="900" b="0">
                <a:solidFill>
                  <a:srgbClr val="434343"/>
                </a:solidFill>
                <a:latin typeface="Consolas"/>
              </a:rPr>
              <a:t>| Changing response  | docs/adr/0001…    |</a:t>
            </a:r>
          </a:p>
          <a:p>
            <a:pPr algn="l">
              <a:lnSpc>
                <a:spcPct val="114000"/>
              </a:lnSpc>
              <a:spcAft>
                <a:spcPts val="0"/>
              </a:spcAft>
            </a:pPr>
            <a:r>
              <a:rPr sz="900" b="0">
                <a:solidFill>
                  <a:srgbClr val="434343"/>
                </a:solidFill>
                <a:latin typeface="Consolas"/>
              </a:rPr>
              <a:t>| shapes or codes    |                   |</a:t>
            </a:r>
          </a:p>
          <a:p>
            <a:pPr algn="l">
              <a:lnSpc>
                <a:spcPct val="114000"/>
              </a:lnSpc>
              <a:spcAft>
                <a:spcPts val="0"/>
              </a:spcAft>
            </a:pPr>
            <a:r>
              <a:rPr sz="900" b="0">
                <a:solidFill>
                  <a:srgbClr val="434343"/>
                </a:solidFill>
                <a:latin typeface="Consolas"/>
              </a:rPr>
              <a:t>| Calling an         | docs/nfr/0001…    |</a:t>
            </a:r>
          </a:p>
          <a:p>
            <a:pPr algn="l">
              <a:lnSpc>
                <a:spcPct val="114000"/>
              </a:lnSpc>
              <a:spcAft>
                <a:spcPts val="0"/>
              </a:spcAft>
            </a:pPr>
            <a:r>
              <a:rPr sz="900" b="0">
                <a:solidFill>
                  <a:srgbClr val="434343"/>
                </a:solidFill>
                <a:latin typeface="Consolas"/>
              </a:rPr>
              <a:t>| external API       |                   |</a:t>
            </a:r>
          </a:p>
          <a:p>
            <a:pPr algn="l">
              <a:lnSpc>
                <a:spcPct val="114000"/>
              </a:lnSpc>
              <a:spcAft>
                <a:spcPts val="0"/>
              </a:spcAft>
            </a:pPr>
            <a:r>
              <a:rPr sz="900" b="0">
                <a:solidFill>
                  <a:srgbClr val="434343"/>
                </a:solidFill>
                <a:latin typeface="Consolas"/>
              </a:rPr>
              <a:t/>
            </a:r>
          </a:p>
          <a:p>
            <a:pPr algn="l">
              <a:lnSpc>
                <a:spcPct val="114000"/>
              </a:lnSpc>
              <a:spcAft>
                <a:spcPts val="0"/>
              </a:spcAft>
            </a:pPr>
            <a:r>
              <a:rPr sz="900" b="0">
                <a:solidFill>
                  <a:srgbClr val="434343"/>
                </a:solidFill>
                <a:latin typeface="Consolas"/>
              </a:rPr>
              <a:t># a trigger is a SITUATION,</a:t>
            </a:r>
          </a:p>
          <a:p>
            <a:pPr algn="l">
              <a:lnSpc>
                <a:spcPct val="114000"/>
              </a:lnSpc>
              <a:spcAft>
                <a:spcPts val="0"/>
              </a:spcAft>
            </a:pPr>
            <a:r>
              <a:rPr sz="900" b="0">
                <a:solidFill>
                  <a:srgbClr val="434343"/>
                </a:solidFill>
                <a:latin typeface="Consolas"/>
              </a:rPr>
              <a:t># not a topic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MATURITY</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Start light — and know when to graduate</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This repo ships the light forms. Today you write light ADRs — and an NFR that is already one rung up, because per-clause checks are the point.</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118872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
            </a:r>
          </a:p>
        </p:txBody>
      </p:sp>
      <p:sp>
        <p:nvSpPr>
          <p:cNvPr id="11" name="TextBox 10"/>
          <p:cNvSpPr txBox="1"/>
          <p:nvPr/>
        </p:nvSpPr>
        <p:spPr>
          <a:xfrm>
            <a:off x="2011680" y="2089404"/>
            <a:ext cx="310896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ADR</a:t>
            </a:r>
          </a:p>
        </p:txBody>
      </p:sp>
      <p:sp>
        <p:nvSpPr>
          <p:cNvPr id="12" name="TextBox 11"/>
          <p:cNvSpPr txBox="1"/>
          <p:nvPr/>
        </p:nvSpPr>
        <p:spPr>
          <a:xfrm>
            <a:off x="5303520" y="2089404"/>
            <a:ext cx="320040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NFR</a:t>
            </a:r>
          </a:p>
        </p:txBody>
      </p:sp>
      <p:sp>
        <p:nvSpPr>
          <p:cNvPr id="13" name="Rectangle 12"/>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77440"/>
            <a:ext cx="118872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Start here</a:t>
            </a:r>
          </a:p>
        </p:txBody>
      </p:sp>
      <p:sp>
        <p:nvSpPr>
          <p:cNvPr id="15" name="TextBox 14"/>
          <p:cNvSpPr txBox="1"/>
          <p:nvPr/>
        </p:nvSpPr>
        <p:spPr>
          <a:xfrm>
            <a:off x="2011680" y="2377440"/>
            <a:ext cx="310896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Nygard: Context · Decision · Status · Consequences</a:t>
            </a:r>
          </a:p>
        </p:txBody>
      </p:sp>
      <p:sp>
        <p:nvSpPr>
          <p:cNvPr id="16" name="TextBox 15"/>
          <p:cNvSpPr txBox="1"/>
          <p:nvPr/>
        </p:nvSpPr>
        <p:spPr>
          <a:xfrm>
            <a:off x="5303520" y="2377440"/>
            <a:ext cx="320040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Prose rule + one "how compliance is checked" section</a:t>
            </a:r>
          </a:p>
        </p:txBody>
      </p:sp>
      <p:sp>
        <p:nvSpPr>
          <p:cNvPr id="17" name="Rectangle 16"/>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61488"/>
            <a:ext cx="118872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Graduate to</a:t>
            </a:r>
          </a:p>
        </p:txBody>
      </p:sp>
      <p:sp>
        <p:nvSpPr>
          <p:cNvPr id="19" name="TextBox 18"/>
          <p:cNvSpPr txBox="1"/>
          <p:nvPr/>
        </p:nvSpPr>
        <p:spPr>
          <a:xfrm>
            <a:off x="2011680" y="2761488"/>
            <a:ext cx="310896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MADR: + Decision Drivers, Considered Options</a:t>
            </a:r>
          </a:p>
        </p:txBody>
      </p:sp>
      <p:sp>
        <p:nvSpPr>
          <p:cNvPr id="20" name="TextBox 19"/>
          <p:cNvSpPr txBox="1"/>
          <p:nvPr/>
        </p:nvSpPr>
        <p:spPr>
          <a:xfrm>
            <a:off x="5303520" y="2761488"/>
            <a:ext cx="320040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Numbered MUSTs + per-clause checks + thresholds</a:t>
            </a:r>
          </a:p>
        </p:txBody>
      </p:sp>
      <p:sp>
        <p:nvSpPr>
          <p:cNvPr id="21" name="Rectangle 20"/>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45536"/>
            <a:ext cx="118872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Graduate when</a:t>
            </a:r>
          </a:p>
        </p:txBody>
      </p:sp>
      <p:sp>
        <p:nvSpPr>
          <p:cNvPr id="23" name="TextBox 22"/>
          <p:cNvSpPr txBox="1"/>
          <p:nvPr/>
        </p:nvSpPr>
        <p:spPr>
          <a:xfrm>
            <a:off x="2011680" y="3145536"/>
            <a:ext cx="310896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Consequences keep coming out thin</a:t>
            </a:r>
          </a:p>
        </p:txBody>
      </p:sp>
      <p:sp>
        <p:nvSpPr>
          <p:cNvPr id="24" name="TextBox 23"/>
          <p:cNvSpPr txBox="1"/>
          <p:nvPr/>
        </p:nvSpPr>
        <p:spPr>
          <a:xfrm>
            <a:off x="5303520" y="3145536"/>
            <a:ext cx="320040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The rule starts being ignored — you want a gate, not a hope</a:t>
            </a:r>
          </a:p>
        </p:txBody>
      </p:sp>
      <p:sp>
        <p:nvSpPr>
          <p:cNvPr id="25" name="TextBox 24"/>
          <p:cNvSpPr txBox="1"/>
          <p:nvPr/>
        </p:nvSpPr>
        <p:spPr>
          <a:xfrm>
            <a:off x="548640" y="3602736"/>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An NFR without a verification method is a wish with a document number.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AUTHORING</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When is a document required — and who owns it?</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reason ADR practices die is not the template — nobody wrote down the trigger, the reviewer, or where it lives.</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128908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Write a…</a:t>
            </a:r>
          </a:p>
        </p:txBody>
      </p:sp>
      <p:sp>
        <p:nvSpPr>
          <p:cNvPr id="11" name="TextBox 10"/>
          <p:cNvSpPr txBox="1"/>
          <p:nvPr/>
        </p:nvSpPr>
        <p:spPr>
          <a:xfrm>
            <a:off x="2112040" y="2089404"/>
            <a:ext cx="3644218"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When…</a:t>
            </a:r>
          </a:p>
        </p:txBody>
      </p:sp>
      <p:sp>
        <p:nvSpPr>
          <p:cNvPr id="12" name="TextBox 11"/>
          <p:cNvSpPr txBox="1"/>
          <p:nvPr/>
        </p:nvSpPr>
        <p:spPr>
          <a:xfrm>
            <a:off x="5939139" y="2089404"/>
            <a:ext cx="256478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Authored / reviewed by</a:t>
            </a:r>
          </a:p>
        </p:txBody>
      </p:sp>
      <p:sp>
        <p:nvSpPr>
          <p:cNvPr id="13" name="Rectangle 12"/>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77440"/>
            <a:ext cx="12890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ADR</a:t>
            </a:r>
          </a:p>
        </p:txBody>
      </p:sp>
      <p:sp>
        <p:nvSpPr>
          <p:cNvPr id="15" name="TextBox 14"/>
          <p:cNvSpPr txBox="1"/>
          <p:nvPr/>
        </p:nvSpPr>
        <p:spPr>
          <a:xfrm>
            <a:off x="2112040" y="2377440"/>
            <a:ext cx="364421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hard to reverse, contested, or a newcomer would ask "why is it like this?"</a:t>
            </a:r>
          </a:p>
        </p:txBody>
      </p:sp>
      <p:sp>
        <p:nvSpPr>
          <p:cNvPr id="16" name="TextBox 15"/>
          <p:cNvSpPr txBox="1"/>
          <p:nvPr/>
        </p:nvSpPr>
        <p:spPr>
          <a:xfrm>
            <a:off x="5939139" y="2377440"/>
            <a:ext cx="25647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Anyone; peer PR review</a:t>
            </a:r>
          </a:p>
        </p:txBody>
      </p:sp>
      <p:sp>
        <p:nvSpPr>
          <p:cNvPr id="17" name="Rectangle 16"/>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61488"/>
            <a:ext cx="12890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NFR</a:t>
            </a:r>
          </a:p>
        </p:txBody>
      </p:sp>
      <p:sp>
        <p:nvSpPr>
          <p:cNvPr id="19" name="TextBox 18"/>
          <p:cNvSpPr txBox="1"/>
          <p:nvPr/>
        </p:nvSpPr>
        <p:spPr>
          <a:xfrm>
            <a:off x="2112040" y="2761488"/>
            <a:ext cx="364421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the rule spans features AND you can say how it is checked</a:t>
            </a:r>
          </a:p>
        </p:txBody>
      </p:sp>
      <p:sp>
        <p:nvSpPr>
          <p:cNvPr id="20" name="TextBox 19"/>
          <p:cNvSpPr txBox="1"/>
          <p:nvPr/>
        </p:nvSpPr>
        <p:spPr>
          <a:xfrm>
            <a:off x="5939139" y="2761488"/>
            <a:ext cx="25647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A few author, many adopt; EM reviews</a:t>
            </a:r>
          </a:p>
        </p:txBody>
      </p:sp>
      <p:sp>
        <p:nvSpPr>
          <p:cNvPr id="21" name="Rectangle 20"/>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45536"/>
            <a:ext cx="12890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Recipe</a:t>
            </a:r>
          </a:p>
        </p:txBody>
      </p:sp>
      <p:sp>
        <p:nvSpPr>
          <p:cNvPr id="23" name="TextBox 22"/>
          <p:cNvSpPr txBox="1"/>
          <p:nvPr/>
        </p:nvSpPr>
        <p:spPr>
          <a:xfrm>
            <a:off x="2112040" y="3145536"/>
            <a:ext cx="364421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you have answered the same question twice</a:t>
            </a:r>
          </a:p>
        </p:txBody>
      </p:sp>
      <p:sp>
        <p:nvSpPr>
          <p:cNvPr id="24" name="TextBox 23"/>
          <p:cNvSpPr txBox="1"/>
          <p:nvPr/>
        </p:nvSpPr>
        <p:spPr>
          <a:xfrm>
            <a:off x="5939139" y="3145536"/>
            <a:ext cx="25647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The person who answered; peer review</a:t>
            </a:r>
          </a:p>
        </p:txBody>
      </p:sp>
      <p:sp>
        <p:nvSpPr>
          <p:cNvPr id="25" name="Rectangle 24"/>
          <p:cNvSpPr/>
          <p:nvPr/>
        </p:nvSpPr>
        <p:spPr>
          <a:xfrm>
            <a:off x="548640" y="3474720"/>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529584"/>
            <a:ext cx="12890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CLAUDE.md line</a:t>
            </a:r>
          </a:p>
        </p:txBody>
      </p:sp>
      <p:sp>
        <p:nvSpPr>
          <p:cNvPr id="27" name="TextBox 26"/>
          <p:cNvSpPr txBox="1"/>
          <p:nvPr/>
        </p:nvSpPr>
        <p:spPr>
          <a:xfrm>
            <a:off x="2112040" y="3529584"/>
            <a:ext cx="364421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the agent needs it every session — and it is one line</a:t>
            </a:r>
          </a:p>
        </p:txBody>
      </p:sp>
      <p:sp>
        <p:nvSpPr>
          <p:cNvPr id="28" name="TextBox 27"/>
          <p:cNvSpPr txBox="1"/>
          <p:nvPr/>
        </p:nvSpPr>
        <p:spPr>
          <a:xfrm>
            <a:off x="5939139" y="3529584"/>
            <a:ext cx="25647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Champion-gated: it costs every session</a:t>
            </a:r>
          </a:p>
        </p:txBody>
      </p:sp>
      <p:sp>
        <p:nvSpPr>
          <p:cNvPr id="29" name="Rectangle 28"/>
          <p:cNvSpPr/>
          <p:nvPr/>
        </p:nvSpPr>
        <p:spPr>
          <a:xfrm>
            <a:off x="548640" y="3858768"/>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913631"/>
            <a:ext cx="128908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Rules file</a:t>
            </a:r>
          </a:p>
        </p:txBody>
      </p:sp>
      <p:sp>
        <p:nvSpPr>
          <p:cNvPr id="31" name="TextBox 30"/>
          <p:cNvSpPr txBox="1"/>
          <p:nvPr/>
        </p:nvSpPr>
        <p:spPr>
          <a:xfrm>
            <a:off x="2112040" y="3913631"/>
            <a:ext cx="3644218"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it only applies when specific files are open</a:t>
            </a:r>
          </a:p>
        </p:txBody>
      </p:sp>
      <p:sp>
        <p:nvSpPr>
          <p:cNvPr id="32" name="TextBox 31"/>
          <p:cNvSpPr txBox="1"/>
          <p:nvPr/>
        </p:nvSpPr>
        <p:spPr>
          <a:xfrm>
            <a:off x="5939139" y="3913631"/>
            <a:ext cx="25647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Same as a recipe</a:t>
            </a:r>
          </a:p>
        </p:txBody>
      </p:sp>
      <p:sp>
        <p:nvSpPr>
          <p:cNvPr id="33" name="TextBox 32"/>
          <p:cNvSpPr txBox="1"/>
          <p:nvPr/>
        </p:nvSpPr>
        <p:spPr>
          <a:xfrm>
            <a:off x="548640" y="4315968"/>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Peer review via PR is the acceptance gate today. An unreviewed standard is a draft. The "how we use these" README (2.b) exists to record exactly this table for your team.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AUTHORING</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Drafting with Claude, honestly</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ETH finding again: generated context hurts, human-written helps. Draft, do not delegate.</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2011680"/>
            <a:ext cx="3703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THE DIVISION OF LABOUR</a:t>
            </a:r>
          </a:p>
        </p:txBody>
      </p:sp>
      <p:sp>
        <p:nvSpPr>
          <p:cNvPr id="10" name="TextBox 9"/>
          <p:cNvSpPr txBox="1"/>
          <p:nvPr/>
        </p:nvSpPr>
        <p:spPr>
          <a:xfrm>
            <a:off x="548640" y="2377440"/>
            <a:ext cx="3703320" cy="2249424"/>
          </a:xfrm>
          <a:prstGeom prst="rect">
            <a:avLst/>
          </a:prstGeom>
          <a:noFill/>
        </p:spPr>
        <p:txBody>
          <a:bodyPr wrap="square" anchor="t" lIns="0" rIns="0" tIns="0" bIns="0">
            <a:spAutoFit/>
          </a:bodyPr>
          <a:lstStyle/>
          <a:p>
            <a:pPr algn="l">
              <a:lnSpc>
                <a:spcPct val="120000"/>
              </a:lnSpc>
              <a:spcAft>
                <a:spcPts val="800"/>
              </a:spcAft>
            </a:pPr>
            <a:r>
              <a:rPr sz="1100" b="1">
                <a:solidFill>
                  <a:srgbClr val="A9B7F7"/>
                </a:solidFill>
                <a:latin typeface="Arial"/>
              </a:rPr>
              <a:t>•  </a:t>
            </a:r>
            <a:r>
              <a:rPr sz="1100" b="0">
                <a:solidFill>
                  <a:srgbClr val="434343"/>
                </a:solidFill>
                <a:latin typeface="Arial"/>
              </a:rPr>
              <a:t>Claude drafts from EVIDENCE in the code.</a:t>
            </a:r>
          </a:p>
          <a:p>
            <a:pPr algn="l">
              <a:lnSpc>
                <a:spcPct val="120000"/>
              </a:lnSpc>
              <a:spcAft>
                <a:spcPts val="800"/>
              </a:spcAft>
            </a:pPr>
            <a:r>
              <a:rPr sz="1100" b="1">
                <a:solidFill>
                  <a:srgbClr val="A9B7F7"/>
                </a:solidFill>
                <a:latin typeface="Arial"/>
              </a:rPr>
              <a:t>•  </a:t>
            </a:r>
            <a:r>
              <a:rPr sz="1100" b="0">
                <a:solidFill>
                  <a:srgbClr val="434343"/>
                </a:solidFill>
                <a:latin typeface="Arial"/>
              </a:rPr>
              <a:t>You own the Decision and the Consequences.</a:t>
            </a:r>
          </a:p>
          <a:p>
            <a:pPr algn="l">
              <a:lnSpc>
                <a:spcPct val="120000"/>
              </a:lnSpc>
              <a:spcAft>
                <a:spcPts val="800"/>
              </a:spcAft>
            </a:pPr>
            <a:r>
              <a:rPr sz="1100" b="1">
                <a:solidFill>
                  <a:srgbClr val="A9B7F7"/>
                </a:solidFill>
                <a:latin typeface="Arial"/>
              </a:rPr>
              <a:t>•  </a:t>
            </a:r>
            <a:r>
              <a:rPr sz="1100" b="0">
                <a:solidFill>
                  <a:srgbClr val="434343"/>
                </a:solidFill>
                <a:latin typeface="Arial"/>
              </a:rPr>
              <a:t>Never ask it what the team should do.</a:t>
            </a:r>
          </a:p>
          <a:p>
            <a:pPr algn="l">
              <a:lnSpc>
                <a:spcPct val="120000"/>
              </a:lnSpc>
              <a:spcAft>
                <a:spcPts val="800"/>
              </a:spcAft>
            </a:pPr>
            <a:r>
              <a:rPr sz="1100" b="1">
                <a:solidFill>
                  <a:srgbClr val="A9B7F7"/>
                </a:solidFill>
                <a:latin typeface="Arial"/>
              </a:rPr>
              <a:t>•  </a:t>
            </a:r>
            <a:r>
              <a:rPr sz="1100" b="0">
                <a:solidFill>
                  <a:srgbClr val="434343"/>
                </a:solidFill>
                <a:latin typeface="Arial"/>
              </a:rPr>
              <a:t>Read the draft as someone who disagrees.</a:t>
            </a:r>
          </a:p>
        </p:txBody>
      </p:sp>
      <p:sp>
        <p:nvSpPr>
          <p:cNvPr id="11" name="Rectangle 10"/>
          <p:cNvSpPr/>
          <p:nvPr/>
        </p:nvSpPr>
        <p:spPr>
          <a:xfrm>
            <a:off x="4572000" y="2011680"/>
            <a:ext cx="4023360" cy="2706624"/>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011680"/>
            <a:ext cx="41148" cy="270662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139696"/>
            <a:ext cx="3657600" cy="219456"/>
          </a:xfrm>
          <a:prstGeom prst="rect">
            <a:avLst/>
          </a:prstGeom>
          <a:noFill/>
        </p:spPr>
        <p:txBody>
          <a:bodyPr wrap="square" anchor="t" lIns="0" rIns="0" tIns="0" bIns="0">
            <a:spAutoFit/>
          </a:bodyPr>
          <a:lstStyle/>
          <a:p>
            <a:pPr algn="l">
              <a:spcAft>
                <a:spcPts val="400"/>
              </a:spcAft>
            </a:pPr>
            <a:r>
              <a:rPr sz="850" b="1">
                <a:solidFill>
                  <a:srgbClr val="999999"/>
                </a:solidFill>
                <a:latin typeface="Arial"/>
              </a:rPr>
              <a:t>PROMPT STARTERS (2 OF 5 — CARD IN HANDOUT)</a:t>
            </a:r>
          </a:p>
        </p:txBody>
      </p:sp>
      <p:sp>
        <p:nvSpPr>
          <p:cNvPr id="14" name="TextBox 13"/>
          <p:cNvSpPr txBox="1"/>
          <p:nvPr/>
        </p:nvSpPr>
        <p:spPr>
          <a:xfrm>
            <a:off x="4773168" y="2414016"/>
            <a:ext cx="3657600" cy="2212848"/>
          </a:xfrm>
          <a:prstGeom prst="rect">
            <a:avLst/>
          </a:prstGeom>
          <a:noFill/>
        </p:spPr>
        <p:txBody>
          <a:bodyPr wrap="square" anchor="t" lIns="0" rIns="0" tIns="0" bIns="0">
            <a:spAutoFit/>
          </a:bodyPr>
          <a:lstStyle/>
          <a:p>
            <a:pPr algn="l">
              <a:lnSpc>
                <a:spcPct val="114000"/>
              </a:lnSpc>
              <a:spcAft>
                <a:spcPts val="0"/>
              </a:spcAft>
            </a:pPr>
            <a:r>
              <a:rPr sz="900" b="0">
                <a:solidFill>
                  <a:srgbClr val="434343"/>
                </a:solidFill>
                <a:latin typeface="Consolas"/>
              </a:rPr>
              <a:t># gather evidence</a:t>
            </a:r>
          </a:p>
          <a:p>
            <a:pPr algn="l">
              <a:lnSpc>
                <a:spcPct val="114000"/>
              </a:lnSpc>
              <a:spcAft>
                <a:spcPts val="0"/>
              </a:spcAft>
            </a:pPr>
            <a:r>
              <a:rPr sz="900" b="0">
                <a:solidFill>
                  <a:srgbClr val="434343"/>
                </a:solidFill>
                <a:latin typeface="Consolas"/>
              </a:rPr>
              <a:t>Read @server/src/repositories/ and</a:t>
            </a:r>
          </a:p>
          <a:p>
            <a:pPr algn="l">
              <a:lnSpc>
                <a:spcPct val="114000"/>
              </a:lnSpc>
              <a:spcAft>
                <a:spcPts val="0"/>
              </a:spcAft>
            </a:pPr>
            <a:r>
              <a:rPr sz="900" b="0">
                <a:solidFill>
                  <a:srgbClr val="434343"/>
                </a:solidFill>
                <a:latin typeface="Consolas"/>
              </a:rPr>
              <a:t>@server/src/services/todos.service.ts.</a:t>
            </a:r>
          </a:p>
          <a:p>
            <a:pPr algn="l">
              <a:lnSpc>
                <a:spcPct val="114000"/>
              </a:lnSpc>
              <a:spcAft>
                <a:spcPts val="0"/>
              </a:spcAft>
            </a:pPr>
            <a:r>
              <a:rPr sz="900" b="0">
                <a:solidFill>
                  <a:srgbClr val="434343"/>
                </a:solidFill>
                <a:latin typeface="Consolas"/>
              </a:rPr>
              <a:t>What boundary do these files enforce,</a:t>
            </a:r>
          </a:p>
          <a:p>
            <a:pPr algn="l">
              <a:lnSpc>
                <a:spcPct val="114000"/>
              </a:lnSpc>
              <a:spcAft>
                <a:spcPts val="0"/>
              </a:spcAft>
            </a:pPr>
            <a:r>
              <a:rPr sz="900" b="0">
                <a:solidFill>
                  <a:srgbClr val="434343"/>
                </a:solidFill>
                <a:latin typeface="Consolas"/>
              </a:rPr>
              <a:t>and what would break if it were</a:t>
            </a:r>
          </a:p>
          <a:p>
            <a:pPr algn="l">
              <a:lnSpc>
                <a:spcPct val="114000"/>
              </a:lnSpc>
              <a:spcAft>
                <a:spcPts val="0"/>
              </a:spcAft>
            </a:pPr>
            <a:r>
              <a:rPr sz="900" b="0">
                <a:solidFill>
                  <a:srgbClr val="434343"/>
                </a:solidFill>
                <a:latin typeface="Consolas"/>
              </a:rPr>
              <a:t>violated? Don't propose changes.</a:t>
            </a:r>
          </a:p>
          <a:p>
            <a:pPr algn="l">
              <a:lnSpc>
                <a:spcPct val="114000"/>
              </a:lnSpc>
              <a:spcAft>
                <a:spcPts val="0"/>
              </a:spcAft>
            </a:pPr>
            <a:r>
              <a:rPr sz="900" b="0">
                <a:solidFill>
                  <a:srgbClr val="434343"/>
                </a:solidFill>
                <a:latin typeface="Consolas"/>
              </a:rPr>
              <a:t/>
            </a:r>
          </a:p>
          <a:p>
            <a:pPr algn="l">
              <a:lnSpc>
                <a:spcPct val="114000"/>
              </a:lnSpc>
              <a:spcAft>
                <a:spcPts val="0"/>
              </a:spcAft>
            </a:pPr>
            <a:r>
              <a:rPr sz="900" b="0">
                <a:solidFill>
                  <a:srgbClr val="434343"/>
                </a:solidFill>
                <a:latin typeface="Consolas"/>
              </a:rPr>
              <a:t># draft, but leave the decision</a:t>
            </a:r>
          </a:p>
          <a:p>
            <a:pPr algn="l">
              <a:lnSpc>
                <a:spcPct val="114000"/>
              </a:lnSpc>
              <a:spcAft>
                <a:spcPts val="0"/>
              </a:spcAft>
            </a:pPr>
            <a:r>
              <a:rPr sz="900" b="0">
                <a:solidFill>
                  <a:srgbClr val="434343"/>
                </a:solidFill>
                <a:latin typeface="Consolas"/>
              </a:rPr>
              <a:t>Using @docs/adr/template.md, draft</a:t>
            </a:r>
          </a:p>
          <a:p>
            <a:pPr algn="l">
              <a:lnSpc>
                <a:spcPct val="114000"/>
              </a:lnSpc>
              <a:spcAft>
                <a:spcPts val="0"/>
              </a:spcAft>
            </a:pPr>
            <a:r>
              <a:rPr sz="900" b="0">
                <a:solidFill>
                  <a:srgbClr val="434343"/>
                </a:solidFill>
                <a:latin typeface="Consolas"/>
              </a:rPr>
              <a:t>an ADR for that boundary. Fill</a:t>
            </a:r>
          </a:p>
          <a:p>
            <a:pPr algn="l">
              <a:lnSpc>
                <a:spcPct val="114000"/>
              </a:lnSpc>
              <a:spcAft>
                <a:spcPts val="0"/>
              </a:spcAft>
            </a:pPr>
            <a:r>
              <a:rPr sz="900" b="0">
                <a:solidFill>
                  <a:srgbClr val="434343"/>
                </a:solidFill>
                <a:latin typeface="Consolas"/>
              </a:rPr>
              <a:t>Context and Consequences from what</a:t>
            </a:r>
          </a:p>
          <a:p>
            <a:pPr algn="l">
              <a:lnSpc>
                <a:spcPct val="114000"/>
              </a:lnSpc>
              <a:spcAft>
                <a:spcPts val="0"/>
              </a:spcAft>
            </a:pPr>
            <a:r>
              <a:rPr sz="900" b="0">
                <a:solidFill>
                  <a:srgbClr val="434343"/>
                </a:solidFill>
                <a:latin typeface="Consolas"/>
              </a:rPr>
              <a:t>you just read. Leave Decision as a</a:t>
            </a:r>
          </a:p>
          <a:p>
            <a:pPr algn="l">
              <a:lnSpc>
                <a:spcPct val="114000"/>
              </a:lnSpc>
              <a:spcAft>
                <a:spcPts val="0"/>
              </a:spcAft>
            </a:pPr>
            <a:r>
              <a:rPr sz="900" b="0">
                <a:solidFill>
                  <a:srgbClr val="434343"/>
                </a:solidFill>
                <a:latin typeface="Consolas"/>
              </a:rPr>
              <a:t>question for me to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LIFECYCLE</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Keeping them true</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half of governance nobody plans for: what happens when the world moves.</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1783080"/>
            <a:ext cx="7863840" cy="2935224"/>
          </a:xfrm>
          <a:prstGeom prst="rect">
            <a:avLst/>
          </a:prstGeom>
          <a:noFill/>
        </p:spPr>
        <p:txBody>
          <a:bodyPr wrap="square" anchor="t" lIns="0" rIns="0" tIns="0" bIns="0">
            <a:spAutoFit/>
          </a:bodyPr>
          <a:lstStyle/>
          <a:p>
            <a:pPr algn="l">
              <a:lnSpc>
                <a:spcPct val="122000"/>
              </a:lnSpc>
              <a:spcAft>
                <a:spcPts val="900"/>
              </a:spcAft>
            </a:pPr>
            <a:r>
              <a:rPr sz="1250" b="1">
                <a:solidFill>
                  <a:srgbClr val="403FE8"/>
                </a:solidFill>
                <a:latin typeface="Arial"/>
              </a:rPr>
              <a:t>•  </a:t>
            </a:r>
            <a:r>
              <a:rPr sz="1250" b="1">
                <a:solidFill>
                  <a:srgbClr val="13135E"/>
                </a:solidFill>
                <a:latin typeface="Arial"/>
              </a:rPr>
              <a:t>Supersede, never edit, an accepted ADR. </a:t>
            </a:r>
            <a:r>
              <a:rPr sz="1250" b="0">
                <a:solidFill>
                  <a:srgbClr val="434343"/>
                </a:solidFill>
                <a:latin typeface="Arial"/>
              </a:rPr>
              <a:t>The old decision happened. Write a new one that replaces it.</a:t>
            </a:r>
          </a:p>
          <a:p>
            <a:pPr algn="l">
              <a:lnSpc>
                <a:spcPct val="122000"/>
              </a:lnSpc>
              <a:spcAft>
                <a:spcPts val="900"/>
              </a:spcAft>
            </a:pPr>
            <a:r>
              <a:rPr sz="1250" b="1">
                <a:solidFill>
                  <a:srgbClr val="403FE8"/>
                </a:solidFill>
                <a:latin typeface="Arial"/>
              </a:rPr>
              <a:t>•  </a:t>
            </a:r>
            <a:r>
              <a:rPr sz="1250" b="1">
                <a:solidFill>
                  <a:srgbClr val="13135E"/>
                </a:solidFill>
                <a:latin typeface="Arial"/>
              </a:rPr>
              <a:t>Revise NFRs in place. </a:t>
            </a:r>
            <a:r>
              <a:rPr sz="1250" b="0">
                <a:solidFill>
                  <a:srgbClr val="434343"/>
                </a:solidFill>
                <a:latin typeface="Arial"/>
              </a:rPr>
              <a:t>They describe what holds now.</a:t>
            </a:r>
          </a:p>
          <a:p>
            <a:pPr algn="l">
              <a:lnSpc>
                <a:spcPct val="122000"/>
              </a:lnSpc>
              <a:spcAft>
                <a:spcPts val="900"/>
              </a:spcAft>
            </a:pPr>
            <a:r>
              <a:rPr sz="1250" b="1">
                <a:solidFill>
                  <a:srgbClr val="403FE8"/>
                </a:solidFill>
                <a:latin typeface="Arial"/>
              </a:rPr>
              <a:t>•  </a:t>
            </a:r>
            <a:r>
              <a:rPr sz="1250" b="1">
                <a:solidFill>
                  <a:srgbClr val="13135E"/>
                </a:solidFill>
                <a:latin typeface="Arial"/>
              </a:rPr>
              <a:t>Every rule cites the incident that produced it. </a:t>
            </a:r>
            <a:r>
              <a:rPr sz="1250" b="0">
                <a:solidFill>
                  <a:srgbClr val="434343"/>
                </a:solidFill>
                <a:latin typeface="Arial"/>
              </a:rPr>
              <a:t>A "Why" naming a real failure survives staff turnover; "best practice" does not.</a:t>
            </a:r>
          </a:p>
          <a:p>
            <a:pPr algn="l">
              <a:lnSpc>
                <a:spcPct val="122000"/>
              </a:lnSpc>
              <a:spcAft>
                <a:spcPts val="900"/>
              </a:spcAft>
            </a:pPr>
            <a:r>
              <a:rPr sz="1250" b="1">
                <a:solidFill>
                  <a:srgbClr val="403FE8"/>
                </a:solidFill>
                <a:latin typeface="Arial"/>
              </a:rPr>
              <a:t>•  </a:t>
            </a:r>
            <a:r>
              <a:rPr sz="1250" b="1">
                <a:solidFill>
                  <a:srgbClr val="13135E"/>
                </a:solidFill>
                <a:latin typeface="Arial"/>
              </a:rPr>
              <a:t>Review on a cadence, not on vibes. </a:t>
            </a:r>
            <a:r>
              <a:rPr sz="1250" b="0">
                <a:solidFill>
                  <a:srgbClr val="434343"/>
                </a:solidFill>
                <a:latin typeface="Arial"/>
              </a:rPr>
              <a:t>A date on the document, and a person against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9144000" cy="5143500"/>
          </a:xfrm>
          <a:prstGeom prst="rect">
            <a:avLst/>
          </a:prstGeom>
        </p:spPr>
      </p:pic>
      <p:pic>
        <p:nvPicPr>
          <p:cNvPr id="3" name="Picture 2" descr="image2.png"/>
          <p:cNvPicPr>
            <a:picLocks noChangeAspect="1"/>
          </p:cNvPicPr>
          <p:nvPr/>
        </p:nvPicPr>
        <p:blipFill>
          <a:blip r:embed="rId3"/>
          <a:stretch>
            <a:fillRect/>
          </a:stretch>
        </p:blipFill>
        <p:spPr>
          <a:xfrm>
            <a:off x="548640" y="457200"/>
            <a:ext cx="850392" cy="457200"/>
          </a:xfrm>
          <a:prstGeom prst="rect">
            <a:avLst/>
          </a:prstGeom>
        </p:spPr>
      </p:pic>
      <p:sp>
        <p:nvSpPr>
          <p:cNvPr id="4" name="TextBox 3"/>
          <p:cNvSpPr txBox="1"/>
          <p:nvPr/>
        </p:nvSpPr>
        <p:spPr>
          <a:xfrm>
            <a:off x="548640" y="2148840"/>
            <a:ext cx="7863840" cy="731520"/>
          </a:xfrm>
          <a:prstGeom prst="rect">
            <a:avLst/>
          </a:prstGeom>
          <a:noFill/>
        </p:spPr>
        <p:txBody>
          <a:bodyPr wrap="square" anchor="t" lIns="0" rIns="0" tIns="0" bIns="0">
            <a:spAutoFit/>
          </a:bodyPr>
          <a:lstStyle/>
          <a:p>
            <a:pPr algn="l">
              <a:spcAft>
                <a:spcPts val="400"/>
              </a:spcAft>
            </a:pPr>
            <a:r>
              <a:rPr sz="3000" b="1">
                <a:solidFill>
                  <a:srgbClr val="FFFFFF"/>
                </a:solidFill>
                <a:latin typeface="Arial"/>
              </a:rPr>
              <a:t>Demo — write an ADR</a:t>
            </a:r>
          </a:p>
        </p:txBody>
      </p:sp>
      <p:sp>
        <p:nvSpPr>
          <p:cNvPr id="5" name="TextBox 4"/>
          <p:cNvSpPr txBox="1"/>
          <p:nvPr/>
        </p:nvSpPr>
        <p:spPr>
          <a:xfrm>
            <a:off x="548640" y="2971800"/>
            <a:ext cx="7863840" cy="457200"/>
          </a:xfrm>
          <a:prstGeom prst="rect">
            <a:avLst/>
          </a:prstGeom>
          <a:noFill/>
        </p:spPr>
        <p:txBody>
          <a:bodyPr wrap="square" anchor="t" lIns="0" rIns="0" tIns="0" bIns="0">
            <a:spAutoFit/>
          </a:bodyPr>
          <a:lstStyle/>
          <a:p>
            <a:pPr algn="l">
              <a:lnSpc>
                <a:spcPct val="130000"/>
              </a:lnSpc>
              <a:spcAft>
                <a:spcPts val="400"/>
              </a:spcAft>
            </a:pPr>
            <a:r>
              <a:rPr sz="1300" b="0">
                <a:solidFill>
                  <a:srgbClr val="CCD9FF"/>
                </a:solidFill>
                <a:latin typeface="Arial"/>
              </a:rPr>
              <a:t>The repository boundary. Watch the whole shape — then you write the same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DEMO · THE GAP</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A rule with no recorded reason</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Real, load-bearing, and undocumented — the ADR trigger on all three counts.</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1783080"/>
            <a:ext cx="7863840" cy="2404872"/>
          </a:xfrm>
          <a:prstGeom prst="rect">
            <a:avLst/>
          </a:prstGeom>
          <a:noFill/>
        </p:spPr>
        <p:txBody>
          <a:bodyPr wrap="square" anchor="t" lIns="0" rIns="0" tIns="0" bIns="0">
            <a:spAutoFit/>
          </a:bodyPr>
          <a:lstStyle/>
          <a:p>
            <a:pPr algn="l">
              <a:lnSpc>
                <a:spcPct val="122000"/>
              </a:lnSpc>
              <a:spcAft>
                <a:spcPts val="900"/>
              </a:spcAft>
            </a:pPr>
            <a:r>
              <a:rPr sz="1250" b="1">
                <a:solidFill>
                  <a:srgbClr val="403FE8"/>
                </a:solidFill>
                <a:latin typeface="Arial"/>
              </a:rPr>
              <a:t>•  </a:t>
            </a:r>
            <a:r>
              <a:rPr sz="1250" b="1">
                <a:solidFill>
                  <a:srgbClr val="13135E"/>
                </a:solidFill>
                <a:latin typeface="Arial"/>
              </a:rPr>
              <a:t>The rule exists. </a:t>
            </a:r>
            <a:r>
              <a:rPr sz="1250" b="0">
                <a:solidFill>
                  <a:srgbClr val="434343"/>
                </a:solidFill>
                <a:latin typeface="Arial"/>
              </a:rPr>
              <a:t>CLAUDE.md says routes and services never import `db/store.ts`.</a:t>
            </a:r>
          </a:p>
          <a:p>
            <a:pPr algn="l">
              <a:lnSpc>
                <a:spcPct val="122000"/>
              </a:lnSpc>
              <a:spcAft>
                <a:spcPts val="900"/>
              </a:spcAft>
            </a:pPr>
            <a:r>
              <a:rPr sz="1250" b="1">
                <a:solidFill>
                  <a:srgbClr val="403FE8"/>
                </a:solidFill>
                <a:latin typeface="Arial"/>
              </a:rPr>
              <a:t>•  </a:t>
            </a:r>
            <a:r>
              <a:rPr sz="1250" b="1">
                <a:solidFill>
                  <a:srgbClr val="13135E"/>
                </a:solidFill>
                <a:latin typeface="Arial"/>
              </a:rPr>
              <a:t>The code obeys it. </a:t>
            </a:r>
            <a:r>
              <a:rPr sz="1250" b="0">
                <a:solidFill>
                  <a:srgbClr val="434343"/>
                </a:solidFill>
                <a:latin typeface="Arial"/>
              </a:rPr>
              <a:t>Only `server/src/repositories/` touches the store.</a:t>
            </a:r>
          </a:p>
          <a:p>
            <a:pPr algn="l">
              <a:lnSpc>
                <a:spcPct val="122000"/>
              </a:lnSpc>
              <a:spcAft>
                <a:spcPts val="900"/>
              </a:spcAft>
            </a:pPr>
            <a:r>
              <a:rPr sz="1250" b="1">
                <a:solidFill>
                  <a:srgbClr val="403FE8"/>
                </a:solidFill>
                <a:latin typeface="Arial"/>
              </a:rPr>
              <a:t>•  </a:t>
            </a:r>
            <a:r>
              <a:rPr sz="1250" b="1">
                <a:solidFill>
                  <a:srgbClr val="13135E"/>
                </a:solidFill>
                <a:latin typeface="Arial"/>
              </a:rPr>
              <a:t>Nothing says why. </a:t>
            </a:r>
            <a:r>
              <a:rPr sz="1250" b="0">
                <a:solidFill>
                  <a:srgbClr val="434343"/>
                </a:solidFill>
                <a:latin typeface="Arial"/>
              </a:rPr>
              <a:t>A newcomer sees a constraint with no rationale — so they route around it.</a:t>
            </a:r>
          </a:p>
          <a:p>
            <a:pPr algn="l">
              <a:lnSpc>
                <a:spcPct val="122000"/>
              </a:lnSpc>
              <a:spcAft>
                <a:spcPts val="900"/>
              </a:spcAft>
            </a:pPr>
            <a:r>
              <a:rPr sz="1250" b="1">
                <a:solidFill>
                  <a:srgbClr val="403FE8"/>
                </a:solidFill>
                <a:latin typeface="Arial"/>
              </a:rPr>
              <a:t>•  </a:t>
            </a:r>
            <a:r>
              <a:rPr sz="1250" b="1">
                <a:solidFill>
                  <a:srgbClr val="13135E"/>
                </a:solidFill>
                <a:latin typeface="Arial"/>
              </a:rPr>
              <a:t>Nothing checks it. </a:t>
            </a:r>
            <a:r>
              <a:rPr sz="1250" b="0">
                <a:solidFill>
                  <a:srgbClr val="434343"/>
                </a:solidFill>
                <a:latin typeface="Arial"/>
              </a:rPr>
              <a:t>Which is next week's problem, and worth noticing now.</a:t>
            </a:r>
          </a:p>
        </p:txBody>
      </p:sp>
      <p:sp>
        <p:nvSpPr>
          <p:cNvPr id="10" name="Rectangle 9"/>
          <p:cNvSpPr/>
          <p:nvPr/>
        </p:nvSpPr>
        <p:spPr>
          <a:xfrm>
            <a:off x="548640" y="4261104"/>
            <a:ext cx="41148" cy="402336"/>
          </a:xfrm>
          <a:prstGeom prst="rect">
            <a:avLst/>
          </a:prstGeom>
          <a:solidFill>
            <a:srgbClr val="A9B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4261104"/>
            <a:ext cx="7662672" cy="402336"/>
          </a:xfrm>
          <a:prstGeom prst="rect">
            <a:avLst/>
          </a:prstGeom>
          <a:noFill/>
        </p:spPr>
        <p:txBody>
          <a:bodyPr wrap="square" anchor="t" lIns="0" rIns="0" tIns="0" bIns="0">
            <a:spAutoFit/>
          </a:bodyPr>
          <a:lstStyle/>
          <a:p>
            <a:pPr algn="l">
              <a:lnSpc>
                <a:spcPct val="120000"/>
              </a:lnSpc>
              <a:spcAft>
                <a:spcPts val="400"/>
              </a:spcAft>
            </a:pPr>
            <a:r>
              <a:rPr sz="1050" b="0">
                <a:solidFill>
                  <a:srgbClr val="666666"/>
                </a:solidFill>
                <a:latin typeface="Arial"/>
              </a:rPr>
              <a:t>"But the decision was already made — isn't an ADR written when you decide?" Recording is not deciding: a retroactive ADR captures the WHY before it evaporates with the people who knew it. Status: Accepted. Date: when recorded, not when decided.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DEMO · THE STEPS</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Six steps — follow along on screen</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Steps 2 and 4 are Claude's; steps 3, 5, and 6 are yours — that split is the lesson. The full walkthrough, with prompts and example replies: docs/labs/lab-2a-demo-walkthrough.md.</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27432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a:t>
            </a:r>
          </a:p>
        </p:txBody>
      </p:sp>
      <p:sp>
        <p:nvSpPr>
          <p:cNvPr id="11" name="TextBox 10"/>
          <p:cNvSpPr txBox="1"/>
          <p:nvPr/>
        </p:nvSpPr>
        <p:spPr>
          <a:xfrm>
            <a:off x="1097280" y="2089404"/>
            <a:ext cx="2468879"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What I do</a:t>
            </a:r>
          </a:p>
        </p:txBody>
      </p:sp>
      <p:sp>
        <p:nvSpPr>
          <p:cNvPr id="12" name="TextBox 11"/>
          <p:cNvSpPr txBox="1"/>
          <p:nvPr/>
        </p:nvSpPr>
        <p:spPr>
          <a:xfrm>
            <a:off x="3749039" y="2089404"/>
            <a:ext cx="475488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What you should see</a:t>
            </a:r>
          </a:p>
        </p:txBody>
      </p:sp>
      <p:sp>
        <p:nvSpPr>
          <p:cNvPr id="13" name="Rectangle 12"/>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77440"/>
            <a:ext cx="2743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1</a:t>
            </a:r>
          </a:p>
        </p:txBody>
      </p:sp>
      <p:sp>
        <p:nvSpPr>
          <p:cNvPr id="15" name="TextBox 14"/>
          <p:cNvSpPr txBox="1"/>
          <p:nvPr/>
        </p:nvSpPr>
        <p:spPr>
          <a:xfrm>
            <a:off x="1097280" y="2377440"/>
            <a:ext cx="24688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Create the file from the template</a:t>
            </a:r>
          </a:p>
        </p:txBody>
      </p:sp>
      <p:sp>
        <p:nvSpPr>
          <p:cNvPr id="16" name="TextBox 15"/>
          <p:cNvSpPr txBox="1"/>
          <p:nvPr/>
        </p:nvSpPr>
        <p:spPr>
          <a:xfrm>
            <a:off x="3749039" y="2377440"/>
            <a:ext cx="475488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docs/adr/0002-repository-only-store-access.md — next number, kebab-case title</a:t>
            </a:r>
          </a:p>
        </p:txBody>
      </p:sp>
      <p:sp>
        <p:nvSpPr>
          <p:cNvPr id="17" name="Rectangle 16"/>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61488"/>
            <a:ext cx="2743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2</a:t>
            </a:r>
          </a:p>
        </p:txBody>
      </p:sp>
      <p:sp>
        <p:nvSpPr>
          <p:cNvPr id="19" name="TextBox 18"/>
          <p:cNvSpPr txBox="1"/>
          <p:nvPr/>
        </p:nvSpPr>
        <p:spPr>
          <a:xfrm>
            <a:off x="1097280" y="2761488"/>
            <a:ext cx="24688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Prompt 1 — gather evidence</a:t>
            </a:r>
          </a:p>
        </p:txBody>
      </p:sp>
      <p:sp>
        <p:nvSpPr>
          <p:cNvPr id="20" name="TextBox 19"/>
          <p:cNvSpPr txBox="1"/>
          <p:nvPr/>
        </p:nvSpPr>
        <p:spPr>
          <a:xfrm>
            <a:off x="3749039" y="2761488"/>
            <a:ext cx="475488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Claude reads repositories/ + a service, reports the boundary. It READS; it does not decide</a:t>
            </a:r>
          </a:p>
        </p:txBody>
      </p:sp>
      <p:sp>
        <p:nvSpPr>
          <p:cNvPr id="21" name="Rectangle 20"/>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45536"/>
            <a:ext cx="2743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3</a:t>
            </a:r>
          </a:p>
        </p:txBody>
      </p:sp>
      <p:sp>
        <p:nvSpPr>
          <p:cNvPr id="23" name="TextBox 22"/>
          <p:cNvSpPr txBox="1"/>
          <p:nvPr/>
        </p:nvSpPr>
        <p:spPr>
          <a:xfrm>
            <a:off x="1097280" y="3145536"/>
            <a:ext cx="24688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Check its answer against the code</a:t>
            </a:r>
          </a:p>
        </p:txBody>
      </p:sp>
      <p:sp>
        <p:nvSpPr>
          <p:cNvPr id="24" name="TextBox 23"/>
          <p:cNvSpPr txBox="1"/>
          <p:nvPr/>
        </p:nvSpPr>
        <p:spPr>
          <a:xfrm>
            <a:off x="3749039" y="3145536"/>
            <a:ext cx="475488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If Claude got the boundary wrong, correct it now — bad evidence makes a bad Context</a:t>
            </a:r>
          </a:p>
        </p:txBody>
      </p:sp>
      <p:sp>
        <p:nvSpPr>
          <p:cNvPr id="25" name="Rectangle 24"/>
          <p:cNvSpPr/>
          <p:nvPr/>
        </p:nvSpPr>
        <p:spPr>
          <a:xfrm>
            <a:off x="548640" y="3474720"/>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529584"/>
            <a:ext cx="2743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4</a:t>
            </a:r>
          </a:p>
        </p:txBody>
      </p:sp>
      <p:sp>
        <p:nvSpPr>
          <p:cNvPr id="27" name="TextBox 26"/>
          <p:cNvSpPr txBox="1"/>
          <p:nvPr/>
        </p:nvSpPr>
        <p:spPr>
          <a:xfrm>
            <a:off x="1097280" y="3529584"/>
            <a:ext cx="24688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Prompt 2 — draft, Decision left open</a:t>
            </a:r>
          </a:p>
        </p:txBody>
      </p:sp>
      <p:sp>
        <p:nvSpPr>
          <p:cNvPr id="28" name="TextBox 27"/>
          <p:cNvSpPr txBox="1"/>
          <p:nvPr/>
        </p:nvSpPr>
        <p:spPr>
          <a:xfrm>
            <a:off x="3749039" y="3529584"/>
            <a:ext cx="475488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Context + Consequences filled from evidence; Decision returned as a question to me</a:t>
            </a:r>
          </a:p>
        </p:txBody>
      </p:sp>
      <p:sp>
        <p:nvSpPr>
          <p:cNvPr id="29" name="Rectangle 28"/>
          <p:cNvSpPr/>
          <p:nvPr/>
        </p:nvSpPr>
        <p:spPr>
          <a:xfrm>
            <a:off x="548640" y="3858768"/>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913631"/>
            <a:ext cx="2743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5</a:t>
            </a:r>
          </a:p>
        </p:txBody>
      </p:sp>
      <p:sp>
        <p:nvSpPr>
          <p:cNvPr id="31" name="TextBox 30"/>
          <p:cNvSpPr txBox="1"/>
          <p:nvPr/>
        </p:nvSpPr>
        <p:spPr>
          <a:xfrm>
            <a:off x="1097280" y="3913631"/>
            <a:ext cx="24688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Edit Context; WRITE the Decision myself</a:t>
            </a:r>
          </a:p>
        </p:txBody>
      </p:sp>
      <p:sp>
        <p:nvSpPr>
          <p:cNvPr id="32" name="TextBox 31"/>
          <p:cNvSpPr txBox="1"/>
          <p:nvPr/>
        </p:nvSpPr>
        <p:spPr>
          <a:xfrm>
            <a:off x="3749039" y="3913631"/>
            <a:ext cx="475488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One sentence, present tense: "Only modules under repositories/ may import db/store.ts"</a:t>
            </a:r>
          </a:p>
        </p:txBody>
      </p:sp>
      <p:sp>
        <p:nvSpPr>
          <p:cNvPr id="33" name="Rectangle 32"/>
          <p:cNvSpPr/>
          <p:nvPr/>
        </p:nvSpPr>
        <p:spPr>
          <a:xfrm>
            <a:off x="548640" y="4242816"/>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297679"/>
            <a:ext cx="274320"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6</a:t>
            </a:r>
          </a:p>
        </p:txBody>
      </p:sp>
      <p:sp>
        <p:nvSpPr>
          <p:cNvPr id="35" name="TextBox 34"/>
          <p:cNvSpPr txBox="1"/>
          <p:nvPr/>
        </p:nvSpPr>
        <p:spPr>
          <a:xfrm>
            <a:off x="1097280" y="4297679"/>
            <a:ext cx="24688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Add one honest cost, then stage it</a:t>
            </a:r>
          </a:p>
        </p:txBody>
      </p:sp>
      <p:sp>
        <p:nvSpPr>
          <p:cNvPr id="36" name="TextBox 35"/>
          <p:cNvSpPr txBox="1"/>
          <p:nvPr/>
        </p:nvSpPr>
        <p:spPr>
          <a:xfrm>
            <a:off x="3749039" y="4297679"/>
            <a:ext cx="475488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A consequence someone could complain about — then git add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DEMO · THE RESULT</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What good looks like</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finished artifact. The interesting part is the Consequences section.</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2011680"/>
            <a:ext cx="3703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THE SPLIT THAT MATTERS</a:t>
            </a:r>
          </a:p>
        </p:txBody>
      </p:sp>
      <p:sp>
        <p:nvSpPr>
          <p:cNvPr id="10" name="TextBox 9"/>
          <p:cNvSpPr txBox="1"/>
          <p:nvPr/>
        </p:nvSpPr>
        <p:spPr>
          <a:xfrm>
            <a:off x="548640" y="2377440"/>
            <a:ext cx="3703320" cy="2249424"/>
          </a:xfrm>
          <a:prstGeom prst="rect">
            <a:avLst/>
          </a:prstGeom>
          <a:noFill/>
        </p:spPr>
        <p:txBody>
          <a:bodyPr wrap="square" anchor="t" lIns="0" rIns="0" tIns="0" bIns="0">
            <a:spAutoFit/>
          </a:bodyPr>
          <a:lstStyle/>
          <a:p>
            <a:pPr algn="l">
              <a:lnSpc>
                <a:spcPct val="120000"/>
              </a:lnSpc>
              <a:spcAft>
                <a:spcPts val="800"/>
              </a:spcAft>
            </a:pPr>
            <a:r>
              <a:rPr sz="1100" b="1">
                <a:solidFill>
                  <a:srgbClr val="A9B7F7"/>
                </a:solidFill>
                <a:latin typeface="Arial"/>
              </a:rPr>
              <a:t>•  </a:t>
            </a:r>
            <a:r>
              <a:rPr sz="1100" b="0">
                <a:solidFill>
                  <a:srgbClr val="434343"/>
                </a:solidFill>
                <a:latin typeface="Arial"/>
              </a:rPr>
              <a:t>Claude gathered the evidence. I edited it.</a:t>
            </a:r>
          </a:p>
          <a:p>
            <a:pPr algn="l">
              <a:lnSpc>
                <a:spcPct val="120000"/>
              </a:lnSpc>
              <a:spcAft>
                <a:spcPts val="800"/>
              </a:spcAft>
            </a:pPr>
            <a:r>
              <a:rPr sz="1100" b="1">
                <a:solidFill>
                  <a:srgbClr val="A9B7F7"/>
                </a:solidFill>
                <a:latin typeface="Arial"/>
              </a:rPr>
              <a:t>•  </a:t>
            </a:r>
            <a:r>
              <a:rPr sz="1100" b="0">
                <a:solidFill>
                  <a:srgbClr val="434343"/>
                </a:solidFill>
                <a:latin typeface="Arial"/>
              </a:rPr>
              <a:t>The Decision is ONE sentence, and it is mine.</a:t>
            </a:r>
          </a:p>
          <a:p>
            <a:pPr algn="l">
              <a:lnSpc>
                <a:spcPct val="120000"/>
              </a:lnSpc>
              <a:spcAft>
                <a:spcPts val="800"/>
              </a:spcAft>
            </a:pPr>
            <a:r>
              <a:rPr sz="1100" b="1">
                <a:solidFill>
                  <a:srgbClr val="A9B7F7"/>
                </a:solidFill>
                <a:latin typeface="Arial"/>
              </a:rPr>
              <a:t>•  </a:t>
            </a:r>
            <a:r>
              <a:rPr sz="1100" b="0">
                <a:solidFill>
                  <a:srgbClr val="434343"/>
                </a:solidFill>
                <a:latin typeface="Arial"/>
              </a:rPr>
              <a:t>Context has no verbs of choosing — it describes forces.</a:t>
            </a:r>
          </a:p>
          <a:p>
            <a:pPr algn="l">
              <a:lnSpc>
                <a:spcPct val="120000"/>
              </a:lnSpc>
              <a:spcAft>
                <a:spcPts val="800"/>
              </a:spcAft>
            </a:pPr>
            <a:r>
              <a:rPr sz="1100" b="1">
                <a:solidFill>
                  <a:srgbClr val="A9B7F7"/>
                </a:solidFill>
                <a:latin typeface="Arial"/>
              </a:rPr>
              <a:t>•  </a:t>
            </a:r>
            <a:r>
              <a:rPr sz="1100" b="0">
                <a:solidFill>
                  <a:srgbClr val="434343"/>
                </a:solidFill>
                <a:latin typeface="Arial"/>
              </a:rPr>
              <a:t>At least one consequence is genuinely a cost.</a:t>
            </a:r>
          </a:p>
        </p:txBody>
      </p:sp>
      <p:sp>
        <p:nvSpPr>
          <p:cNvPr id="11" name="Rectangle 10"/>
          <p:cNvSpPr/>
          <p:nvPr/>
        </p:nvSpPr>
        <p:spPr>
          <a:xfrm>
            <a:off x="4572000" y="2011680"/>
            <a:ext cx="4023360" cy="2706624"/>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011680"/>
            <a:ext cx="41148" cy="270662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139696"/>
            <a:ext cx="3657600" cy="219456"/>
          </a:xfrm>
          <a:prstGeom prst="rect">
            <a:avLst/>
          </a:prstGeom>
          <a:noFill/>
        </p:spPr>
        <p:txBody>
          <a:bodyPr wrap="square" anchor="t" lIns="0" rIns="0" tIns="0" bIns="0">
            <a:spAutoFit/>
          </a:bodyPr>
          <a:lstStyle/>
          <a:p>
            <a:pPr algn="l">
              <a:spcAft>
                <a:spcPts val="400"/>
              </a:spcAft>
            </a:pPr>
            <a:r>
              <a:rPr sz="850" b="1">
                <a:solidFill>
                  <a:srgbClr val="999999"/>
                </a:solidFill>
                <a:latin typeface="Arial"/>
              </a:rPr>
              <a:t>MATCHES DOCS/ADR/TEMPLATE.MD</a:t>
            </a:r>
          </a:p>
        </p:txBody>
      </p:sp>
      <p:sp>
        <p:nvSpPr>
          <p:cNvPr id="14" name="TextBox 13"/>
          <p:cNvSpPr txBox="1"/>
          <p:nvPr/>
        </p:nvSpPr>
        <p:spPr>
          <a:xfrm>
            <a:off x="4773168" y="2414016"/>
            <a:ext cx="3657600" cy="2212848"/>
          </a:xfrm>
          <a:prstGeom prst="rect">
            <a:avLst/>
          </a:prstGeom>
          <a:noFill/>
        </p:spPr>
        <p:txBody>
          <a:bodyPr wrap="square" anchor="t" lIns="0" rIns="0" tIns="0" bIns="0">
            <a:spAutoFit/>
          </a:bodyPr>
          <a:lstStyle/>
          <a:p>
            <a:pPr algn="l">
              <a:lnSpc>
                <a:spcPct val="114000"/>
              </a:lnSpc>
              <a:spcAft>
                <a:spcPts val="0"/>
              </a:spcAft>
            </a:pPr>
            <a:r>
              <a:rPr sz="700" b="0">
                <a:solidFill>
                  <a:srgbClr val="434343"/>
                </a:solidFill>
                <a:latin typeface="Consolas"/>
              </a:rPr>
              <a:t># docs/adr/0002-repository-only-</a:t>
            </a:r>
          </a:p>
          <a:p>
            <a:pPr algn="l">
              <a:lnSpc>
                <a:spcPct val="114000"/>
              </a:lnSpc>
              <a:spcAft>
                <a:spcPts val="0"/>
              </a:spcAft>
            </a:pPr>
            <a:r>
              <a:rPr sz="700" b="0">
                <a:solidFill>
                  <a:srgbClr val="434343"/>
                </a:solidFill>
                <a:latin typeface="Consolas"/>
              </a:rPr>
              <a:t>#   store-access.md</a:t>
            </a:r>
          </a:p>
          <a:p>
            <a:pPr algn="l">
              <a:lnSpc>
                <a:spcPct val="114000"/>
              </a:lnSpc>
              <a:spcAft>
                <a:spcPts val="0"/>
              </a:spcAft>
            </a:pPr>
            <a:r>
              <a:rPr sz="700" b="0">
                <a:solidFill>
                  <a:srgbClr val="434343"/>
                </a:solidFill>
                <a:latin typeface="Consolas"/>
              </a:rPr>
              <a:t/>
            </a:r>
          </a:p>
          <a:p>
            <a:pPr algn="l">
              <a:lnSpc>
                <a:spcPct val="114000"/>
              </a:lnSpc>
              <a:spcAft>
                <a:spcPts val="0"/>
              </a:spcAft>
            </a:pPr>
            <a:r>
              <a:rPr sz="700" b="0">
                <a:solidFill>
                  <a:srgbClr val="434343"/>
                </a:solidFill>
                <a:latin typeface="Consolas"/>
              </a:rPr>
              <a:t>- Status: Accepted</a:t>
            </a:r>
          </a:p>
          <a:p>
            <a:pPr algn="l">
              <a:lnSpc>
                <a:spcPct val="114000"/>
              </a:lnSpc>
              <a:spcAft>
                <a:spcPts val="0"/>
              </a:spcAft>
            </a:pPr>
            <a:r>
              <a:rPr sz="700" b="0">
                <a:solidFill>
                  <a:srgbClr val="434343"/>
                </a:solidFill>
                <a:latin typeface="Consolas"/>
              </a:rPr>
              <a:t>- Date: &lt;today&gt;</a:t>
            </a:r>
          </a:p>
          <a:p>
            <a:pPr algn="l">
              <a:lnSpc>
                <a:spcPct val="114000"/>
              </a:lnSpc>
              <a:spcAft>
                <a:spcPts val="0"/>
              </a:spcAft>
            </a:pPr>
            <a:r>
              <a:rPr sz="700" b="0">
                <a:solidFill>
                  <a:srgbClr val="434343"/>
                </a:solidFill>
                <a:latin typeface="Consolas"/>
              </a:rPr>
              <a:t>- Deciders: &lt;the team&gt;</a:t>
            </a:r>
          </a:p>
          <a:p>
            <a:pPr algn="l">
              <a:lnSpc>
                <a:spcPct val="114000"/>
              </a:lnSpc>
              <a:spcAft>
                <a:spcPts val="0"/>
              </a:spcAft>
            </a:pPr>
            <a:r>
              <a:rPr sz="700" b="0">
                <a:solidFill>
                  <a:srgbClr val="434343"/>
                </a:solidFill>
                <a:latin typeface="Consolas"/>
              </a:rPr>
              <a:t/>
            </a:r>
          </a:p>
          <a:p>
            <a:pPr algn="l">
              <a:lnSpc>
                <a:spcPct val="114000"/>
              </a:lnSpc>
              <a:spcAft>
                <a:spcPts val="0"/>
              </a:spcAft>
            </a:pPr>
            <a:r>
              <a:rPr sz="700" b="0">
                <a:solidFill>
                  <a:srgbClr val="434343"/>
                </a:solidFill>
                <a:latin typeface="Consolas"/>
              </a:rPr>
              <a:t>## Context</a:t>
            </a:r>
          </a:p>
          <a:p>
            <a:pPr algn="l">
              <a:lnSpc>
                <a:spcPct val="114000"/>
              </a:lnSpc>
              <a:spcAft>
                <a:spcPts val="0"/>
              </a:spcAft>
            </a:pPr>
            <a:r>
              <a:rPr sz="700" b="0">
                <a:solidFill>
                  <a:srgbClr val="434343"/>
                </a:solidFill>
                <a:latin typeface="Consolas"/>
              </a:rPr>
              <a:t>&lt;from Claude, edited&gt;</a:t>
            </a:r>
          </a:p>
          <a:p>
            <a:pPr algn="l">
              <a:lnSpc>
                <a:spcPct val="114000"/>
              </a:lnSpc>
              <a:spcAft>
                <a:spcPts val="0"/>
              </a:spcAft>
            </a:pPr>
            <a:r>
              <a:rPr sz="700" b="0">
                <a:solidFill>
                  <a:srgbClr val="434343"/>
                </a:solidFill>
                <a:latin typeface="Consolas"/>
              </a:rPr>
              <a:t/>
            </a:r>
          </a:p>
          <a:p>
            <a:pPr algn="l">
              <a:lnSpc>
                <a:spcPct val="114000"/>
              </a:lnSpc>
              <a:spcAft>
                <a:spcPts val="0"/>
              </a:spcAft>
            </a:pPr>
            <a:r>
              <a:rPr sz="700" b="0">
                <a:solidFill>
                  <a:srgbClr val="434343"/>
                </a:solidFill>
                <a:latin typeface="Consolas"/>
              </a:rPr>
              <a:t>## Decision</a:t>
            </a:r>
          </a:p>
          <a:p>
            <a:pPr algn="l">
              <a:lnSpc>
                <a:spcPct val="114000"/>
              </a:lnSpc>
              <a:spcAft>
                <a:spcPts val="0"/>
              </a:spcAft>
            </a:pPr>
            <a:r>
              <a:rPr sz="700" b="0">
                <a:solidFill>
                  <a:srgbClr val="434343"/>
                </a:solidFill>
                <a:latin typeface="Consolas"/>
              </a:rPr>
              <a:t>Only modules under</a:t>
            </a:r>
          </a:p>
          <a:p>
            <a:pPr algn="l">
              <a:lnSpc>
                <a:spcPct val="114000"/>
              </a:lnSpc>
              <a:spcAft>
                <a:spcPts val="0"/>
              </a:spcAft>
            </a:pPr>
            <a:r>
              <a:rPr sz="700" b="0">
                <a:solidFill>
                  <a:srgbClr val="434343"/>
                </a:solidFill>
                <a:latin typeface="Consolas"/>
              </a:rPr>
              <a:t>server/src/repositories/ may import</a:t>
            </a:r>
          </a:p>
          <a:p>
            <a:pPr algn="l">
              <a:lnSpc>
                <a:spcPct val="114000"/>
              </a:lnSpc>
              <a:spcAft>
                <a:spcPts val="0"/>
              </a:spcAft>
            </a:pPr>
            <a:r>
              <a:rPr sz="700" b="0">
                <a:solidFill>
                  <a:srgbClr val="434343"/>
                </a:solidFill>
                <a:latin typeface="Consolas"/>
              </a:rPr>
              <a:t>db/store.ts.  &lt;-- I wrote this</a:t>
            </a:r>
          </a:p>
          <a:p>
            <a:pPr algn="l">
              <a:lnSpc>
                <a:spcPct val="114000"/>
              </a:lnSpc>
              <a:spcAft>
                <a:spcPts val="0"/>
              </a:spcAft>
            </a:pPr>
            <a:r>
              <a:rPr sz="700" b="0">
                <a:solidFill>
                  <a:srgbClr val="434343"/>
                </a:solidFill>
                <a:latin typeface="Consolas"/>
              </a:rPr>
              <a:t/>
            </a:r>
          </a:p>
          <a:p>
            <a:pPr algn="l">
              <a:lnSpc>
                <a:spcPct val="114000"/>
              </a:lnSpc>
              <a:spcAft>
                <a:spcPts val="0"/>
              </a:spcAft>
            </a:pPr>
            <a:r>
              <a:rPr sz="700" b="0">
                <a:solidFill>
                  <a:srgbClr val="434343"/>
                </a:solidFill>
                <a:latin typeface="Consolas"/>
              </a:rPr>
              <a:t>## Consequences</a:t>
            </a:r>
          </a:p>
          <a:p>
            <a:pPr algn="l">
              <a:lnSpc>
                <a:spcPct val="114000"/>
              </a:lnSpc>
              <a:spcAft>
                <a:spcPts val="0"/>
              </a:spcAft>
            </a:pPr>
            <a:r>
              <a:rPr sz="700" b="0">
                <a:solidFill>
                  <a:srgbClr val="434343"/>
                </a:solidFill>
                <a:latin typeface="Consolas"/>
              </a:rPr>
              <a:t>- Good: persistence is swappable</a:t>
            </a:r>
          </a:p>
          <a:p>
            <a:pPr algn="l">
              <a:lnSpc>
                <a:spcPct val="114000"/>
              </a:lnSpc>
              <a:spcAft>
                <a:spcPts val="0"/>
              </a:spcAft>
            </a:pPr>
            <a:r>
              <a:rPr sz="700" b="0">
                <a:solidFill>
                  <a:srgbClr val="434343"/>
                </a:solidFill>
                <a:latin typeface="Consolas"/>
              </a:rPr>
              <a:t>- Bad: one more hop for simple reads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YOUR TURN</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Now write yours — same subject, your words</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Everything today is yours, in your copy — including the clause list you derive later.</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1783080"/>
            <a:ext cx="7863840" cy="2935224"/>
          </a:xfrm>
          <a:prstGeom prst="rect">
            <a:avLst/>
          </a:prstGeom>
          <a:noFill/>
        </p:spPr>
        <p:txBody>
          <a:bodyPr wrap="square" anchor="t" lIns="0" rIns="0" tIns="0" bIns="0">
            <a:spAutoFit/>
          </a:bodyPr>
          <a:lstStyle/>
          <a:p>
            <a:pPr algn="l">
              <a:lnSpc>
                <a:spcPct val="122000"/>
              </a:lnSpc>
              <a:spcAft>
                <a:spcPts val="900"/>
              </a:spcAft>
            </a:pPr>
            <a:r>
              <a:rPr sz="1250" b="1">
                <a:solidFill>
                  <a:srgbClr val="403FE8"/>
                </a:solidFill>
                <a:latin typeface="Arial"/>
              </a:rPr>
              <a:t>•  </a:t>
            </a:r>
            <a:r>
              <a:rPr sz="1250" b="1">
                <a:solidFill>
                  <a:srgbClr val="13135E"/>
                </a:solidFill>
                <a:latin typeface="Arial"/>
              </a:rPr>
              <a:t>Ten minutes, in your own copy. </a:t>
            </a:r>
            <a:r>
              <a:rPr sz="1250" b="0">
                <a:solidFill>
                  <a:srgbClr val="434343"/>
                </a:solidFill>
                <a:latin typeface="Arial"/>
              </a:rPr>
              <a:t>Same boundary, your own Context and Consequences. The motion is the point, not novelty.</a:t>
            </a:r>
          </a:p>
          <a:p>
            <a:pPr algn="l">
              <a:lnSpc>
                <a:spcPct val="122000"/>
              </a:lnSpc>
              <a:spcAft>
                <a:spcPts val="900"/>
              </a:spcAft>
            </a:pPr>
            <a:r>
              <a:rPr sz="1250" b="1">
                <a:solidFill>
                  <a:srgbClr val="403FE8"/>
                </a:solidFill>
                <a:latin typeface="Arial"/>
              </a:rPr>
              <a:t>•  </a:t>
            </a:r>
            <a:r>
              <a:rPr sz="1250" b="1">
                <a:solidFill>
                  <a:srgbClr val="13135E"/>
                </a:solidFill>
                <a:latin typeface="Arial"/>
              </a:rPr>
              <a:t>Use the two prompts you just watched. </a:t>
            </a:r>
            <a:r>
              <a:rPr sz="1250" b="0">
                <a:solidFill>
                  <a:srgbClr val="434343"/>
                </a:solidFill>
                <a:latin typeface="Arial"/>
              </a:rPr>
              <a:t>Evidence first, then draft-with-the-decision-left-open. Both are in the handout.</a:t>
            </a:r>
          </a:p>
          <a:p>
            <a:pPr algn="l">
              <a:lnSpc>
                <a:spcPct val="122000"/>
              </a:lnSpc>
              <a:spcAft>
                <a:spcPts val="900"/>
              </a:spcAft>
            </a:pPr>
            <a:r>
              <a:rPr sz="1250" b="1">
                <a:solidFill>
                  <a:srgbClr val="403FE8"/>
                </a:solidFill>
                <a:latin typeface="Arial"/>
              </a:rPr>
              <a:t>•  </a:t>
            </a:r>
            <a:r>
              <a:rPr sz="1250" b="1">
                <a:solidFill>
                  <a:srgbClr val="13135E"/>
                </a:solidFill>
                <a:latin typeface="Arial"/>
              </a:rPr>
              <a:t>Write the Decision yourself. </a:t>
            </a:r>
            <a:r>
              <a:rPr sz="1250" b="0">
                <a:solidFill>
                  <a:srgbClr val="434343"/>
                </a:solidFill>
                <a:latin typeface="Arial"/>
              </a:rPr>
              <a:t>One sentence. If it came out of Claude, rewrite it.</a:t>
            </a:r>
          </a:p>
          <a:p>
            <a:pPr algn="l">
              <a:lnSpc>
                <a:spcPct val="122000"/>
              </a:lnSpc>
              <a:spcAft>
                <a:spcPts val="900"/>
              </a:spcAft>
            </a:pPr>
            <a:r>
              <a:rPr sz="1250" b="1">
                <a:solidFill>
                  <a:srgbClr val="403FE8"/>
                </a:solidFill>
                <a:latin typeface="Arial"/>
              </a:rPr>
              <a:t>•  </a:t>
            </a:r>
            <a:r>
              <a:rPr sz="1250" b="1">
                <a:solidFill>
                  <a:srgbClr val="13135E"/>
                </a:solidFill>
                <a:latin typeface="Arial"/>
              </a:rPr>
              <a:t>Find one honest cost. </a:t>
            </a:r>
            <a:r>
              <a:rPr sz="1250" b="0">
                <a:solidFill>
                  <a:srgbClr val="434343"/>
                </a:solidFill>
                <a:latin typeface="Arial"/>
              </a:rPr>
              <a:t>The acceptance bar has a cost in Consequences — "none" is not an answer.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CHECKPOINT</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Checkpoint 1</a:t>
            </a:r>
          </a:p>
        </p:txBody>
      </p:sp>
      <p:sp>
        <p:nvSpPr>
          <p:cNvPr id="7" name="TextBox 6"/>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8" name="Rectangle 7"/>
          <p:cNvSpPr/>
          <p:nvPr/>
        </p:nvSpPr>
        <p:spPr>
          <a:xfrm>
            <a:off x="548640" y="1691640"/>
            <a:ext cx="8046720" cy="1417320"/>
          </a:xfrm>
          <a:prstGeom prst="rect">
            <a:avLst/>
          </a:prstGeom>
          <a:solidFill>
            <a:srgbClr val="E2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91640"/>
            <a:ext cx="54864" cy="14173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74519"/>
            <a:ext cx="7498079" cy="310896"/>
          </a:xfrm>
          <a:prstGeom prst="rect">
            <a:avLst/>
          </a:prstGeom>
          <a:noFill/>
        </p:spPr>
        <p:txBody>
          <a:bodyPr wrap="square" anchor="t" lIns="0" rIns="0" tIns="0" bIns="0">
            <a:spAutoFit/>
          </a:bodyPr>
          <a:lstStyle/>
          <a:p>
            <a:pPr algn="l">
              <a:spcAft>
                <a:spcPts val="400"/>
              </a:spcAft>
            </a:pPr>
            <a:r>
              <a:rPr sz="950" b="1">
                <a:solidFill>
                  <a:srgbClr val="1B7F4B"/>
                </a:solidFill>
                <a:latin typeface="Arial"/>
              </a:rPr>
              <a:t>NOBODY ADVANCES UNTIL THIS IS TRUE</a:t>
            </a:r>
          </a:p>
        </p:txBody>
      </p:sp>
      <p:sp>
        <p:nvSpPr>
          <p:cNvPr id="11" name="TextBox 10"/>
          <p:cNvSpPr txBox="1"/>
          <p:nvPr/>
        </p:nvSpPr>
        <p:spPr>
          <a:xfrm>
            <a:off x="868680" y="2240280"/>
            <a:ext cx="7498079" cy="777240"/>
          </a:xfrm>
          <a:prstGeom prst="rect">
            <a:avLst/>
          </a:prstGeom>
          <a:noFill/>
        </p:spPr>
        <p:txBody>
          <a:bodyPr wrap="square" anchor="t" lIns="0" rIns="0" tIns="0" bIns="0">
            <a:spAutoFit/>
          </a:bodyPr>
          <a:lstStyle/>
          <a:p>
            <a:pPr algn="l">
              <a:lnSpc>
                <a:spcPct val="120000"/>
              </a:lnSpc>
              <a:spcAft>
                <a:spcPts val="400"/>
              </a:spcAft>
            </a:pPr>
            <a:r>
              <a:rPr sz="1400" b="1">
                <a:solidFill>
                  <a:srgbClr val="13135E"/>
                </a:solidFill>
                <a:latin typeface="Arial"/>
              </a:rPr>
              <a:t>You have docs/adr/0002-*.md staged in YOUR copy: metadata block (Status / Date / Deciders) complete, all three sections — Context, Decision, Consequences — filled, and at least one real cost.</a:t>
            </a:r>
          </a:p>
        </p:txBody>
      </p:sp>
      <p:sp>
        <p:nvSpPr>
          <p:cNvPr id="12" name="TextBox 11"/>
          <p:cNvSpPr txBox="1"/>
          <p:nvPr/>
        </p:nvSpPr>
        <p:spPr>
          <a:xfrm>
            <a:off x="548640" y="3337560"/>
            <a:ext cx="7863840" cy="1005840"/>
          </a:xfrm>
          <a:prstGeom prst="rect">
            <a:avLst/>
          </a:prstGeom>
          <a:noFill/>
        </p:spPr>
        <p:txBody>
          <a:bodyPr wrap="square" anchor="t" lIns="0" rIns="0" tIns="0" bIns="0">
            <a:spAutoFit/>
          </a:bodyPr>
          <a:lstStyle/>
          <a:p>
            <a:pPr algn="l">
              <a:lnSpc>
                <a:spcPct val="130000"/>
              </a:lnSpc>
              <a:spcAft>
                <a:spcPts val="400"/>
              </a:spcAft>
            </a:pPr>
            <a:r>
              <a:rPr sz="1150" b="0">
                <a:solidFill>
                  <a:srgbClr val="434343"/>
                </a:solidFill>
                <a:latin typeface="Arial"/>
              </a:rPr>
              <a:t>Paste your Decision sentence into chat. If it came out of Claude rather than out of you, rewrite it first — that is the one part of an ADR that cannot be delegated.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9144000" cy="5143500"/>
          </a:xfrm>
          <a:prstGeom prst="rect">
            <a:avLst/>
          </a:prstGeom>
        </p:spPr>
      </p:pic>
      <p:pic>
        <p:nvPicPr>
          <p:cNvPr id="3" name="Picture 2" descr="image2.png"/>
          <p:cNvPicPr>
            <a:picLocks noChangeAspect="1"/>
          </p:cNvPicPr>
          <p:nvPr/>
        </p:nvPicPr>
        <p:blipFill>
          <a:blip r:embed="rId3"/>
          <a:stretch>
            <a:fillRect/>
          </a:stretch>
        </p:blipFill>
        <p:spPr>
          <a:xfrm>
            <a:off x="548640" y="457200"/>
            <a:ext cx="850392" cy="457200"/>
          </a:xfrm>
          <a:prstGeom prst="rect">
            <a:avLst/>
          </a:prstGeom>
        </p:spPr>
      </p:pic>
      <p:sp>
        <p:nvSpPr>
          <p:cNvPr id="4" name="TextBox 3"/>
          <p:cNvSpPr txBox="1"/>
          <p:nvPr/>
        </p:nvSpPr>
        <p:spPr>
          <a:xfrm>
            <a:off x="548640" y="2148840"/>
            <a:ext cx="7863840" cy="731520"/>
          </a:xfrm>
          <a:prstGeom prst="rect">
            <a:avLst/>
          </a:prstGeom>
          <a:noFill/>
        </p:spPr>
        <p:txBody>
          <a:bodyPr wrap="square" anchor="t" lIns="0" rIns="0" tIns="0" bIns="0">
            <a:spAutoFit/>
          </a:bodyPr>
          <a:lstStyle/>
          <a:p>
            <a:pPr algn="l">
              <a:spcAft>
                <a:spcPts val="400"/>
              </a:spcAft>
            </a:pPr>
            <a:r>
              <a:rPr sz="3000" b="1">
                <a:solidFill>
                  <a:srgbClr val="FFFFFF"/>
                </a:solidFill>
                <a:latin typeface="Arial"/>
              </a:rPr>
              <a:t>Your turn — derive a rule</a:t>
            </a:r>
          </a:p>
        </p:txBody>
      </p:sp>
      <p:sp>
        <p:nvSpPr>
          <p:cNvPr id="5" name="TextBox 4"/>
          <p:cNvSpPr txBox="1"/>
          <p:nvPr/>
        </p:nvSpPr>
        <p:spPr>
          <a:xfrm>
            <a:off x="548640" y="2971800"/>
            <a:ext cx="7863840" cy="457200"/>
          </a:xfrm>
          <a:prstGeom prst="rect">
            <a:avLst/>
          </a:prstGeom>
          <a:noFill/>
        </p:spPr>
        <p:txBody>
          <a:bodyPr wrap="square" anchor="t" lIns="0" rIns="0" tIns="0" bIns="0">
            <a:spAutoFit/>
          </a:bodyPr>
          <a:lstStyle/>
          <a:p>
            <a:pPr algn="l">
              <a:lnSpc>
                <a:spcPct val="130000"/>
              </a:lnSpc>
              <a:spcAft>
                <a:spcPts val="400"/>
              </a:spcAft>
            </a:pPr>
            <a:r>
              <a:rPr sz="1300" b="0">
                <a:solidFill>
                  <a:srgbClr val="CCD9FF"/>
                </a:solidFill>
                <a:latin typeface="Arial"/>
              </a:rPr>
              <a:t>Three fixes on screen. You decide what the standard is — and it becomes your NFR.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STIMULUS</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Three ways the same bug got fixed</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Three fixes, authored for this exercise. All reviewed. All merged. All green. This is the raw material for the rule you are about to write.</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54864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Fix</a:t>
            </a:r>
          </a:p>
        </p:txBody>
      </p:sp>
      <p:sp>
        <p:nvSpPr>
          <p:cNvPr id="11" name="TextBox 10"/>
          <p:cNvSpPr txBox="1"/>
          <p:nvPr/>
        </p:nvSpPr>
        <p:spPr>
          <a:xfrm>
            <a:off x="1371600" y="2089404"/>
            <a:ext cx="585216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The situation</a:t>
            </a:r>
          </a:p>
        </p:txBody>
      </p:sp>
      <p:sp>
        <p:nvSpPr>
          <p:cNvPr id="12" name="TextBox 11"/>
          <p:cNvSpPr txBox="1"/>
          <p:nvPr/>
        </p:nvSpPr>
        <p:spPr>
          <a:xfrm>
            <a:off x="7406640" y="2089404"/>
            <a:ext cx="109728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CI</a:t>
            </a:r>
          </a:p>
        </p:txBody>
      </p:sp>
      <p:sp>
        <p:nvSpPr>
          <p:cNvPr id="13" name="Rectangle 12"/>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77440"/>
            <a:ext cx="54864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A</a:t>
            </a:r>
          </a:p>
        </p:txBody>
      </p:sp>
      <p:sp>
        <p:nvSpPr>
          <p:cNvPr id="15" name="TextBox 14"/>
          <p:cNvSpPr txBox="1"/>
          <p:nvPr/>
        </p:nvSpPr>
        <p:spPr>
          <a:xfrm>
            <a:off x="1371600" y="2377440"/>
            <a:ext cx="585216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Fixed under pressure and shipped. "Test to follow" — it never did.</a:t>
            </a:r>
          </a:p>
        </p:txBody>
      </p:sp>
      <p:sp>
        <p:nvSpPr>
          <p:cNvPr id="16" name="TextBox 15"/>
          <p:cNvSpPr txBox="1"/>
          <p:nvPr/>
        </p:nvSpPr>
        <p:spPr>
          <a:xfrm>
            <a:off x="7406640" y="2377440"/>
            <a:ext cx="1097280" cy="292607"/>
          </a:xfrm>
          <a:prstGeom prst="rect">
            <a:avLst/>
          </a:prstGeom>
          <a:noFill/>
        </p:spPr>
        <p:txBody>
          <a:bodyPr wrap="square" anchor="t" lIns="0" rIns="0" tIns="0" bIns="0">
            <a:spAutoFit/>
          </a:bodyPr>
          <a:lstStyle/>
          <a:p>
            <a:pPr algn="l">
              <a:lnSpc>
                <a:spcPct val="112000"/>
              </a:lnSpc>
              <a:spcAft>
                <a:spcPts val="400"/>
              </a:spcAft>
            </a:pPr>
            <a:r>
              <a:rPr sz="950" b="0">
                <a:solidFill>
                  <a:srgbClr val="1B7F4B"/>
                </a:solidFill>
                <a:latin typeface="Arial"/>
              </a:rPr>
              <a:t>green</a:t>
            </a:r>
          </a:p>
        </p:txBody>
      </p:sp>
      <p:sp>
        <p:nvSpPr>
          <p:cNvPr id="17" name="Rectangle 16"/>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61488"/>
            <a:ext cx="54864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B</a:t>
            </a:r>
          </a:p>
        </p:txBody>
      </p:sp>
      <p:sp>
        <p:nvSpPr>
          <p:cNvPr id="19" name="TextBox 18"/>
          <p:cNvSpPr txBox="1"/>
          <p:nvPr/>
        </p:nvSpPr>
        <p:spPr>
          <a:xfrm>
            <a:off x="1371600" y="2761488"/>
            <a:ext cx="585216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Fixed, then a test written afterwards. It passes — and it also passes on the UNfixed code.</a:t>
            </a:r>
          </a:p>
        </p:txBody>
      </p:sp>
      <p:sp>
        <p:nvSpPr>
          <p:cNvPr id="20" name="TextBox 19"/>
          <p:cNvSpPr txBox="1"/>
          <p:nvPr/>
        </p:nvSpPr>
        <p:spPr>
          <a:xfrm>
            <a:off x="7406640" y="2761488"/>
            <a:ext cx="1097280" cy="292607"/>
          </a:xfrm>
          <a:prstGeom prst="rect">
            <a:avLst/>
          </a:prstGeom>
          <a:noFill/>
        </p:spPr>
        <p:txBody>
          <a:bodyPr wrap="square" anchor="t" lIns="0" rIns="0" tIns="0" bIns="0">
            <a:spAutoFit/>
          </a:bodyPr>
          <a:lstStyle/>
          <a:p>
            <a:pPr algn="l">
              <a:lnSpc>
                <a:spcPct val="112000"/>
              </a:lnSpc>
              <a:spcAft>
                <a:spcPts val="400"/>
              </a:spcAft>
            </a:pPr>
            <a:r>
              <a:rPr sz="950" b="0">
                <a:solidFill>
                  <a:srgbClr val="1B7F4B"/>
                </a:solidFill>
                <a:latin typeface="Arial"/>
              </a:rPr>
              <a:t>green</a:t>
            </a:r>
          </a:p>
        </p:txBody>
      </p:sp>
      <p:sp>
        <p:nvSpPr>
          <p:cNvPr id="21" name="Rectangle 20"/>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45536"/>
            <a:ext cx="548640"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C</a:t>
            </a:r>
          </a:p>
        </p:txBody>
      </p:sp>
      <p:sp>
        <p:nvSpPr>
          <p:cNvPr id="23" name="TextBox 22"/>
          <p:cNvSpPr txBox="1"/>
          <p:nvPr/>
        </p:nvSpPr>
        <p:spPr>
          <a:xfrm>
            <a:off x="1371600" y="3145536"/>
            <a:ext cx="585216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A failing test written first; the fix made it pass. (This is what your own 1.b PRs did.)</a:t>
            </a:r>
          </a:p>
        </p:txBody>
      </p:sp>
      <p:sp>
        <p:nvSpPr>
          <p:cNvPr id="24" name="TextBox 23"/>
          <p:cNvSpPr txBox="1"/>
          <p:nvPr/>
        </p:nvSpPr>
        <p:spPr>
          <a:xfrm>
            <a:off x="7406640" y="3145536"/>
            <a:ext cx="1097280" cy="292607"/>
          </a:xfrm>
          <a:prstGeom prst="rect">
            <a:avLst/>
          </a:prstGeom>
          <a:noFill/>
        </p:spPr>
        <p:txBody>
          <a:bodyPr wrap="square" anchor="t" lIns="0" rIns="0" tIns="0" bIns="0">
            <a:spAutoFit/>
          </a:bodyPr>
          <a:lstStyle/>
          <a:p>
            <a:pPr algn="l">
              <a:lnSpc>
                <a:spcPct val="112000"/>
              </a:lnSpc>
              <a:spcAft>
                <a:spcPts val="400"/>
              </a:spcAft>
            </a:pPr>
            <a:r>
              <a:rPr sz="950" b="0">
                <a:solidFill>
                  <a:srgbClr val="1B7F4B"/>
                </a:solidFill>
                <a:latin typeface="Arial"/>
              </a:rPr>
              <a:t>green</a:t>
            </a:r>
          </a:p>
        </p:txBody>
      </p:sp>
      <p:sp>
        <p:nvSpPr>
          <p:cNvPr id="25" name="TextBox 24"/>
          <p:cNvSpPr txBox="1"/>
          <p:nvPr/>
        </p:nvSpPr>
        <p:spPr>
          <a:xfrm>
            <a:off x="548640" y="3602736"/>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While you read, answer two questions per fix, silently: Would you merge it? And — what, exactly, convinces you the bug is actually fixed? Hold your answers.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DERIVE · THE CLOCK</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Your ten minutes, structured</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A good clause names an observable fact: "a change under server/src ships with a test in the same PR" is a clause. "Tests should be good" is a wish.</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457199"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Min</a:t>
            </a:r>
          </a:p>
        </p:txBody>
      </p:sp>
      <p:sp>
        <p:nvSpPr>
          <p:cNvPr id="11" name="TextBox 10"/>
          <p:cNvSpPr txBox="1"/>
          <p:nvPr/>
        </p:nvSpPr>
        <p:spPr>
          <a:xfrm>
            <a:off x="1280160" y="2089404"/>
            <a:ext cx="3383279"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Do this</a:t>
            </a:r>
          </a:p>
        </p:txBody>
      </p:sp>
      <p:sp>
        <p:nvSpPr>
          <p:cNvPr id="12" name="TextBox 11"/>
          <p:cNvSpPr txBox="1"/>
          <p:nvPr/>
        </p:nvSpPr>
        <p:spPr>
          <a:xfrm>
            <a:off x="4846319" y="2089404"/>
            <a:ext cx="365760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Output</a:t>
            </a:r>
          </a:p>
        </p:txBody>
      </p:sp>
      <p:sp>
        <p:nvSpPr>
          <p:cNvPr id="13" name="Rectangle 12"/>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77440"/>
            <a:ext cx="457199"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0–4</a:t>
            </a:r>
          </a:p>
        </p:txBody>
      </p:sp>
      <p:sp>
        <p:nvSpPr>
          <p:cNvPr id="15" name="TextBox 14"/>
          <p:cNvSpPr txBox="1"/>
          <p:nvPr/>
        </p:nvSpPr>
        <p:spPr>
          <a:xfrm>
            <a:off x="1280160" y="2377440"/>
            <a:ext cx="33832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Verdict each seed: keep, tighten, or drop. A clause earns KEEP only if you can name which of A / B / C it catches</a:t>
            </a:r>
          </a:p>
        </p:txBody>
      </p:sp>
      <p:sp>
        <p:nvSpPr>
          <p:cNvPr id="16" name="TextBox 15"/>
          <p:cNvSpPr txBox="1"/>
          <p:nvPr/>
        </p:nvSpPr>
        <p:spPr>
          <a:xfrm>
            <a:off x="4846319" y="2377440"/>
            <a:ext cx="365760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Four verdicts, each tagged MECHANICAL or FUZZY</a:t>
            </a:r>
          </a:p>
        </p:txBody>
      </p:sp>
      <p:sp>
        <p:nvSpPr>
          <p:cNvPr id="17" name="Rectangle 16"/>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61488"/>
            <a:ext cx="457199"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4–7</a:t>
            </a:r>
          </a:p>
        </p:txBody>
      </p:sp>
      <p:sp>
        <p:nvSpPr>
          <p:cNvPr id="19" name="TextBox 18"/>
          <p:cNvSpPr txBox="1"/>
          <p:nvPr/>
        </p:nvSpPr>
        <p:spPr>
          <a:xfrm>
            <a:off x="1280160" y="2761488"/>
            <a:ext cx="33832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Add your own clauses — what did the seeds miss?</a:t>
            </a:r>
          </a:p>
        </p:txBody>
      </p:sp>
      <p:sp>
        <p:nvSpPr>
          <p:cNvPr id="20" name="TextBox 19"/>
          <p:cNvSpPr txBox="1"/>
          <p:nvPr/>
        </p:nvSpPr>
        <p:spPr>
          <a:xfrm>
            <a:off x="4846319" y="2761488"/>
            <a:ext cx="365760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One or two more, tagged. More than 6 total means they're too small</a:t>
            </a:r>
          </a:p>
        </p:txBody>
      </p:sp>
      <p:sp>
        <p:nvSpPr>
          <p:cNvPr id="21" name="Rectangle 20"/>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145536"/>
            <a:ext cx="457199"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7–9</a:t>
            </a:r>
          </a:p>
        </p:txBody>
      </p:sp>
      <p:sp>
        <p:nvSpPr>
          <p:cNvPr id="23" name="TextBox 22"/>
          <p:cNvSpPr txBox="1"/>
          <p:nvPr/>
        </p:nvSpPr>
        <p:spPr>
          <a:xfrm>
            <a:off x="1280160" y="3145536"/>
            <a:ext cx="33832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Mark the one clause you're LEAST sure about</a:t>
            </a:r>
          </a:p>
        </p:txBody>
      </p:sp>
      <p:sp>
        <p:nvSpPr>
          <p:cNvPr id="24" name="TextBox 23"/>
          <p:cNvSpPr txBox="1"/>
          <p:nvPr/>
        </p:nvSpPr>
        <p:spPr>
          <a:xfrm>
            <a:off x="4846319" y="3145536"/>
            <a:ext cx="365760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That is what you'll raise at the compare — doubt is the interesting output</a:t>
            </a:r>
          </a:p>
        </p:txBody>
      </p:sp>
      <p:sp>
        <p:nvSpPr>
          <p:cNvPr id="25" name="Rectangle 24"/>
          <p:cNvSpPr/>
          <p:nvPr/>
        </p:nvSpPr>
        <p:spPr>
          <a:xfrm>
            <a:off x="548640" y="3474720"/>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529584"/>
            <a:ext cx="457199" cy="292607"/>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9–10</a:t>
            </a:r>
          </a:p>
        </p:txBody>
      </p:sp>
      <p:sp>
        <p:nvSpPr>
          <p:cNvPr id="27" name="TextBox 26"/>
          <p:cNvSpPr txBox="1"/>
          <p:nvPr/>
        </p:nvSpPr>
        <p:spPr>
          <a:xfrm>
            <a:off x="1280160" y="3529584"/>
            <a:ext cx="3383279"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Paste your list into the shared Doc, under your name</a:t>
            </a:r>
          </a:p>
        </p:txBody>
      </p:sp>
      <p:sp>
        <p:nvSpPr>
          <p:cNvPr id="28" name="TextBox 27"/>
          <p:cNvSpPr txBox="1"/>
          <p:nvPr/>
        </p:nvSpPr>
        <p:spPr>
          <a:xfrm>
            <a:off x="4846319" y="3529584"/>
            <a:ext cx="3657600" cy="292607"/>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Everyone's lists, side by side — the raw material for the class standard</a:t>
            </a:r>
          </a:p>
        </p:txBody>
      </p:sp>
      <p:sp>
        <p:nvSpPr>
          <p:cNvPr id="29" name="TextBox 28"/>
          <p:cNvSpPr txBox="1"/>
          <p:nvPr/>
        </p:nvSpPr>
        <p:spPr>
          <a:xfrm>
            <a:off x="548640" y="3986783"/>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All of it is yours: this list, and the NFR you write from it — your own copy, your own PR. The class compare that follows is calibration, not a committee. (And: tighten = more checkable, not more strict.)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DERIVE</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Which are acceptable? Write the rule.</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Ten minutes, on your own, on the clock you just saw: verdict each seed (keep / tighten / drop), tag it, add your own. These clauses become the Rules section of your NFR.</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103120"/>
            <a:ext cx="2602992" cy="233172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YOUR SEED CLAUSES</a:t>
            </a:r>
          </a:p>
        </p:txBody>
      </p:sp>
      <p:sp>
        <p:nvSpPr>
          <p:cNvPr id="12" name="TextBox 11"/>
          <p:cNvSpPr txBox="1"/>
          <p:nvPr/>
        </p:nvSpPr>
        <p:spPr>
          <a:xfrm>
            <a:off x="731520" y="2816352"/>
            <a:ext cx="2237232" cy="1463039"/>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1. A fix ships with a test</a:t>
            </a:r>
          </a:p>
          <a:p>
            <a:pPr algn="l">
              <a:lnSpc>
                <a:spcPct val="118000"/>
              </a:lnSpc>
              <a:spcAft>
                <a:spcPts val="600"/>
              </a:spcAft>
            </a:pPr>
            <a:r>
              <a:rPr sz="1000" b="1">
                <a:solidFill>
                  <a:srgbClr val="A9B7F7"/>
                </a:solidFill>
                <a:latin typeface="Arial"/>
              </a:rPr>
              <a:t>•  </a:t>
            </a:r>
            <a:r>
              <a:rPr sz="1000" b="0">
                <a:solidFill>
                  <a:srgbClr val="434343"/>
                </a:solidFill>
                <a:latin typeface="Arial"/>
              </a:rPr>
              <a:t>2. The test failed before the fix</a:t>
            </a:r>
          </a:p>
          <a:p>
            <a:pPr algn="l">
              <a:lnSpc>
                <a:spcPct val="118000"/>
              </a:lnSpc>
              <a:spcAft>
                <a:spcPts val="600"/>
              </a:spcAft>
            </a:pPr>
            <a:r>
              <a:rPr sz="1000" b="1">
                <a:solidFill>
                  <a:srgbClr val="A9B7F7"/>
                </a:solidFill>
                <a:latin typeface="Arial"/>
              </a:rPr>
              <a:t>•  </a:t>
            </a:r>
            <a:r>
              <a:rPr sz="1000" b="0">
                <a:solidFill>
                  <a:srgbClr val="434343"/>
                </a:solidFill>
                <a:latin typeface="Arial"/>
              </a:rPr>
              <a:t>3. Test lives next to its module</a:t>
            </a:r>
          </a:p>
          <a:p>
            <a:pPr algn="l">
              <a:lnSpc>
                <a:spcPct val="118000"/>
              </a:lnSpc>
              <a:spcAft>
                <a:spcPts val="600"/>
              </a:spcAft>
            </a:pPr>
            <a:r>
              <a:rPr sz="1000" b="1">
                <a:solidFill>
                  <a:srgbClr val="A9B7F7"/>
                </a:solidFill>
                <a:latin typeface="Arial"/>
              </a:rPr>
              <a:t>•  </a:t>
            </a:r>
            <a:r>
              <a:rPr sz="1000" b="0">
                <a:solidFill>
                  <a:srgbClr val="434343"/>
                </a:solidFill>
                <a:latin typeface="Arial"/>
              </a:rPr>
              <a:t>4. Full suite green before the PR</a:t>
            </a:r>
          </a:p>
        </p:txBody>
      </p:sp>
      <p:sp>
        <p:nvSpPr>
          <p:cNvPr id="13" name="Rectangle 12"/>
          <p:cNvSpPr/>
          <p:nvPr/>
        </p:nvSpPr>
        <p:spPr>
          <a:xfrm>
            <a:off x="3270504" y="2103120"/>
            <a:ext cx="2602992" cy="233172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70504"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3384"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TAG EVERY CLAUSE</a:t>
            </a:r>
          </a:p>
        </p:txBody>
      </p:sp>
      <p:sp>
        <p:nvSpPr>
          <p:cNvPr id="16" name="TextBox 15"/>
          <p:cNvSpPr txBox="1"/>
          <p:nvPr/>
        </p:nvSpPr>
        <p:spPr>
          <a:xfrm>
            <a:off x="3453384" y="2816352"/>
            <a:ext cx="2237232" cy="1463039"/>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MECHANICAL — a script decides it from the diff</a:t>
            </a:r>
          </a:p>
          <a:p>
            <a:pPr algn="l">
              <a:lnSpc>
                <a:spcPct val="118000"/>
              </a:lnSpc>
              <a:spcAft>
                <a:spcPts val="600"/>
              </a:spcAft>
            </a:pPr>
            <a:r>
              <a:rPr sz="1000" b="1">
                <a:solidFill>
                  <a:srgbClr val="A9B7F7"/>
                </a:solidFill>
                <a:latin typeface="Arial"/>
              </a:rPr>
              <a:t>•  </a:t>
            </a:r>
            <a:r>
              <a:rPr sz="1000" b="0">
                <a:solidFill>
                  <a:srgbClr val="434343"/>
                </a:solidFill>
                <a:latin typeface="Arial"/>
              </a:rPr>
              <a:t>FUZZY — it needs a person</a:t>
            </a:r>
          </a:p>
          <a:p>
            <a:pPr algn="l">
              <a:lnSpc>
                <a:spcPct val="118000"/>
              </a:lnSpc>
              <a:spcAft>
                <a:spcPts val="600"/>
              </a:spcAft>
            </a:pPr>
            <a:r>
              <a:rPr sz="1000" b="1">
                <a:solidFill>
                  <a:srgbClr val="A9B7F7"/>
                </a:solidFill>
                <a:latin typeface="Arial"/>
              </a:rPr>
              <a:t>•  </a:t>
            </a:r>
            <a:r>
              <a:rPr sz="1000" b="0">
                <a:solidFill>
                  <a:srgbClr val="434343"/>
                </a:solidFill>
                <a:latin typeface="Arial"/>
              </a:rPr>
              <a:t>The tag is the point. Do not skip it</a:t>
            </a:r>
          </a:p>
        </p:txBody>
      </p:sp>
      <p:sp>
        <p:nvSpPr>
          <p:cNvPr id="17" name="Rectangle 16"/>
          <p:cNvSpPr/>
          <p:nvPr/>
        </p:nvSpPr>
        <p:spPr>
          <a:xfrm>
            <a:off x="5992368" y="2103120"/>
            <a:ext cx="2602992" cy="233172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92368"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5248"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THEN THE COMPARE</a:t>
            </a:r>
          </a:p>
        </p:txBody>
      </p:sp>
      <p:sp>
        <p:nvSpPr>
          <p:cNvPr id="20" name="TextBox 19"/>
          <p:cNvSpPr txBox="1"/>
          <p:nvPr/>
        </p:nvSpPr>
        <p:spPr>
          <a:xfrm>
            <a:off x="6175248" y="2816352"/>
            <a:ext cx="2237232" cy="1463039"/>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Paste your list in the Doc, under your name</a:t>
            </a:r>
          </a:p>
          <a:p>
            <a:pPr algn="l">
              <a:lnSpc>
                <a:spcPct val="118000"/>
              </a:lnSpc>
              <a:spcAft>
                <a:spcPts val="600"/>
              </a:spcAft>
            </a:pPr>
            <a:r>
              <a:rPr sz="1000" b="1">
                <a:solidFill>
                  <a:srgbClr val="A9B7F7"/>
                </a:solidFill>
                <a:latin typeface="Arial"/>
              </a:rPr>
              <a:t>•  </a:t>
            </a:r>
            <a:r>
              <a:rPr sz="1000" b="0">
                <a:solidFill>
                  <a:srgbClr val="434343"/>
                </a:solidFill>
                <a:latin typeface="Arial"/>
              </a:rPr>
              <a:t>The class agrees ONE list from them</a:t>
            </a:r>
          </a:p>
          <a:p>
            <a:pPr algn="l">
              <a:lnSpc>
                <a:spcPct val="118000"/>
              </a:lnSpc>
              <a:spcAft>
                <a:spcPts val="600"/>
              </a:spcAft>
            </a:pPr>
            <a:r>
              <a:rPr sz="1000" b="1">
                <a:solidFill>
                  <a:srgbClr val="A9B7F7"/>
                </a:solidFill>
                <a:latin typeface="Arial"/>
              </a:rPr>
              <a:t>•  </a:t>
            </a:r>
            <a:r>
              <a:rPr sz="1000" b="0">
                <a:solidFill>
                  <a:srgbClr val="434343"/>
                </a:solidFill>
                <a:latin typeface="Arial"/>
              </a:rPr>
              <a:t>Stretch: the store boundary, same method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CONVERGE</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Where we landed</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Your lists, side by side in the Doc — now the class agrees ONE. Written down before anyone moves on.</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103120"/>
            <a:ext cx="2602992" cy="20116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MECHANICAL</a:t>
            </a:r>
          </a:p>
        </p:txBody>
      </p:sp>
      <p:sp>
        <p:nvSpPr>
          <p:cNvPr id="12" name="TextBox 11"/>
          <p:cNvSpPr txBox="1"/>
          <p:nvPr/>
        </p:nvSpPr>
        <p:spPr>
          <a:xfrm>
            <a:off x="731520" y="2816352"/>
            <a:ext cx="2237232" cy="1143000"/>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A change under server/src ships with a test</a:t>
            </a:r>
          </a:p>
          <a:p>
            <a:pPr algn="l">
              <a:lnSpc>
                <a:spcPct val="118000"/>
              </a:lnSpc>
              <a:spcAft>
                <a:spcPts val="600"/>
              </a:spcAft>
            </a:pPr>
            <a:r>
              <a:rPr sz="1000" b="1">
                <a:solidFill>
                  <a:srgbClr val="A9B7F7"/>
                </a:solidFill>
                <a:latin typeface="Arial"/>
              </a:rPr>
              <a:t>•  </a:t>
            </a:r>
            <a:r>
              <a:rPr sz="1000" b="0">
                <a:solidFill>
                  <a:srgbClr val="434343"/>
                </a:solidFill>
                <a:latin typeface="Arial"/>
              </a:rPr>
              <a:t>The test file is co-located</a:t>
            </a:r>
          </a:p>
          <a:p>
            <a:pPr algn="l">
              <a:lnSpc>
                <a:spcPct val="118000"/>
              </a:lnSpc>
              <a:spcAft>
                <a:spcPts val="600"/>
              </a:spcAft>
            </a:pPr>
            <a:r>
              <a:rPr sz="1000" b="1">
                <a:solidFill>
                  <a:srgbClr val="A9B7F7"/>
                </a:solidFill>
                <a:latin typeface="Arial"/>
              </a:rPr>
              <a:t>•  </a:t>
            </a:r>
            <a:r>
              <a:rPr sz="1000" b="0">
                <a:solidFill>
                  <a:srgbClr val="434343"/>
                </a:solidFill>
                <a:latin typeface="Arial"/>
              </a:rPr>
              <a:t>Full suite green</a:t>
            </a:r>
          </a:p>
        </p:txBody>
      </p:sp>
      <p:sp>
        <p:nvSpPr>
          <p:cNvPr id="13" name="Rectangle 12"/>
          <p:cNvSpPr/>
          <p:nvPr/>
        </p:nvSpPr>
        <p:spPr>
          <a:xfrm>
            <a:off x="3270504" y="2103120"/>
            <a:ext cx="2602992" cy="20116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70504"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3384"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FUZZY</a:t>
            </a:r>
          </a:p>
        </p:txBody>
      </p:sp>
      <p:sp>
        <p:nvSpPr>
          <p:cNvPr id="16" name="TextBox 15"/>
          <p:cNvSpPr txBox="1"/>
          <p:nvPr/>
        </p:nvSpPr>
        <p:spPr>
          <a:xfrm>
            <a:off x="3453384" y="2816352"/>
            <a:ext cx="2237232" cy="1143000"/>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The test failed first</a:t>
            </a:r>
          </a:p>
          <a:p>
            <a:pPr algn="l">
              <a:lnSpc>
                <a:spcPct val="118000"/>
              </a:lnSpc>
              <a:spcAft>
                <a:spcPts val="600"/>
              </a:spcAft>
            </a:pPr>
            <a:r>
              <a:rPr sz="1000" b="1">
                <a:solidFill>
                  <a:srgbClr val="A9B7F7"/>
                </a:solidFill>
                <a:latin typeface="Arial"/>
              </a:rPr>
              <a:t>•  </a:t>
            </a:r>
            <a:r>
              <a:rPr sz="1000" b="0">
                <a:solidFill>
                  <a:srgbClr val="434343"/>
                </a:solidFill>
                <a:latin typeface="Arial"/>
              </a:rPr>
              <a:t>The test asserts behaviour, not implementation</a:t>
            </a:r>
          </a:p>
          <a:p>
            <a:pPr algn="l">
              <a:lnSpc>
                <a:spcPct val="118000"/>
              </a:lnSpc>
              <a:spcAft>
                <a:spcPts val="600"/>
              </a:spcAft>
            </a:pPr>
            <a:r>
              <a:rPr sz="1000" b="1">
                <a:solidFill>
                  <a:srgbClr val="A9B7F7"/>
                </a:solidFill>
                <a:latin typeface="Arial"/>
              </a:rPr>
              <a:t>•  </a:t>
            </a:r>
            <a:r>
              <a:rPr sz="1000" b="0">
                <a:solidFill>
                  <a:srgbClr val="434343"/>
                </a:solidFill>
                <a:latin typeface="Arial"/>
              </a:rPr>
              <a:t>The assertion is meaningful</a:t>
            </a:r>
          </a:p>
        </p:txBody>
      </p:sp>
      <p:sp>
        <p:nvSpPr>
          <p:cNvPr id="17" name="Rectangle 16"/>
          <p:cNvSpPr/>
          <p:nvPr/>
        </p:nvSpPr>
        <p:spPr>
          <a:xfrm>
            <a:off x="5992368" y="2103120"/>
            <a:ext cx="2602992" cy="2011680"/>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92368" y="2103120"/>
            <a:ext cx="2602992" cy="41148"/>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5248" y="2286000"/>
            <a:ext cx="2237232" cy="457200"/>
          </a:xfrm>
          <a:prstGeom prst="rect">
            <a:avLst/>
          </a:prstGeom>
          <a:noFill/>
        </p:spPr>
        <p:txBody>
          <a:bodyPr wrap="square" anchor="t" lIns="0" rIns="0" tIns="0" bIns="0">
            <a:spAutoFit/>
          </a:bodyPr>
          <a:lstStyle/>
          <a:p>
            <a:pPr algn="l">
              <a:lnSpc>
                <a:spcPct val="115000"/>
              </a:lnSpc>
              <a:spcAft>
                <a:spcPts val="400"/>
              </a:spcAft>
            </a:pPr>
            <a:r>
              <a:rPr sz="950" b="1">
                <a:solidFill>
                  <a:srgbClr val="403FE8"/>
                </a:solidFill>
                <a:latin typeface="Arial"/>
              </a:rPr>
              <a:t>DECIDE NOW</a:t>
            </a:r>
          </a:p>
        </p:txBody>
      </p:sp>
      <p:sp>
        <p:nvSpPr>
          <p:cNvPr id="20" name="TextBox 19"/>
          <p:cNvSpPr txBox="1"/>
          <p:nvPr/>
        </p:nvSpPr>
        <p:spPr>
          <a:xfrm>
            <a:off x="6175248" y="2816352"/>
            <a:ext cx="2237232" cy="1143000"/>
          </a:xfrm>
          <a:prstGeom prst="rect">
            <a:avLst/>
          </a:prstGeom>
          <a:noFill/>
        </p:spPr>
        <p:txBody>
          <a:bodyPr wrap="square" anchor="t" lIns="0" rIns="0" tIns="0" bIns="0">
            <a:spAutoFit/>
          </a:bodyPr>
          <a:lstStyle/>
          <a:p>
            <a:pPr algn="l">
              <a:lnSpc>
                <a:spcPct val="118000"/>
              </a:lnSpc>
              <a:spcAft>
                <a:spcPts val="600"/>
              </a:spcAft>
            </a:pPr>
            <a:r>
              <a:rPr sz="1000" b="1">
                <a:solidFill>
                  <a:srgbClr val="A9B7F7"/>
                </a:solidFill>
                <a:latin typeface="Arial"/>
              </a:rPr>
              <a:t>•  </a:t>
            </a:r>
            <a:r>
              <a:rPr sz="1000" b="0">
                <a:solidFill>
                  <a:srgbClr val="434343"/>
                </a:solidFill>
                <a:latin typeface="Arial"/>
              </a:rPr>
              <a:t>Accepted risk?</a:t>
            </a:r>
          </a:p>
          <a:p>
            <a:pPr algn="l">
              <a:lnSpc>
                <a:spcPct val="118000"/>
              </a:lnSpc>
              <a:spcAft>
                <a:spcPts val="600"/>
              </a:spcAft>
            </a:pPr>
            <a:r>
              <a:rPr sz="1000" b="1">
                <a:solidFill>
                  <a:srgbClr val="A9B7F7"/>
                </a:solidFill>
                <a:latin typeface="Arial"/>
              </a:rPr>
              <a:t>•  </a:t>
            </a:r>
            <a:r>
              <a:rPr sz="1000" b="0">
                <a:solidFill>
                  <a:srgbClr val="434343"/>
                </a:solidFill>
                <a:latin typeface="Arial"/>
              </a:rPr>
              <a:t>Human gate?</a:t>
            </a:r>
          </a:p>
          <a:p>
            <a:pPr algn="l">
              <a:lnSpc>
                <a:spcPct val="118000"/>
              </a:lnSpc>
              <a:spcAft>
                <a:spcPts val="600"/>
              </a:spcAft>
            </a:pPr>
            <a:r>
              <a:rPr sz="1000" b="1">
                <a:solidFill>
                  <a:srgbClr val="A9B7F7"/>
                </a:solidFill>
                <a:latin typeface="Arial"/>
              </a:rPr>
              <a:t>•  </a:t>
            </a:r>
            <a:r>
              <a:rPr sz="1000" b="0">
                <a:solidFill>
                  <a:srgbClr val="434343"/>
                </a:solidFill>
                <a:latin typeface="Arial"/>
              </a:rPr>
              <a:t>Or dropped?</a:t>
            </a:r>
          </a:p>
        </p:txBody>
      </p:sp>
      <p:sp>
        <p:nvSpPr>
          <p:cNvPr id="21" name="TextBox 20"/>
          <p:cNvSpPr txBox="1"/>
          <p:nvPr/>
        </p:nvSpPr>
        <p:spPr>
          <a:xfrm>
            <a:off x="548640" y="4261104"/>
            <a:ext cx="7863840" cy="402336"/>
          </a:xfrm>
          <a:prstGeom prst="rect">
            <a:avLst/>
          </a:prstGeom>
          <a:noFill/>
        </p:spPr>
        <p:txBody>
          <a:bodyPr wrap="square" anchor="t" lIns="0" rIns="0" tIns="0" bIns="0">
            <a:spAutoFit/>
          </a:bodyPr>
          <a:lstStyle/>
          <a:p>
            <a:pPr algn="l">
              <a:lnSpc>
                <a:spcPct val="120000"/>
              </a:lnSpc>
              <a:spcAft>
                <a:spcPts val="400"/>
              </a:spcAft>
            </a:pPr>
            <a:r>
              <a:rPr sz="1050" b="0">
                <a:solidFill>
                  <a:srgbClr val="666666"/>
                </a:solidFill>
                <a:latin typeface="Arial"/>
              </a:rPr>
              <a:t>Which of the five artifacts is this list? Apply the quick test: must always hold, and you can say how it is checked → an NFR. It feels decision-ish — but it is present-tense law, revised in place. Tiebreak when lists conflict: the stricter clause wins unless someone shows it false-positives on real code 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THE HINGE</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Same file, three enforcement states</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lesson: WRITTEN and ENFORCED are different properties of a rule. Three rules from the CLAUDE.md you already trust — one in each state.</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2011680"/>
            <a:ext cx="3703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ONE CLAUDE.MD, THREE RULES — ONE RULE IN EACH STATE</a:t>
            </a:r>
          </a:p>
        </p:txBody>
      </p:sp>
      <p:sp>
        <p:nvSpPr>
          <p:cNvPr id="10" name="TextBox 9"/>
          <p:cNvSpPr txBox="1"/>
          <p:nvPr/>
        </p:nvSpPr>
        <p:spPr>
          <a:xfrm>
            <a:off x="548640" y="2377440"/>
            <a:ext cx="3703320" cy="2249424"/>
          </a:xfrm>
          <a:prstGeom prst="rect">
            <a:avLst/>
          </a:prstGeom>
          <a:noFill/>
        </p:spPr>
        <p:txBody>
          <a:bodyPr wrap="square" anchor="t" lIns="0" rIns="0" tIns="0" bIns="0">
            <a:spAutoFit/>
          </a:bodyPr>
          <a:lstStyle/>
          <a:p>
            <a:pPr algn="l">
              <a:lnSpc>
                <a:spcPct val="120000"/>
              </a:lnSpc>
              <a:spcAft>
                <a:spcPts val="800"/>
              </a:spcAft>
            </a:pPr>
            <a:r>
              <a:rPr sz="1100" b="1">
                <a:solidFill>
                  <a:srgbClr val="A9B7F7"/>
                </a:solidFill>
                <a:latin typeface="Arial"/>
              </a:rPr>
              <a:t>•  </a:t>
            </a:r>
            <a:r>
              <a:rPr sz="1100" b="0">
                <a:solidFill>
                  <a:srgbClr val="434343"/>
                </a:solidFill>
                <a:latin typeface="Arial"/>
              </a:rPr>
              <a:t>WRITTEN ONLY — the store boundary: nothing checks it. A promise.</a:t>
            </a:r>
          </a:p>
          <a:p>
            <a:pPr algn="l">
              <a:lnSpc>
                <a:spcPct val="120000"/>
              </a:lnSpc>
              <a:spcAft>
                <a:spcPts val="800"/>
              </a:spcAft>
            </a:pPr>
            <a:r>
              <a:rPr sz="1100" b="1">
                <a:solidFill>
                  <a:srgbClr val="A9B7F7"/>
                </a:solidFill>
                <a:latin typeface="Arial"/>
              </a:rPr>
              <a:t>•  </a:t>
            </a:r>
            <a:r>
              <a:rPr sz="1100" b="0">
                <a:solidFill>
                  <a:srgbClr val="434343"/>
                </a:solidFill>
                <a:latin typeface="Arial"/>
              </a:rPr>
              <a:t>CHECKED — console.log: lint fails it. A gate.</a:t>
            </a:r>
          </a:p>
          <a:p>
            <a:pPr algn="l">
              <a:lnSpc>
                <a:spcPct val="120000"/>
              </a:lnSpc>
              <a:spcAft>
                <a:spcPts val="800"/>
              </a:spcAft>
            </a:pPr>
            <a:r>
              <a:rPr sz="1100" b="1">
                <a:solidFill>
                  <a:srgbClr val="A9B7F7"/>
                </a:solidFill>
                <a:latin typeface="Arial"/>
              </a:rPr>
              <a:t>•  </a:t>
            </a:r>
            <a:r>
              <a:rPr sz="1100" b="0">
                <a:solidFill>
                  <a:srgbClr val="434343"/>
                </a:solidFill>
                <a:latin typeface="Arial"/>
              </a:rPr>
              <a:t>HALF-CHECKED — logger.info with a message where the file basename belongs: types pass, lint passes. The dangerous one — it LOOKS enforced.</a:t>
            </a:r>
          </a:p>
          <a:p>
            <a:pPr algn="l">
              <a:lnSpc>
                <a:spcPct val="120000"/>
              </a:lnSpc>
              <a:spcAft>
                <a:spcPts val="800"/>
              </a:spcAft>
            </a:pPr>
            <a:r>
              <a:rPr sz="1100" b="1">
                <a:solidFill>
                  <a:srgbClr val="A9B7F7"/>
                </a:solidFill>
                <a:latin typeface="Arial"/>
              </a:rPr>
              <a:t>•  </a:t>
            </a:r>
            <a:r>
              <a:rPr sz="1100" b="0">
                <a:solidFill>
                  <a:srgbClr val="434343"/>
                </a:solidFill>
                <a:latin typeface="Arial"/>
              </a:rPr>
              <a:t>Every clause you just tagged sits in one of these states. The Checked-by line in your NFR records which.</a:t>
            </a:r>
          </a:p>
        </p:txBody>
      </p:sp>
      <p:sp>
        <p:nvSpPr>
          <p:cNvPr id="11" name="Rectangle 10"/>
          <p:cNvSpPr/>
          <p:nvPr/>
        </p:nvSpPr>
        <p:spPr>
          <a:xfrm>
            <a:off x="4572000" y="2011680"/>
            <a:ext cx="4023360" cy="2706624"/>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011680"/>
            <a:ext cx="41148" cy="270662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139696"/>
            <a:ext cx="3657600" cy="219456"/>
          </a:xfrm>
          <a:prstGeom prst="rect">
            <a:avLst/>
          </a:prstGeom>
          <a:noFill/>
        </p:spPr>
        <p:txBody>
          <a:bodyPr wrap="square" anchor="t" lIns="0" rIns="0" tIns="0" bIns="0">
            <a:spAutoFit/>
          </a:bodyPr>
          <a:lstStyle/>
          <a:p>
            <a:pPr algn="l">
              <a:spcAft>
                <a:spcPts val="400"/>
              </a:spcAft>
            </a:pPr>
            <a:r>
              <a:rPr sz="850" b="1">
                <a:solidFill>
                  <a:srgbClr val="999999"/>
                </a:solidFill>
                <a:latin typeface="Arial"/>
              </a:rPr>
              <a:t>THE EVIDENCE — EVERY CHECKER'S VERDICT, PER CALL</a:t>
            </a:r>
          </a:p>
        </p:txBody>
      </p:sp>
      <p:sp>
        <p:nvSpPr>
          <p:cNvPr id="14" name="TextBox 13"/>
          <p:cNvSpPr txBox="1"/>
          <p:nvPr/>
        </p:nvSpPr>
        <p:spPr>
          <a:xfrm>
            <a:off x="4773168" y="2414016"/>
            <a:ext cx="3657600" cy="2212848"/>
          </a:xfrm>
          <a:prstGeom prst="rect">
            <a:avLst/>
          </a:prstGeom>
          <a:noFill/>
        </p:spPr>
        <p:txBody>
          <a:bodyPr wrap="square" anchor="t" lIns="0" rIns="0" tIns="0" bIns="0">
            <a:spAutoFit/>
          </a:bodyPr>
          <a:lstStyle/>
          <a:p>
            <a:pPr algn="l">
              <a:lnSpc>
                <a:spcPct val="114000"/>
              </a:lnSpc>
              <a:spcAft>
                <a:spcPts val="0"/>
              </a:spcAft>
            </a:pPr>
            <a:r>
              <a:rPr sz="900" b="0">
                <a:solidFill>
                  <a:srgbClr val="434343"/>
                </a:solidFill>
                <a:latin typeface="Consolas"/>
              </a:rPr>
              <a:t>// the rule (CLAUDE.md):</a:t>
            </a:r>
          </a:p>
          <a:p>
            <a:pPr algn="l">
              <a:lnSpc>
                <a:spcPct val="114000"/>
              </a:lnSpc>
              <a:spcAft>
                <a:spcPts val="0"/>
              </a:spcAft>
            </a:pPr>
            <a:r>
              <a:rPr sz="900" b="0">
                <a:solidFill>
                  <a:srgbClr val="434343"/>
                </a:solidFill>
                <a:latin typeface="Consolas"/>
              </a:rPr>
              <a:t>// logger.info('&lt;file-basename&gt;',</a:t>
            </a:r>
          </a:p>
          <a:p>
            <a:pPr algn="l">
              <a:lnSpc>
                <a:spcPct val="114000"/>
              </a:lnSpc>
              <a:spcAft>
                <a:spcPts val="0"/>
              </a:spcAft>
            </a:pPr>
            <a:r>
              <a:rPr sz="900" b="0">
                <a:solidFill>
                  <a:srgbClr val="434343"/>
                </a:solidFill>
                <a:latin typeface="Consolas"/>
              </a:rPr>
              <a:t>//   message, meta?)</a:t>
            </a:r>
          </a:p>
          <a:p>
            <a:pPr algn="l">
              <a:lnSpc>
                <a:spcPct val="114000"/>
              </a:lnSpc>
              <a:spcAft>
                <a:spcPts val="0"/>
              </a:spcAft>
            </a:pPr>
            <a:r>
              <a:rPr sz="900" b="0">
                <a:solidFill>
                  <a:srgbClr val="434343"/>
                </a:solidFill>
                <a:latin typeface="Consolas"/>
              </a:rPr>
              <a:t/>
            </a:r>
          </a:p>
          <a:p>
            <a:pPr algn="l">
              <a:lnSpc>
                <a:spcPct val="114000"/>
              </a:lnSpc>
              <a:spcAft>
                <a:spcPts val="0"/>
              </a:spcAft>
            </a:pPr>
            <a:r>
              <a:rPr sz="900" b="0">
                <a:solidFill>
                  <a:srgbClr val="434343"/>
                </a:solidFill>
                <a:latin typeface="Consolas"/>
              </a:rPr>
              <a:t>console.log('created', id)</a:t>
            </a:r>
          </a:p>
          <a:p>
            <a:pPr algn="l">
              <a:lnSpc>
                <a:spcPct val="114000"/>
              </a:lnSpc>
              <a:spcAft>
                <a:spcPts val="0"/>
              </a:spcAft>
            </a:pPr>
            <a:r>
              <a:rPr sz="900" b="0">
                <a:solidFill>
                  <a:srgbClr val="434343"/>
                </a:solidFill>
                <a:latin typeface="Consolas"/>
              </a:rPr>
              <a:t>// LINT ERROR (no-console).</a:t>
            </a:r>
          </a:p>
          <a:p>
            <a:pPr algn="l">
              <a:lnSpc>
                <a:spcPct val="114000"/>
              </a:lnSpc>
              <a:spcAft>
                <a:spcPts val="0"/>
              </a:spcAft>
            </a:pPr>
            <a:r>
              <a:rPr sz="900" b="0">
                <a:solidFill>
                  <a:srgbClr val="434343"/>
                </a:solidFill>
                <a:latin typeface="Consolas"/>
              </a:rPr>
              <a:t>// The channel is CHECKED.</a:t>
            </a:r>
          </a:p>
          <a:p>
            <a:pPr algn="l">
              <a:lnSpc>
                <a:spcPct val="114000"/>
              </a:lnSpc>
              <a:spcAft>
                <a:spcPts val="0"/>
              </a:spcAft>
            </a:pPr>
            <a:r>
              <a:rPr sz="900" b="0">
                <a:solidFill>
                  <a:srgbClr val="434343"/>
                </a:solidFill>
                <a:latin typeface="Consolas"/>
              </a:rPr>
              <a:t/>
            </a:r>
          </a:p>
          <a:p>
            <a:pPr algn="l">
              <a:lnSpc>
                <a:spcPct val="114000"/>
              </a:lnSpc>
              <a:spcAft>
                <a:spcPts val="0"/>
              </a:spcAft>
            </a:pPr>
            <a:r>
              <a:rPr sz="900" b="0">
                <a:solidFill>
                  <a:srgbClr val="434343"/>
                </a:solidFill>
                <a:latin typeface="Consolas"/>
              </a:rPr>
              <a:t>logger.info('creating a todo',</a:t>
            </a:r>
          </a:p>
          <a:p>
            <a:pPr algn="l">
              <a:lnSpc>
                <a:spcPct val="114000"/>
              </a:lnSpc>
              <a:spcAft>
                <a:spcPts val="0"/>
              </a:spcAft>
            </a:pPr>
            <a:r>
              <a:rPr sz="900" b="0">
                <a:solidFill>
                  <a:srgbClr val="434343"/>
                </a:solidFill>
                <a:latin typeface="Consolas"/>
              </a:rPr>
              <a:t>  'created', { id })</a:t>
            </a:r>
          </a:p>
          <a:p>
            <a:pPr algn="l">
              <a:lnSpc>
                <a:spcPct val="114000"/>
              </a:lnSpc>
              <a:spcAft>
                <a:spcPts val="0"/>
              </a:spcAft>
            </a:pPr>
            <a:r>
              <a:rPr sz="900" b="0">
                <a:solidFill>
                  <a:srgbClr val="434343"/>
                </a:solidFill>
                <a:latin typeface="Consolas"/>
              </a:rPr>
              <a:t>// tsc: clean. eslint: clean.</a:t>
            </a:r>
          </a:p>
          <a:p>
            <a:pPr algn="l">
              <a:lnSpc>
                <a:spcPct val="114000"/>
              </a:lnSpc>
              <a:spcAft>
                <a:spcPts val="0"/>
              </a:spcAft>
            </a:pPr>
            <a:r>
              <a:rPr sz="900" b="0">
                <a:solidFill>
                  <a:srgbClr val="434343"/>
                </a:solidFill>
                <a:latin typeface="Consolas"/>
              </a:rPr>
              <a:t>// The scope convention is</a:t>
            </a:r>
          </a:p>
          <a:p>
            <a:pPr algn="l">
              <a:lnSpc>
                <a:spcPct val="114000"/>
              </a:lnSpc>
              <a:spcAft>
                <a:spcPts val="0"/>
              </a:spcAft>
            </a:pPr>
            <a:r>
              <a:rPr sz="900" b="0">
                <a:solidFill>
                  <a:srgbClr val="434343"/>
                </a:solidFill>
                <a:latin typeface="Consolas"/>
              </a:rPr>
              <a:t>// checked by NOTHING.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COMPARE</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What a mature team wrote</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A real NFR from a mature 137-document corpus — shown now that your list exists, not before.</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1554479"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Section</a:t>
            </a:r>
          </a:p>
        </p:txBody>
      </p:sp>
      <p:sp>
        <p:nvSpPr>
          <p:cNvPr id="11" name="TextBox 10"/>
          <p:cNvSpPr txBox="1"/>
          <p:nvPr/>
        </p:nvSpPr>
        <p:spPr>
          <a:xfrm>
            <a:off x="2377439" y="2089404"/>
            <a:ext cx="612648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What it contains</a:t>
            </a:r>
          </a:p>
        </p:txBody>
      </p:sp>
      <p:sp>
        <p:nvSpPr>
          <p:cNvPr id="12" name="Rectangle 11"/>
          <p:cNvSpPr/>
          <p:nvPr/>
        </p:nvSpPr>
        <p:spPr>
          <a:xfrm>
            <a:off x="548640" y="2322576"/>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1554479"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Classification</a:t>
            </a:r>
          </a:p>
        </p:txBody>
      </p:sp>
      <p:sp>
        <p:nvSpPr>
          <p:cNvPr id="14" name="TextBox 13"/>
          <p:cNvSpPr txBox="1"/>
          <p:nvPr/>
        </p:nvSpPr>
        <p:spPr>
          <a:xfrm>
            <a:off x="2377439" y="2377440"/>
            <a:ext cx="61264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Category, priority, and which external framework it traces to</a:t>
            </a:r>
          </a:p>
        </p:txBody>
      </p:sp>
      <p:sp>
        <p:nvSpPr>
          <p:cNvPr id="15" name="Rectangle 14"/>
          <p:cNvSpPr/>
          <p:nvPr/>
        </p:nvSpPr>
        <p:spPr>
          <a:xfrm>
            <a:off x="548640" y="2706624"/>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761488"/>
            <a:ext cx="1554479"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Requirements</a:t>
            </a:r>
          </a:p>
        </p:txBody>
      </p:sp>
      <p:sp>
        <p:nvSpPr>
          <p:cNvPr id="17" name="TextBox 16"/>
          <p:cNvSpPr txBox="1"/>
          <p:nvPr/>
        </p:nvSpPr>
        <p:spPr>
          <a:xfrm>
            <a:off x="2377439" y="2761488"/>
            <a:ext cx="61264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Numbered MUST clauses — no prose, no hedging</a:t>
            </a:r>
          </a:p>
        </p:txBody>
      </p:sp>
      <p:sp>
        <p:nvSpPr>
          <p:cNvPr id="18" name="Rectangle 17"/>
          <p:cNvSpPr/>
          <p:nvPr/>
        </p:nvSpPr>
        <p:spPr>
          <a:xfrm>
            <a:off x="548640" y="3090672"/>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45536"/>
            <a:ext cx="1554479"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Thresholds</a:t>
            </a:r>
          </a:p>
        </p:txBody>
      </p:sp>
      <p:sp>
        <p:nvSpPr>
          <p:cNvPr id="20" name="TextBox 19"/>
          <p:cNvSpPr txBox="1"/>
          <p:nvPr/>
        </p:nvSpPr>
        <p:spPr>
          <a:xfrm>
            <a:off x="2377439" y="3145536"/>
            <a:ext cx="61264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Target / Warning / Critical, so "compliant" is measurable</a:t>
            </a:r>
          </a:p>
        </p:txBody>
      </p:sp>
      <p:sp>
        <p:nvSpPr>
          <p:cNvPr id="21" name="Rectangle 20"/>
          <p:cNvSpPr/>
          <p:nvPr/>
        </p:nvSpPr>
        <p:spPr>
          <a:xfrm>
            <a:off x="548640" y="3474720"/>
            <a:ext cx="80467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529584"/>
            <a:ext cx="1554479"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Verification</a:t>
            </a:r>
          </a:p>
        </p:txBody>
      </p:sp>
      <p:sp>
        <p:nvSpPr>
          <p:cNvPr id="23" name="TextBox 22"/>
          <p:cNvSpPr txBox="1"/>
          <p:nvPr/>
        </p:nvSpPr>
        <p:spPr>
          <a:xfrm>
            <a:off x="2377439" y="3529584"/>
            <a:ext cx="61264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Per clause: the exact test or check that proves it</a:t>
            </a:r>
          </a:p>
        </p:txBody>
      </p:sp>
      <p:sp>
        <p:nvSpPr>
          <p:cNvPr id="24" name="Rectangle 23"/>
          <p:cNvSpPr/>
          <p:nvPr/>
        </p:nvSpPr>
        <p:spPr>
          <a:xfrm>
            <a:off x="548640" y="3858768"/>
            <a:ext cx="8046720" cy="38404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913631"/>
            <a:ext cx="1554479" cy="292607"/>
          </a:xfrm>
          <a:prstGeom prst="rect">
            <a:avLst/>
          </a:prstGeom>
          <a:noFill/>
        </p:spPr>
        <p:txBody>
          <a:bodyPr wrap="square" anchor="t" lIns="0" rIns="0" tIns="0" bIns="0">
            <a:spAutoFit/>
          </a:bodyPr>
          <a:lstStyle/>
          <a:p>
            <a:pPr algn="l">
              <a:lnSpc>
                <a:spcPct val="112000"/>
              </a:lnSpc>
              <a:spcAft>
                <a:spcPts val="400"/>
              </a:spcAft>
            </a:pPr>
            <a:r>
              <a:rPr sz="950" b="1">
                <a:solidFill>
                  <a:srgbClr val="13135E"/>
                </a:solidFill>
                <a:latin typeface="Arial"/>
              </a:rPr>
              <a:t>Plan reference</a:t>
            </a:r>
          </a:p>
        </p:txBody>
      </p:sp>
      <p:sp>
        <p:nvSpPr>
          <p:cNvPr id="26" name="TextBox 25"/>
          <p:cNvSpPr txBox="1"/>
          <p:nvPr/>
        </p:nvSpPr>
        <p:spPr>
          <a:xfrm>
            <a:off x="2377439" y="3913631"/>
            <a:ext cx="6126480" cy="292607"/>
          </a:xfrm>
          <a:prstGeom prst="rect">
            <a:avLst/>
          </a:prstGeom>
          <a:noFill/>
        </p:spPr>
        <p:txBody>
          <a:bodyPr wrap="square" anchor="t" lIns="0" rIns="0" tIns="0" bIns="0">
            <a:spAutoFit/>
          </a:bodyPr>
          <a:lstStyle/>
          <a:p>
            <a:pPr algn="l">
              <a:lnSpc>
                <a:spcPct val="112000"/>
              </a:lnSpc>
              <a:spcAft>
                <a:spcPts val="400"/>
              </a:spcAft>
            </a:pPr>
            <a:r>
              <a:rPr sz="950" b="0">
                <a:solidFill>
                  <a:srgbClr val="434343"/>
                </a:solidFill>
                <a:latin typeface="Arial"/>
              </a:rPr>
              <a:t>Which phase implements it, so it is not aspirational</a:t>
            </a:r>
          </a:p>
        </p:txBody>
      </p:sp>
      <p:sp>
        <p:nvSpPr>
          <p:cNvPr id="27" name="TextBox 26"/>
          <p:cNvSpPr txBox="1"/>
          <p:nvPr/>
        </p:nvSpPr>
        <p:spPr>
          <a:xfrm>
            <a:off x="548640" y="4315968"/>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What did you catch that they did not? Their form is heavier than you need today; the per-clause Verification is the part worth stealing.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WRITE IT UP</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Turn the clauses into an NFR</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Twenty minutes: your own doc, in your own copy, from the agreed clause list.</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2011680"/>
            <a:ext cx="3703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THE RULES</a:t>
            </a:r>
          </a:p>
        </p:txBody>
      </p:sp>
      <p:sp>
        <p:nvSpPr>
          <p:cNvPr id="10" name="TextBox 9"/>
          <p:cNvSpPr txBox="1"/>
          <p:nvPr/>
        </p:nvSpPr>
        <p:spPr>
          <a:xfrm>
            <a:off x="548640" y="2377440"/>
            <a:ext cx="3703320" cy="2249424"/>
          </a:xfrm>
          <a:prstGeom prst="rect">
            <a:avLst/>
          </a:prstGeom>
          <a:noFill/>
        </p:spPr>
        <p:txBody>
          <a:bodyPr wrap="square" anchor="t" lIns="0" rIns="0" tIns="0" bIns="0">
            <a:spAutoFit/>
          </a:bodyPr>
          <a:lstStyle/>
          <a:p>
            <a:pPr algn="l">
              <a:lnSpc>
                <a:spcPct val="120000"/>
              </a:lnSpc>
              <a:spcAft>
                <a:spcPts val="800"/>
              </a:spcAft>
            </a:pPr>
            <a:r>
              <a:rPr sz="1100" b="1">
                <a:solidFill>
                  <a:srgbClr val="A9B7F7"/>
                </a:solidFill>
                <a:latin typeface="Arial"/>
              </a:rPr>
              <a:t>•  </a:t>
            </a:r>
            <a:r>
              <a:rPr sz="1100" b="0">
                <a:solidFill>
                  <a:srgbClr val="434343"/>
                </a:solidFill>
                <a:latin typeface="Arial"/>
              </a:rPr>
              <a:t>Copy NFR-0001's headings and tone —</a:t>
            </a:r>
          </a:p>
          <a:p>
            <a:pPr algn="l">
              <a:lnSpc>
                <a:spcPct val="120000"/>
              </a:lnSpc>
              <a:spcAft>
                <a:spcPts val="800"/>
              </a:spcAft>
            </a:pPr>
            <a:r>
              <a:rPr sz="1100" b="1">
                <a:solidFill>
                  <a:srgbClr val="A9B7F7"/>
                </a:solidFill>
                <a:latin typeface="Arial"/>
              </a:rPr>
              <a:t>•  </a:t>
            </a:r>
            <a:r>
              <a:rPr sz="1100" b="0">
                <a:solidFill>
                  <a:srgbClr val="434343"/>
                </a:solidFill>
                <a:latin typeface="Arial"/>
              </a:rPr>
              <a:t>then ADD the per-clause checks it predates.</a:t>
            </a:r>
          </a:p>
          <a:p>
            <a:pPr algn="l">
              <a:lnSpc>
                <a:spcPct val="120000"/>
              </a:lnSpc>
              <a:spcAft>
                <a:spcPts val="800"/>
              </a:spcAft>
            </a:pPr>
            <a:r>
              <a:rPr sz="1100" b="1">
                <a:solidFill>
                  <a:srgbClr val="A9B7F7"/>
                </a:solidFill>
                <a:latin typeface="Arial"/>
              </a:rPr>
              <a:t>•  </a:t>
            </a:r>
            <a:r>
              <a:rPr sz="1100" b="0">
                <a:solidFill>
                  <a:srgbClr val="434343"/>
                </a:solidFill>
                <a:latin typeface="Arial"/>
              </a:rPr>
              <a:t>Every clause: "Checked by: &lt;what&gt;".</a:t>
            </a:r>
          </a:p>
          <a:p>
            <a:pPr algn="l">
              <a:lnSpc>
                <a:spcPct val="120000"/>
              </a:lnSpc>
              <a:spcAft>
                <a:spcPts val="800"/>
              </a:spcAft>
            </a:pPr>
            <a:r>
              <a:rPr sz="1100" b="1">
                <a:solidFill>
                  <a:srgbClr val="A9B7F7"/>
                </a:solidFill>
                <a:latin typeface="Arial"/>
              </a:rPr>
              <a:t>•  </a:t>
            </a:r>
            <a:r>
              <a:rPr sz="1100" b="0">
                <a:solidFill>
                  <a:srgbClr val="434343"/>
                </a:solidFill>
                <a:latin typeface="Arial"/>
              </a:rPr>
              <a:t>Unenforceable ones get the marking convention →</a:t>
            </a:r>
          </a:p>
          <a:p>
            <a:pPr algn="l">
              <a:lnSpc>
                <a:spcPct val="120000"/>
              </a:lnSpc>
              <a:spcAft>
                <a:spcPts val="800"/>
              </a:spcAft>
            </a:pPr>
            <a:r>
              <a:rPr sz="1100" b="1">
                <a:solidFill>
                  <a:srgbClr val="A9B7F7"/>
                </a:solidFill>
                <a:latin typeface="Arial"/>
              </a:rPr>
              <a:t>•  </a:t>
            </a:r>
            <a:r>
              <a:rPr sz="1100" b="0">
                <a:solidFill>
                  <a:srgbClr val="434343"/>
                </a:solidFill>
                <a:latin typeface="Arial"/>
              </a:rPr>
              <a:t>Peer review is the last five minutes. Protected.</a:t>
            </a:r>
          </a:p>
        </p:txBody>
      </p:sp>
      <p:sp>
        <p:nvSpPr>
          <p:cNvPr id="11" name="Rectangle 10"/>
          <p:cNvSpPr/>
          <p:nvPr/>
        </p:nvSpPr>
        <p:spPr>
          <a:xfrm>
            <a:off x="4572000" y="2011680"/>
            <a:ext cx="4023360" cy="2706624"/>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011680"/>
            <a:ext cx="41148" cy="270662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139696"/>
            <a:ext cx="3657600" cy="219456"/>
          </a:xfrm>
          <a:prstGeom prst="rect">
            <a:avLst/>
          </a:prstGeom>
          <a:noFill/>
        </p:spPr>
        <p:txBody>
          <a:bodyPr wrap="square" anchor="t" lIns="0" rIns="0" tIns="0" bIns="0">
            <a:spAutoFit/>
          </a:bodyPr>
          <a:lstStyle/>
          <a:p>
            <a:pPr algn="l">
              <a:spcAft>
                <a:spcPts val="400"/>
              </a:spcAft>
            </a:pPr>
            <a:r>
              <a:rPr sz="850" b="1">
                <a:solidFill>
                  <a:srgbClr val="999999"/>
                </a:solidFill>
                <a:latin typeface="Arial"/>
              </a:rPr>
              <a:t>DOCS/NFR/0002-… (YOURS)</a:t>
            </a:r>
          </a:p>
        </p:txBody>
      </p:sp>
      <p:sp>
        <p:nvSpPr>
          <p:cNvPr id="14" name="TextBox 13"/>
          <p:cNvSpPr txBox="1"/>
          <p:nvPr/>
        </p:nvSpPr>
        <p:spPr>
          <a:xfrm>
            <a:off x="4773168" y="2414016"/>
            <a:ext cx="3657600" cy="2212848"/>
          </a:xfrm>
          <a:prstGeom prst="rect">
            <a:avLst/>
          </a:prstGeom>
          <a:noFill/>
        </p:spPr>
        <p:txBody>
          <a:bodyPr wrap="square" anchor="t" lIns="0" rIns="0" tIns="0" bIns="0">
            <a:spAutoFit/>
          </a:bodyPr>
          <a:lstStyle/>
          <a:p>
            <a:pPr algn="l">
              <a:lnSpc>
                <a:spcPct val="114000"/>
              </a:lnSpc>
              <a:spcAft>
                <a:spcPts val="0"/>
              </a:spcAft>
            </a:pPr>
            <a:r>
              <a:rPr sz="850" b="0">
                <a:solidFill>
                  <a:srgbClr val="434343"/>
                </a:solidFill>
                <a:latin typeface="Consolas"/>
              </a:rPr>
              <a:t>## The rules</a:t>
            </a:r>
          </a:p>
          <a:p>
            <a:pPr algn="l">
              <a:lnSpc>
                <a:spcPct val="114000"/>
              </a:lnSpc>
              <a:spcAft>
                <a:spcPts val="0"/>
              </a:spcAft>
            </a:pPr>
            <a:r>
              <a:rPr sz="850" b="0">
                <a:solidFill>
                  <a:srgbClr val="434343"/>
                </a:solidFill>
                <a:latin typeface="Consolas"/>
              </a:rPr>
              <a:t/>
            </a:r>
          </a:p>
          <a:p>
            <a:pPr algn="l">
              <a:lnSpc>
                <a:spcPct val="114000"/>
              </a:lnSpc>
              <a:spcAft>
                <a:spcPts val="0"/>
              </a:spcAft>
            </a:pPr>
            <a:r>
              <a:rPr sz="850" b="0">
                <a:solidFill>
                  <a:srgbClr val="434343"/>
                </a:solidFill>
                <a:latin typeface="Consolas"/>
              </a:rPr>
              <a:t>1. A change under server/src ships</a:t>
            </a:r>
          </a:p>
          <a:p>
            <a:pPr algn="l">
              <a:lnSpc>
                <a:spcPct val="114000"/>
              </a:lnSpc>
              <a:spcAft>
                <a:spcPts val="0"/>
              </a:spcAft>
            </a:pPr>
            <a:r>
              <a:rPr sz="850" b="0">
                <a:solidFill>
                  <a:srgbClr val="434343"/>
                </a:solidFill>
                <a:latin typeface="Consolas"/>
              </a:rPr>
              <a:t>   with a test in the same PR.</a:t>
            </a:r>
          </a:p>
          <a:p>
            <a:pPr algn="l">
              <a:lnSpc>
                <a:spcPct val="114000"/>
              </a:lnSpc>
              <a:spcAft>
                <a:spcPts val="0"/>
              </a:spcAft>
            </a:pPr>
            <a:r>
              <a:rPr sz="850" b="0">
                <a:solidFill>
                  <a:srgbClr val="434343"/>
                </a:solidFill>
                <a:latin typeface="Consolas"/>
              </a:rPr>
              <a:t>   Checked by: CI diff check.</a:t>
            </a:r>
          </a:p>
          <a:p>
            <a:pPr algn="l">
              <a:lnSpc>
                <a:spcPct val="114000"/>
              </a:lnSpc>
              <a:spcAft>
                <a:spcPts val="0"/>
              </a:spcAft>
            </a:pPr>
            <a:r>
              <a:rPr sz="850" b="0">
                <a:solidFill>
                  <a:srgbClr val="434343"/>
                </a:solidFill>
                <a:latin typeface="Consolas"/>
              </a:rPr>
              <a:t/>
            </a:r>
          </a:p>
          <a:p>
            <a:pPr algn="l">
              <a:lnSpc>
                <a:spcPct val="114000"/>
              </a:lnSpc>
              <a:spcAft>
                <a:spcPts val="0"/>
              </a:spcAft>
            </a:pPr>
            <a:r>
              <a:rPr sz="850" b="0">
                <a:solidFill>
                  <a:srgbClr val="434343"/>
                </a:solidFill>
                <a:latin typeface="Consolas"/>
              </a:rPr>
              <a:t>2. The test failed before the fix.</a:t>
            </a:r>
          </a:p>
          <a:p>
            <a:pPr algn="l">
              <a:lnSpc>
                <a:spcPct val="114000"/>
              </a:lnSpc>
              <a:spcAft>
                <a:spcPts val="0"/>
              </a:spcAft>
            </a:pPr>
            <a:r>
              <a:rPr sz="850" b="0">
                <a:solidFill>
                  <a:srgbClr val="434343"/>
                </a:solidFill>
                <a:latin typeface="Consolas"/>
              </a:rPr>
              <a:t>   Checked by: — NOT MECHANICALLY</a:t>
            </a:r>
          </a:p>
          <a:p>
            <a:pPr algn="l">
              <a:lnSpc>
                <a:spcPct val="114000"/>
              </a:lnSpc>
              <a:spcAft>
                <a:spcPts val="0"/>
              </a:spcAft>
            </a:pPr>
            <a:r>
              <a:rPr sz="850" b="0">
                <a:solidFill>
                  <a:srgbClr val="434343"/>
                </a:solidFill>
                <a:latin typeface="Consolas"/>
              </a:rPr>
              <a:t>   CHECKABLE — decision: human gate</a:t>
            </a:r>
          </a:p>
          <a:p>
            <a:pPr algn="l">
              <a:lnSpc>
                <a:spcPct val="114000"/>
              </a:lnSpc>
              <a:spcAft>
                <a:spcPts val="0"/>
              </a:spcAft>
            </a:pPr>
            <a:r>
              <a:rPr sz="850" b="0">
                <a:solidFill>
                  <a:srgbClr val="434343"/>
                </a:solidFill>
                <a:latin typeface="Consolas"/>
              </a:rPr>
              <a:t>   (reviewer asks) — &lt;name&gt;</a:t>
            </a:r>
          </a:p>
          <a:p>
            <a:pPr algn="l">
              <a:lnSpc>
                <a:spcPct val="114000"/>
              </a:lnSpc>
              <a:spcAft>
                <a:spcPts val="0"/>
              </a:spcAft>
            </a:pPr>
            <a:r>
              <a:rPr sz="850" b="0">
                <a:solidFill>
                  <a:srgbClr val="434343"/>
                </a:solidFill>
                <a:latin typeface="Consolas"/>
              </a:rPr>
              <a:t/>
            </a:r>
          </a:p>
          <a:p>
            <a:pPr algn="l">
              <a:lnSpc>
                <a:spcPct val="114000"/>
              </a:lnSpc>
              <a:spcAft>
                <a:spcPts val="0"/>
              </a:spcAft>
            </a:pPr>
            <a:r>
              <a:rPr sz="850" b="0">
                <a:solidFill>
                  <a:srgbClr val="434343"/>
                </a:solidFill>
                <a:latin typeface="Consolas"/>
              </a:rPr>
              <a:t># clause + check + mark + name.</a:t>
            </a:r>
          </a:p>
          <a:p>
            <a:pPr algn="l">
              <a:lnSpc>
                <a:spcPct val="114000"/>
              </a:lnSpc>
              <a:spcAft>
                <a:spcPts val="0"/>
              </a:spcAft>
            </a:pPr>
            <a:r>
              <a:rPr sz="850" b="0">
                <a:solidFill>
                  <a:srgbClr val="434343"/>
                </a:solidFill>
                <a:latin typeface="Consolas"/>
              </a:rPr>
              <a:t># an unmarked unenforceable clause</a:t>
            </a:r>
          </a:p>
          <a:p>
            <a:pPr algn="l">
              <a:lnSpc>
                <a:spcPct val="114000"/>
              </a:lnSpc>
              <a:spcAft>
                <a:spcPts val="0"/>
              </a:spcAft>
            </a:pPr>
            <a:r>
              <a:rPr sz="850" b="0">
                <a:solidFill>
                  <a:srgbClr val="434343"/>
                </a:solidFill>
                <a:latin typeface="Consolas"/>
              </a:rPr>
              <a:t># is the dangerous kind.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CHECKPOINT</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Checkpoint 2</a:t>
            </a:r>
          </a:p>
        </p:txBody>
      </p:sp>
      <p:sp>
        <p:nvSpPr>
          <p:cNvPr id="7" name="TextBox 6"/>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8" name="Rectangle 7"/>
          <p:cNvSpPr/>
          <p:nvPr/>
        </p:nvSpPr>
        <p:spPr>
          <a:xfrm>
            <a:off x="548640" y="1691640"/>
            <a:ext cx="8046720" cy="1417320"/>
          </a:xfrm>
          <a:prstGeom prst="rect">
            <a:avLst/>
          </a:prstGeom>
          <a:solidFill>
            <a:srgbClr val="E2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91640"/>
            <a:ext cx="54864" cy="14173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74519"/>
            <a:ext cx="7498079" cy="310896"/>
          </a:xfrm>
          <a:prstGeom prst="rect">
            <a:avLst/>
          </a:prstGeom>
          <a:noFill/>
        </p:spPr>
        <p:txBody>
          <a:bodyPr wrap="square" anchor="t" lIns="0" rIns="0" tIns="0" bIns="0">
            <a:spAutoFit/>
          </a:bodyPr>
          <a:lstStyle/>
          <a:p>
            <a:pPr algn="l">
              <a:spcAft>
                <a:spcPts val="400"/>
              </a:spcAft>
            </a:pPr>
            <a:r>
              <a:rPr sz="950" b="1">
                <a:solidFill>
                  <a:srgbClr val="1B7F4B"/>
                </a:solidFill>
                <a:latin typeface="Arial"/>
              </a:rPr>
              <a:t>NOBODY ADVANCES UNTIL THIS IS TRUE</a:t>
            </a:r>
          </a:p>
        </p:txBody>
      </p:sp>
      <p:sp>
        <p:nvSpPr>
          <p:cNvPr id="11" name="TextBox 10"/>
          <p:cNvSpPr txBox="1"/>
          <p:nvPr/>
        </p:nvSpPr>
        <p:spPr>
          <a:xfrm>
            <a:off x="868680" y="2240280"/>
            <a:ext cx="7498079" cy="777240"/>
          </a:xfrm>
          <a:prstGeom prst="rect">
            <a:avLst/>
          </a:prstGeom>
          <a:noFill/>
        </p:spPr>
        <p:txBody>
          <a:bodyPr wrap="square" anchor="t" lIns="0" rIns="0" tIns="0" bIns="0">
            <a:spAutoFit/>
          </a:bodyPr>
          <a:lstStyle/>
          <a:p>
            <a:pPr algn="l">
              <a:lnSpc>
                <a:spcPct val="120000"/>
              </a:lnSpc>
              <a:spcAft>
                <a:spcPts val="400"/>
              </a:spcAft>
            </a:pPr>
            <a:r>
              <a:rPr sz="1400" b="1">
                <a:solidFill>
                  <a:srgbClr val="13135E"/>
                </a:solidFill>
                <a:latin typeface="Arial"/>
              </a:rPr>
              <a:t>Your NFR names how each clause is checked — and the ones that cannot be are marked, with a decision and a name.</a:t>
            </a:r>
          </a:p>
        </p:txBody>
      </p:sp>
      <p:sp>
        <p:nvSpPr>
          <p:cNvPr id="12" name="TextBox 11"/>
          <p:cNvSpPr txBox="1"/>
          <p:nvPr/>
        </p:nvSpPr>
        <p:spPr>
          <a:xfrm>
            <a:off x="548640" y="3337560"/>
            <a:ext cx="7863840" cy="1005840"/>
          </a:xfrm>
          <a:prstGeom prst="rect">
            <a:avLst/>
          </a:prstGeom>
          <a:noFill/>
        </p:spPr>
        <p:txBody>
          <a:bodyPr wrap="square" anchor="t" lIns="0" rIns="0" tIns="0" bIns="0">
            <a:spAutoFit/>
          </a:bodyPr>
          <a:lstStyle/>
          <a:p>
            <a:pPr algn="l">
              <a:lnSpc>
                <a:spcPct val="130000"/>
              </a:lnSpc>
              <a:spcAft>
                <a:spcPts val="400"/>
              </a:spcAft>
            </a:pPr>
            <a:r>
              <a:rPr sz="1150" b="0">
                <a:solidFill>
                  <a:srgbClr val="434343"/>
                </a:solidFill>
                <a:latin typeface="Arial"/>
              </a:rPr>
              <a:t>Artifact check, not a state check: I am reading your document, not your test output. A clause with no check and no mark is the one thing that fails here.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WIRE IT IN</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A doc nothing points at is a doc nobody reads</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Claude included. This step is why the last two hours matter.</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2011680"/>
            <a:ext cx="3703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THE SAME RULE, WIRED TWICE — TWO DIFFERENT JOBS</a:t>
            </a:r>
          </a:p>
        </p:txBody>
      </p:sp>
      <p:sp>
        <p:nvSpPr>
          <p:cNvPr id="10" name="TextBox 9"/>
          <p:cNvSpPr txBox="1"/>
          <p:nvPr/>
        </p:nvSpPr>
        <p:spPr>
          <a:xfrm>
            <a:off x="548640" y="2377440"/>
            <a:ext cx="3703320" cy="2249424"/>
          </a:xfrm>
          <a:prstGeom prst="rect">
            <a:avLst/>
          </a:prstGeom>
          <a:noFill/>
        </p:spPr>
        <p:txBody>
          <a:bodyPr wrap="square" anchor="t" lIns="0" rIns="0" tIns="0" bIns="0">
            <a:spAutoFit/>
          </a:bodyPr>
          <a:lstStyle/>
          <a:p>
            <a:pPr algn="l">
              <a:lnSpc>
                <a:spcPct val="120000"/>
              </a:lnSpc>
              <a:spcAft>
                <a:spcPts val="800"/>
              </a:spcAft>
            </a:pPr>
            <a:r>
              <a:rPr sz="1100" b="1">
                <a:solidFill>
                  <a:srgbClr val="A9B7F7"/>
                </a:solidFill>
                <a:latin typeface="Arial"/>
              </a:rPr>
              <a:t>•  </a:t>
            </a:r>
            <a:r>
              <a:rPr sz="1100" b="0">
                <a:solidFill>
                  <a:srgbClr val="434343"/>
                </a:solidFill>
                <a:latin typeface="Arial"/>
              </a:rPr>
              <a:t>BINDING LINE — enforces by PRESENCE: it IS the rule's headline sentence, riding in with CLAUDE.md every session. No fetch DECISION.</a:t>
            </a:r>
          </a:p>
          <a:p>
            <a:pPr algn="l">
              <a:lnSpc>
                <a:spcPct val="120000"/>
              </a:lnSpc>
              <a:spcAft>
                <a:spcPts val="800"/>
              </a:spcAft>
            </a:pPr>
            <a:r>
              <a:rPr sz="1100" b="1">
                <a:solidFill>
                  <a:srgbClr val="A9B7F7"/>
                </a:solidFill>
                <a:latin typeface="Arial"/>
              </a:rPr>
              <a:t>•  </a:t>
            </a:r>
            <a:r>
              <a:rPr sz="1100" b="0">
                <a:solidFill>
                  <a:srgbClr val="434343"/>
                </a:solidFill>
                <a:latin typeface="Arial"/>
              </a:rPr>
              <a:t>TRIGGER ROW — a SITUATION ("when you are…") plus a POINTER ("read first"): the situation says when, the pointer loads the FULL doc.</a:t>
            </a:r>
          </a:p>
          <a:p>
            <a:pPr algn="l">
              <a:lnSpc>
                <a:spcPct val="120000"/>
              </a:lnSpc>
              <a:spcAft>
                <a:spcPts val="800"/>
              </a:spcAft>
            </a:pPr>
            <a:r>
              <a:rPr sz="1100" b="1">
                <a:solidFill>
                  <a:srgbClr val="A9B7F7"/>
                </a:solidFill>
                <a:latin typeface="Arial"/>
              </a:rPr>
              <a:t>•  </a:t>
            </a:r>
            <a:r>
              <a:rPr sz="1100" b="0">
                <a:solidFill>
                  <a:srgbClr val="434343"/>
                </a:solidFill>
                <a:latin typeface="Arial"/>
              </a:rPr>
              <a:t>When does a rule EARN a binding line? Name its situation. Specific ("calling an external API") — trigger row only. "Every change" — binding line.</a:t>
            </a:r>
          </a:p>
          <a:p>
            <a:pPr algn="l">
              <a:lnSpc>
                <a:spcPct val="120000"/>
              </a:lnSpc>
              <a:spcAft>
                <a:spcPts val="800"/>
              </a:spcAft>
            </a:pPr>
            <a:r>
              <a:rPr sz="1100" b="1">
                <a:solidFill>
                  <a:srgbClr val="A9B7F7"/>
                </a:solidFill>
                <a:latin typeface="Arial"/>
              </a:rPr>
              <a:t>•  </a:t>
            </a:r>
            <a:r>
              <a:rPr sz="1100" b="0">
                <a:solidFill>
                  <a:srgbClr val="434343"/>
                </a:solidFill>
                <a:latin typeface="Arial"/>
              </a:rPr>
              <a:t>The (NFR-0002) tag is a citation, not a loader.</a:t>
            </a:r>
          </a:p>
        </p:txBody>
      </p:sp>
      <p:sp>
        <p:nvSpPr>
          <p:cNvPr id="11" name="Rectangle 10"/>
          <p:cNvSpPr/>
          <p:nvPr/>
        </p:nvSpPr>
        <p:spPr>
          <a:xfrm>
            <a:off x="4572000" y="2011680"/>
            <a:ext cx="4023360" cy="2706624"/>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011680"/>
            <a:ext cx="41148" cy="270662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2139696"/>
            <a:ext cx="3657600" cy="219456"/>
          </a:xfrm>
          <a:prstGeom prst="rect">
            <a:avLst/>
          </a:prstGeom>
          <a:noFill/>
        </p:spPr>
        <p:txBody>
          <a:bodyPr wrap="square" anchor="t" lIns="0" rIns="0" tIns="0" bIns="0">
            <a:spAutoFit/>
          </a:bodyPr>
          <a:lstStyle/>
          <a:p>
            <a:pPr algn="l">
              <a:spcAft>
                <a:spcPts val="400"/>
              </a:spcAft>
            </a:pPr>
            <a:r>
              <a:rPr sz="850" b="1">
                <a:solidFill>
                  <a:srgbClr val="999999"/>
                </a:solidFill>
                <a:latin typeface="Arial"/>
              </a:rPr>
              <a:t>CLAUDE.MD</a:t>
            </a:r>
          </a:p>
        </p:txBody>
      </p:sp>
      <p:sp>
        <p:nvSpPr>
          <p:cNvPr id="14" name="TextBox 13"/>
          <p:cNvSpPr txBox="1"/>
          <p:nvPr/>
        </p:nvSpPr>
        <p:spPr>
          <a:xfrm>
            <a:off x="4773168" y="2414016"/>
            <a:ext cx="3657600" cy="2212848"/>
          </a:xfrm>
          <a:prstGeom prst="rect">
            <a:avLst/>
          </a:prstGeom>
          <a:noFill/>
        </p:spPr>
        <p:txBody>
          <a:bodyPr wrap="square" anchor="t" lIns="0" rIns="0" tIns="0" bIns="0">
            <a:spAutoFit/>
          </a:bodyPr>
          <a:lstStyle/>
          <a:p>
            <a:pPr algn="l">
              <a:lnSpc>
                <a:spcPct val="114000"/>
              </a:lnSpc>
              <a:spcAft>
                <a:spcPts val="0"/>
              </a:spcAft>
            </a:pPr>
            <a:r>
              <a:rPr sz="850" b="0">
                <a:solidFill>
                  <a:srgbClr val="434343"/>
                </a:solidFill>
                <a:latin typeface="Consolas"/>
              </a:rPr>
              <a:t>| When you are…       | Read first      |</a:t>
            </a:r>
          </a:p>
          <a:p>
            <a:pPr algn="l">
              <a:lnSpc>
                <a:spcPct val="114000"/>
              </a:lnSpc>
              <a:spcAft>
                <a:spcPts val="0"/>
              </a:spcAft>
            </a:pPr>
            <a:r>
              <a:rPr sz="850" b="0">
                <a:solidFill>
                  <a:srgbClr val="434343"/>
                </a:solidFill>
                <a:latin typeface="Consolas"/>
              </a:rPr>
              <a:t>| ------------------- | --------------- |</a:t>
            </a:r>
          </a:p>
          <a:p>
            <a:pPr algn="l">
              <a:lnSpc>
                <a:spcPct val="114000"/>
              </a:lnSpc>
              <a:spcAft>
                <a:spcPts val="0"/>
              </a:spcAft>
            </a:pPr>
            <a:r>
              <a:rPr sz="850" b="0">
                <a:solidFill>
                  <a:srgbClr val="434343"/>
                </a:solidFill>
                <a:latin typeface="Consolas"/>
              </a:rPr>
              <a:t>| Changing the store  | docs/adr/0002…  |</a:t>
            </a:r>
          </a:p>
          <a:p>
            <a:pPr algn="l">
              <a:lnSpc>
                <a:spcPct val="114000"/>
              </a:lnSpc>
              <a:spcAft>
                <a:spcPts val="0"/>
              </a:spcAft>
            </a:pPr>
            <a:r>
              <a:rPr sz="850" b="0">
                <a:solidFill>
                  <a:srgbClr val="434343"/>
                </a:solidFill>
                <a:latin typeface="Consolas"/>
              </a:rPr>
              <a:t>| boundary            |                 |</a:t>
            </a:r>
          </a:p>
          <a:p>
            <a:pPr algn="l">
              <a:lnSpc>
                <a:spcPct val="114000"/>
              </a:lnSpc>
              <a:spcAft>
                <a:spcPts val="0"/>
              </a:spcAft>
            </a:pPr>
            <a:r>
              <a:rPr sz="850" b="0">
                <a:solidFill>
                  <a:srgbClr val="434343"/>
                </a:solidFill>
                <a:latin typeface="Consolas"/>
              </a:rPr>
              <a:t>| Fixing a bug or     | docs/nfr/0002…  |</a:t>
            </a:r>
          </a:p>
          <a:p>
            <a:pPr algn="l">
              <a:lnSpc>
                <a:spcPct val="114000"/>
              </a:lnSpc>
              <a:spcAft>
                <a:spcPts val="0"/>
              </a:spcAft>
            </a:pPr>
            <a:r>
              <a:rPr sz="850" b="0">
                <a:solidFill>
                  <a:srgbClr val="434343"/>
                </a:solidFill>
                <a:latin typeface="Consolas"/>
              </a:rPr>
              <a:t>| adding behaviour    |                 |</a:t>
            </a:r>
          </a:p>
          <a:p>
            <a:pPr algn="l">
              <a:lnSpc>
                <a:spcPct val="114000"/>
              </a:lnSpc>
              <a:spcAft>
                <a:spcPts val="0"/>
              </a:spcAft>
            </a:pPr>
            <a:r>
              <a:rPr sz="850" b="0">
                <a:solidFill>
                  <a:srgbClr val="434343"/>
                </a:solidFill>
                <a:latin typeface="Consolas"/>
              </a:rPr>
              <a:t/>
            </a:r>
          </a:p>
          <a:p>
            <a:pPr algn="l">
              <a:lnSpc>
                <a:spcPct val="114000"/>
              </a:lnSpc>
              <a:spcAft>
                <a:spcPts val="0"/>
              </a:spcAft>
            </a:pPr>
            <a:r>
              <a:rPr sz="850" b="0">
                <a:solidFill>
                  <a:srgbClr val="434343"/>
                </a:solidFill>
                <a:latin typeface="Consolas"/>
              </a:rPr>
              <a:t>## Do / Don't</a:t>
            </a:r>
          </a:p>
          <a:p>
            <a:pPr algn="l">
              <a:lnSpc>
                <a:spcPct val="114000"/>
              </a:lnSpc>
              <a:spcAft>
                <a:spcPts val="0"/>
              </a:spcAft>
            </a:pPr>
            <a:r>
              <a:rPr sz="850" b="0">
                <a:solidFill>
                  <a:srgbClr val="434343"/>
                </a:solidFill>
                <a:latin typeface="Consolas"/>
              </a:rPr>
              <a:t>- Do: every change under server/src</a:t>
            </a:r>
          </a:p>
          <a:p>
            <a:pPr algn="l">
              <a:lnSpc>
                <a:spcPct val="114000"/>
              </a:lnSpc>
              <a:spcAft>
                <a:spcPts val="0"/>
              </a:spcAft>
            </a:pPr>
            <a:r>
              <a:rPr sz="850" b="0">
                <a:solidFill>
                  <a:srgbClr val="434343"/>
                </a:solidFill>
                <a:latin typeface="Consolas"/>
              </a:rPr>
              <a:t>  ships with a test in the same PR</a:t>
            </a:r>
          </a:p>
          <a:p>
            <a:pPr algn="l">
              <a:lnSpc>
                <a:spcPct val="114000"/>
              </a:lnSpc>
              <a:spcAft>
                <a:spcPts val="0"/>
              </a:spcAft>
            </a:pPr>
            <a:r>
              <a:rPr sz="850" b="0">
                <a:solidFill>
                  <a:srgbClr val="434343"/>
                </a:solidFill>
                <a:latin typeface="Consolas"/>
              </a:rPr>
              <a:t>  (NFR-0002)   &lt;-- the binding line</a:t>
            </a:r>
          </a:p>
          <a:p>
            <a:pPr algn="l">
              <a:lnSpc>
                <a:spcPct val="114000"/>
              </a:lnSpc>
              <a:spcAft>
                <a:spcPts val="0"/>
              </a:spcAft>
            </a:pPr>
            <a:r>
              <a:rPr sz="850" b="0">
                <a:solidFill>
                  <a:srgbClr val="434343"/>
                </a:solidFill>
                <a:latin typeface="Consolas"/>
              </a:rPr>
              <a:t/>
            </a:r>
          </a:p>
          <a:p>
            <a:pPr algn="l">
              <a:lnSpc>
                <a:spcPct val="114000"/>
              </a:lnSpc>
              <a:spcAft>
                <a:spcPts val="0"/>
              </a:spcAft>
            </a:pPr>
            <a:r>
              <a:rPr sz="850" b="0">
                <a:solidFill>
                  <a:srgbClr val="434343"/>
                </a:solidFill>
                <a:latin typeface="Consolas"/>
              </a:rPr>
              <a:t># smoke test, fresh session:</a:t>
            </a:r>
          </a:p>
          <a:p>
            <a:pPr algn="l">
              <a:lnSpc>
                <a:spcPct val="114000"/>
              </a:lnSpc>
              <a:spcAft>
                <a:spcPts val="0"/>
              </a:spcAft>
            </a:pPr>
            <a:r>
              <a:rPr sz="850" b="0">
                <a:solidFill>
                  <a:srgbClr val="434343"/>
                </a:solidFill>
                <a:latin typeface="Consolas"/>
              </a:rPr>
              <a:t># "what is our rule about tests?"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WIRE IT IN</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One rule, one home, four references</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The NFR document is the one home of the full law. Everything else points at it — each reference with a different job.</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Rectangle 8"/>
          <p:cNvSpPr/>
          <p:nvPr/>
        </p:nvSpPr>
        <p:spPr>
          <a:xfrm>
            <a:off x="548640" y="2011680"/>
            <a:ext cx="8046720" cy="310896"/>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89404"/>
            <a:ext cx="164592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Reference</a:t>
            </a:r>
          </a:p>
        </p:txBody>
      </p:sp>
      <p:sp>
        <p:nvSpPr>
          <p:cNvPr id="11" name="TextBox 10"/>
          <p:cNvSpPr txBox="1"/>
          <p:nvPr/>
        </p:nvSpPr>
        <p:spPr>
          <a:xfrm>
            <a:off x="2468880" y="2089404"/>
            <a:ext cx="310896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The line itself</a:t>
            </a:r>
          </a:p>
        </p:txBody>
      </p:sp>
      <p:sp>
        <p:nvSpPr>
          <p:cNvPr id="12" name="TextBox 11"/>
          <p:cNvSpPr txBox="1"/>
          <p:nvPr/>
        </p:nvSpPr>
        <p:spPr>
          <a:xfrm>
            <a:off x="5760720" y="2089404"/>
            <a:ext cx="2743200" cy="219456"/>
          </a:xfrm>
          <a:prstGeom prst="rect">
            <a:avLst/>
          </a:prstGeom>
          <a:noFill/>
        </p:spPr>
        <p:txBody>
          <a:bodyPr wrap="square" anchor="t" lIns="0" rIns="0" tIns="0" bIns="0">
            <a:spAutoFit/>
          </a:bodyPr>
          <a:lstStyle/>
          <a:p>
            <a:pPr algn="l">
              <a:spcAft>
                <a:spcPts val="400"/>
              </a:spcAft>
            </a:pPr>
            <a:r>
              <a:rPr sz="900" b="1">
                <a:solidFill>
                  <a:srgbClr val="FFFFFF"/>
                </a:solidFill>
                <a:latin typeface="Arial"/>
              </a:rPr>
              <a:t>What it does</a:t>
            </a:r>
          </a:p>
        </p:txBody>
      </p:sp>
      <p:sp>
        <p:nvSpPr>
          <p:cNvPr id="13" name="Rectangle 12"/>
          <p:cNvSpPr/>
          <p:nvPr/>
        </p:nvSpPr>
        <p:spPr>
          <a:xfrm>
            <a:off x="548640" y="2322576"/>
            <a:ext cx="8046720" cy="47548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77440"/>
            <a:ext cx="1645920" cy="384048"/>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Binding line · layer 1</a:t>
            </a:r>
          </a:p>
        </p:txBody>
      </p:sp>
      <p:sp>
        <p:nvSpPr>
          <p:cNvPr id="15" name="TextBox 14"/>
          <p:cNvSpPr txBox="1"/>
          <p:nvPr/>
        </p:nvSpPr>
        <p:spPr>
          <a:xfrm>
            <a:off x="2468880" y="2377440"/>
            <a:ext cx="3108960" cy="384048"/>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Consolas"/>
              </a:rPr>
              <a:t>- Do: every change under server/src ships with a test in the same PR (NFR-0002)</a:t>
            </a:r>
          </a:p>
        </p:txBody>
      </p:sp>
      <p:sp>
        <p:nvSpPr>
          <p:cNvPr id="16" name="TextBox 15"/>
          <p:cNvSpPr txBox="1"/>
          <p:nvPr/>
        </p:nvSpPr>
        <p:spPr>
          <a:xfrm>
            <a:off x="5760720" y="2377440"/>
            <a:ext cx="2743200" cy="384048"/>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States the rule, always present. Informs every session</a:t>
            </a:r>
          </a:p>
        </p:txBody>
      </p:sp>
      <p:sp>
        <p:nvSpPr>
          <p:cNvPr id="17" name="Rectangle 16"/>
          <p:cNvSpPr/>
          <p:nvPr/>
        </p:nvSpPr>
        <p:spPr>
          <a:xfrm>
            <a:off x="548640" y="2798064"/>
            <a:ext cx="80467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852928"/>
            <a:ext cx="1645920" cy="384048"/>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Trigger row · layer 1</a:t>
            </a:r>
          </a:p>
        </p:txBody>
      </p:sp>
      <p:sp>
        <p:nvSpPr>
          <p:cNvPr id="19" name="TextBox 18"/>
          <p:cNvSpPr txBox="1"/>
          <p:nvPr/>
        </p:nvSpPr>
        <p:spPr>
          <a:xfrm>
            <a:off x="2468880" y="2852928"/>
            <a:ext cx="3108960" cy="384048"/>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Consolas"/>
              </a:rPr>
              <a:t>| Fixing a bug or adding behaviour | docs/nfr/0002... |</a:t>
            </a:r>
          </a:p>
        </p:txBody>
      </p:sp>
      <p:sp>
        <p:nvSpPr>
          <p:cNvPr id="20" name="TextBox 19"/>
          <p:cNvSpPr txBox="1"/>
          <p:nvPr/>
        </p:nvSpPr>
        <p:spPr>
          <a:xfrm>
            <a:off x="5760720" y="2852928"/>
            <a:ext cx="2743200" cy="384048"/>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Loads the full NFR when its situation matches</a:t>
            </a:r>
          </a:p>
        </p:txBody>
      </p:sp>
      <p:sp>
        <p:nvSpPr>
          <p:cNvPr id="21" name="Rectangle 20"/>
          <p:cNvSpPr/>
          <p:nvPr/>
        </p:nvSpPr>
        <p:spPr>
          <a:xfrm>
            <a:off x="548640" y="3273552"/>
            <a:ext cx="8046720" cy="475488"/>
          </a:xfrm>
          <a:prstGeom prst="rect">
            <a:avLst/>
          </a:prstGeom>
          <a:solidFill>
            <a:srgbClr val="F4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328416"/>
            <a:ext cx="1645920" cy="384048"/>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Hook · layer 2 — next week</a:t>
            </a:r>
          </a:p>
        </p:txBody>
      </p:sp>
      <p:sp>
        <p:nvSpPr>
          <p:cNvPr id="23" name="TextBox 22"/>
          <p:cNvSpPr txBox="1"/>
          <p:nvPr/>
        </p:nvSpPr>
        <p:spPr>
          <a:xfrm>
            <a:off x="2468880" y="3328416"/>
            <a:ext cx="3108960" cy="384048"/>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Consolas"/>
              </a:rPr>
              <a:t>(not in CLAUDE.md: .claude/hooks/ + settings.json)</a:t>
            </a:r>
          </a:p>
        </p:txBody>
      </p:sp>
      <p:sp>
        <p:nvSpPr>
          <p:cNvPr id="24" name="TextBox 23"/>
          <p:cNvSpPr txBox="1"/>
          <p:nvPr/>
        </p:nvSpPr>
        <p:spPr>
          <a:xfrm>
            <a:off x="5760720" y="3328416"/>
            <a:ext cx="2743200" cy="384048"/>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Nudges the agent the moment an edit violates the clause</a:t>
            </a:r>
          </a:p>
        </p:txBody>
      </p:sp>
      <p:sp>
        <p:nvSpPr>
          <p:cNvPr id="25" name="Rectangle 24"/>
          <p:cNvSpPr/>
          <p:nvPr/>
        </p:nvSpPr>
        <p:spPr>
          <a:xfrm>
            <a:off x="548640" y="3749039"/>
            <a:ext cx="804672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803903"/>
            <a:ext cx="1645920" cy="384048"/>
          </a:xfrm>
          <a:prstGeom prst="rect">
            <a:avLst/>
          </a:prstGeom>
          <a:noFill/>
        </p:spPr>
        <p:txBody>
          <a:bodyPr wrap="square" anchor="t" lIns="0" rIns="0" tIns="0" bIns="0">
            <a:spAutoFit/>
          </a:bodyPr>
          <a:lstStyle/>
          <a:p>
            <a:pPr algn="l">
              <a:lnSpc>
                <a:spcPct val="112000"/>
              </a:lnSpc>
              <a:spcAft>
                <a:spcPts val="400"/>
              </a:spcAft>
            </a:pPr>
            <a:r>
              <a:rPr sz="900" b="1">
                <a:solidFill>
                  <a:srgbClr val="13135E"/>
                </a:solidFill>
                <a:latin typeface="Arial"/>
              </a:rPr>
              <a:t>CI gate · layer 4 — next week</a:t>
            </a:r>
          </a:p>
        </p:txBody>
      </p:sp>
      <p:sp>
        <p:nvSpPr>
          <p:cNvPr id="27" name="TextBox 26"/>
          <p:cNvSpPr txBox="1"/>
          <p:nvPr/>
        </p:nvSpPr>
        <p:spPr>
          <a:xfrm>
            <a:off x="2468880" y="3803903"/>
            <a:ext cx="3108960" cy="384048"/>
          </a:xfrm>
          <a:prstGeom prst="rect">
            <a:avLst/>
          </a:prstGeom>
          <a:noFill/>
        </p:spPr>
        <p:txBody>
          <a:bodyPr wrap="square" anchor="t" lIns="0" rIns="0" tIns="0" bIns="0">
            <a:spAutoFit/>
          </a:bodyPr>
          <a:lstStyle/>
          <a:p>
            <a:pPr algn="l">
              <a:lnSpc>
                <a:spcPct val="112000"/>
              </a:lnSpc>
              <a:spcAft>
                <a:spcPts val="400"/>
              </a:spcAft>
            </a:pPr>
            <a:r>
              <a:rPr sz="800" b="0">
                <a:solidFill>
                  <a:srgbClr val="434343"/>
                </a:solidFill>
                <a:latin typeface="Consolas"/>
              </a:rPr>
              <a:t>(not in CLAUDE.md: .github/workflows/governance.yml)</a:t>
            </a:r>
          </a:p>
        </p:txBody>
      </p:sp>
      <p:sp>
        <p:nvSpPr>
          <p:cNvPr id="28" name="TextBox 27"/>
          <p:cNvSpPr txBox="1"/>
          <p:nvPr/>
        </p:nvSpPr>
        <p:spPr>
          <a:xfrm>
            <a:off x="5760720" y="3803903"/>
            <a:ext cx="2743200" cy="384048"/>
          </a:xfrm>
          <a:prstGeom prst="rect">
            <a:avLst/>
          </a:prstGeom>
          <a:noFill/>
        </p:spPr>
        <p:txBody>
          <a:bodyPr wrap="square" anchor="t" lIns="0" rIns="0" tIns="0" bIns="0">
            <a:spAutoFit/>
          </a:bodyPr>
          <a:lstStyle/>
          <a:p>
            <a:pPr algn="l">
              <a:lnSpc>
                <a:spcPct val="112000"/>
              </a:lnSpc>
              <a:spcAft>
                <a:spcPts val="400"/>
              </a:spcAft>
            </a:pPr>
            <a:r>
              <a:rPr sz="900" b="0">
                <a:solidFill>
                  <a:srgbClr val="434343"/>
                </a:solidFill>
                <a:latin typeface="Arial"/>
              </a:rPr>
              <a:t>Fails the PR that violates the clause — stops anyone</a:t>
            </a:r>
          </a:p>
        </p:txBody>
      </p:sp>
      <p:sp>
        <p:nvSpPr>
          <p:cNvPr id="29" name="TextBox 28"/>
          <p:cNvSpPr txBox="1"/>
          <p:nvPr/>
        </p:nvSpPr>
        <p:spPr>
          <a:xfrm>
            <a:off x="548640" y="4315968"/>
            <a:ext cx="7863840" cy="402336"/>
          </a:xfrm>
          <a:prstGeom prst="rect">
            <a:avLst/>
          </a:prstGeom>
          <a:noFill/>
        </p:spPr>
        <p:txBody>
          <a:bodyPr wrap="square" anchor="t" lIns="0" rIns="0" tIns="0" bIns="0">
            <a:spAutoFit/>
          </a:bodyPr>
          <a:lstStyle/>
          <a:p>
            <a:pPr algn="l">
              <a:lnSpc>
                <a:spcPct val="120000"/>
              </a:lnSpc>
              <a:spcAft>
                <a:spcPts val="400"/>
              </a:spcAft>
            </a:pPr>
            <a:r>
              <a:rPr sz="1000" b="0">
                <a:solidFill>
                  <a:srgbClr val="666666"/>
                </a:solidFill>
                <a:latin typeface="Arial"/>
              </a:rPr>
              <a:t>Layer 1 informs; layers 2–4 enforce — next week builds the bottom two rows for this same clause. Nothing built today validates anything.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REVIEW &amp; RETRO</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Compare, reflect, capture</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Five minutes that make the difference between an exercise and a practice.</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1783080"/>
            <a:ext cx="7863840" cy="2935224"/>
          </a:xfrm>
          <a:prstGeom prst="rect">
            <a:avLst/>
          </a:prstGeom>
          <a:noFill/>
        </p:spPr>
        <p:txBody>
          <a:bodyPr wrap="square" anchor="t" lIns="0" rIns="0" tIns="0" bIns="0">
            <a:spAutoFit/>
          </a:bodyPr>
          <a:lstStyle/>
          <a:p>
            <a:pPr algn="l">
              <a:lnSpc>
                <a:spcPct val="122000"/>
              </a:lnSpc>
              <a:spcAft>
                <a:spcPts val="900"/>
              </a:spcAft>
            </a:pPr>
            <a:r>
              <a:rPr sz="1250" b="1">
                <a:solidFill>
                  <a:srgbClr val="403FE8"/>
                </a:solidFill>
                <a:latin typeface="Arial"/>
              </a:rPr>
              <a:t>•  </a:t>
            </a:r>
            <a:r>
              <a:rPr sz="1250" b="1">
                <a:solidFill>
                  <a:srgbClr val="13135E"/>
                </a:solidFill>
                <a:latin typeface="Arial"/>
              </a:rPr>
              <a:t>Two volunteers, two NFRs. </a:t>
            </a:r>
            <a:r>
              <a:rPr sz="1250" b="0">
                <a:solidFill>
                  <a:srgbClr val="434343"/>
                </a:solidFill>
                <a:latin typeface="Arial"/>
              </a:rPr>
              <a:t>Same clause list, different documents — screen-share each: what did they choose to check, and what did they mark?</a:t>
            </a:r>
          </a:p>
          <a:p>
            <a:pPr algn="l">
              <a:lnSpc>
                <a:spcPct val="122000"/>
              </a:lnSpc>
              <a:spcAft>
                <a:spcPts val="900"/>
              </a:spcAft>
            </a:pPr>
            <a:r>
              <a:rPr sz="1250" b="1">
                <a:solidFill>
                  <a:srgbClr val="403FE8"/>
                </a:solidFill>
                <a:latin typeface="Arial"/>
              </a:rPr>
              <a:t>•  </a:t>
            </a:r>
            <a:r>
              <a:rPr sz="1250" b="1">
                <a:solidFill>
                  <a:srgbClr val="13135E"/>
                </a:solidFill>
                <a:latin typeface="Arial"/>
              </a:rPr>
              <a:t>One retro question. </a:t>
            </a:r>
            <a:r>
              <a:rPr sz="1250" b="0">
                <a:solidFill>
                  <a:srgbClr val="434343"/>
                </a:solidFill>
                <a:latin typeface="Arial"/>
              </a:rPr>
              <a:t>What was hard, what was easy? One line each in chat, waterfall style.</a:t>
            </a:r>
          </a:p>
          <a:p>
            <a:pPr algn="l">
              <a:lnSpc>
                <a:spcPct val="122000"/>
              </a:lnSpc>
              <a:spcAft>
                <a:spcPts val="900"/>
              </a:spcAft>
            </a:pPr>
            <a:r>
              <a:rPr sz="1250" b="1">
                <a:solidFill>
                  <a:srgbClr val="403FE8"/>
                </a:solidFill>
                <a:latin typeface="Arial"/>
              </a:rPr>
              <a:t>•  </a:t>
            </a:r>
            <a:r>
              <a:rPr sz="1250" b="1">
                <a:solidFill>
                  <a:srgbClr val="13135E"/>
                </a:solidFill>
                <a:latin typeface="Arial"/>
              </a:rPr>
              <a:t>Reflection note — now, not later. </a:t>
            </a:r>
            <a:r>
              <a:rPr sz="1250" b="0">
                <a:solidFill>
                  <a:srgbClr val="434343"/>
                </a:solidFill>
                <a:latin typeface="Arial"/>
              </a:rPr>
              <a:t>3–5 sentences in your PR description: what you learned, what surprised you, what you'd apply tomorrow. It is an acceptance criterion.</a:t>
            </a:r>
          </a:p>
          <a:p>
            <a:pPr algn="l">
              <a:lnSpc>
                <a:spcPct val="122000"/>
              </a:lnSpc>
              <a:spcAft>
                <a:spcPts val="900"/>
              </a:spcAft>
            </a:pPr>
            <a:r>
              <a:rPr sz="1250" b="1">
                <a:solidFill>
                  <a:srgbClr val="403FE8"/>
                </a:solidFill>
                <a:latin typeface="Arial"/>
              </a:rPr>
              <a:t>•  </a:t>
            </a:r>
            <a:r>
              <a:rPr sz="1250" b="1">
                <a:solidFill>
                  <a:srgbClr val="13135E"/>
                </a:solidFill>
                <a:latin typeface="Arial"/>
              </a:rPr>
              <a:t>Unfinished work finishes async. </a:t>
            </a:r>
            <a:r>
              <a:rPr sz="1250" b="0">
                <a:solidFill>
                  <a:srgbClr val="434343"/>
                </a:solidFill>
                <a:latin typeface="Arial"/>
              </a:rPr>
              <a:t>Still required, still peer-reviewed — the list does not shrink because the clock ran 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3.png"/>
          <p:cNvPicPr>
            <a:picLocks noChangeAspect="1"/>
          </p:cNvPicPr>
          <p:nvPr/>
        </p:nvPicPr>
        <p:blipFill>
          <a:blip r:embed="rId2"/>
          <a:stretch>
            <a:fillRect/>
          </a:stretch>
        </p:blipFill>
        <p:spPr>
          <a:xfrm>
            <a:off x="8229600" y="411480"/>
            <a:ext cx="713232" cy="384048"/>
          </a:xfrm>
          <a:prstGeom prst="rect">
            <a:avLst/>
          </a:prstGeom>
        </p:spPr>
      </p:pic>
      <p:sp>
        <p:nvSpPr>
          <p:cNvPr id="4" name="Rectangle 3"/>
          <p:cNvSpPr/>
          <p:nvPr/>
        </p:nvSpPr>
        <p:spPr>
          <a:xfrm>
            <a:off x="548640" y="457200"/>
            <a:ext cx="237744" cy="54864"/>
          </a:xfrm>
          <a:prstGeom prst="rect">
            <a:avLst/>
          </a:prstGeom>
          <a:solidFill>
            <a:srgbClr val="403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
            <a:ext cx="7132320" cy="274320"/>
          </a:xfrm>
          <a:prstGeom prst="rect">
            <a:avLst/>
          </a:prstGeom>
          <a:noFill/>
        </p:spPr>
        <p:txBody>
          <a:bodyPr wrap="square" anchor="t" lIns="0" rIns="0" tIns="0" bIns="0">
            <a:spAutoFit/>
          </a:bodyPr>
          <a:lstStyle/>
          <a:p>
            <a:pPr algn="l">
              <a:spcAft>
                <a:spcPts val="400"/>
              </a:spcAft>
            </a:pPr>
            <a:r>
              <a:rPr sz="950" b="1">
                <a:solidFill>
                  <a:srgbClr val="403FE8"/>
                </a:solidFill>
                <a:latin typeface="Arial"/>
              </a:rPr>
              <a:t>WRAP</a:t>
            </a:r>
          </a:p>
        </p:txBody>
      </p:sp>
      <p:sp>
        <p:nvSpPr>
          <p:cNvPr id="6" name="TextBox 5"/>
          <p:cNvSpPr txBox="1"/>
          <p:nvPr/>
        </p:nvSpPr>
        <p:spPr>
          <a:xfrm>
            <a:off x="548640" y="658368"/>
            <a:ext cx="7589520" cy="566928"/>
          </a:xfrm>
          <a:prstGeom prst="rect">
            <a:avLst/>
          </a:prstGeom>
          <a:noFill/>
        </p:spPr>
        <p:txBody>
          <a:bodyPr wrap="square" anchor="t" lIns="0" rIns="0" tIns="0" bIns="0">
            <a:spAutoFit/>
          </a:bodyPr>
          <a:lstStyle/>
          <a:p>
            <a:pPr algn="l">
              <a:spcAft>
                <a:spcPts val="400"/>
              </a:spcAft>
            </a:pPr>
            <a:r>
              <a:rPr sz="2500" b="1">
                <a:solidFill>
                  <a:srgbClr val="13135E"/>
                </a:solidFill>
                <a:latin typeface="Arial"/>
              </a:rPr>
              <a:t>Ship checklist, and what is next</a:t>
            </a:r>
          </a:p>
        </p:txBody>
      </p:sp>
      <p:sp>
        <p:nvSpPr>
          <p:cNvPr id="7" name="TextBox 6"/>
          <p:cNvSpPr txBox="1"/>
          <p:nvPr/>
        </p:nvSpPr>
        <p:spPr>
          <a:xfrm>
            <a:off x="548640" y="1316736"/>
            <a:ext cx="7863840" cy="566928"/>
          </a:xfrm>
          <a:prstGeom prst="rect">
            <a:avLst/>
          </a:prstGeom>
          <a:noFill/>
        </p:spPr>
        <p:txBody>
          <a:bodyPr wrap="square" anchor="t" lIns="0" rIns="0" tIns="0" bIns="0">
            <a:spAutoFit/>
          </a:bodyPr>
          <a:lstStyle/>
          <a:p>
            <a:pPr algn="l">
              <a:lnSpc>
                <a:spcPct val="125000"/>
              </a:lnSpc>
              <a:spcAft>
                <a:spcPts val="400"/>
              </a:spcAft>
            </a:pPr>
            <a:r>
              <a:rPr sz="1200" b="0">
                <a:solidFill>
                  <a:srgbClr val="434343"/>
                </a:solidFill>
                <a:latin typeface="Arial"/>
              </a:rPr>
              <a:t>Questions &amp; support: #extra-duty-solutions-ai-training — your instructor and the Applied AI Engineer are there.</a:t>
            </a:r>
          </a:p>
        </p:txBody>
      </p:sp>
      <p:sp>
        <p:nvSpPr>
          <p:cNvPr id="8" name="TextBox 7"/>
          <p:cNvSpPr txBox="1"/>
          <p:nvPr/>
        </p:nvSpPr>
        <p:spPr>
          <a:xfrm>
            <a:off x="548640" y="4846320"/>
            <a:ext cx="7315200" cy="219456"/>
          </a:xfrm>
          <a:prstGeom prst="rect">
            <a:avLst/>
          </a:prstGeom>
          <a:noFill/>
        </p:spPr>
        <p:txBody>
          <a:bodyPr wrap="square" anchor="t" lIns="0" rIns="0" tIns="0" bIns="0">
            <a:spAutoFit/>
          </a:bodyPr>
          <a:lstStyle/>
          <a:p>
            <a:pPr algn="l">
              <a:spcAft>
                <a:spcPts val="400"/>
              </a:spcAft>
            </a:pPr>
            <a:r>
              <a:rPr sz="800" b="0">
                <a:solidFill>
                  <a:srgbClr val="999999"/>
                </a:solidFill>
                <a:latin typeface="Arial"/>
              </a:rPr>
              <a:t>FSL AI Training · Lab 2.a — Writing the Standards Down</a:t>
            </a:r>
          </a:p>
        </p:txBody>
      </p:sp>
      <p:sp>
        <p:nvSpPr>
          <p:cNvPr id="9" name="TextBox 8"/>
          <p:cNvSpPr txBox="1"/>
          <p:nvPr/>
        </p:nvSpPr>
        <p:spPr>
          <a:xfrm>
            <a:off x="548640" y="1783080"/>
            <a:ext cx="7863840" cy="2935224"/>
          </a:xfrm>
          <a:prstGeom prst="rect">
            <a:avLst/>
          </a:prstGeom>
          <a:noFill/>
        </p:spPr>
        <p:txBody>
          <a:bodyPr wrap="square" anchor="t" lIns="0" rIns="0" tIns="0" bIns="0">
            <a:spAutoFit/>
          </a:bodyPr>
          <a:lstStyle/>
          <a:p>
            <a:pPr algn="l">
              <a:lnSpc>
                <a:spcPct val="122000"/>
              </a:lnSpc>
              <a:spcAft>
                <a:spcPts val="900"/>
              </a:spcAft>
            </a:pPr>
            <a:r>
              <a:rPr sz="1250" b="1">
                <a:solidFill>
                  <a:srgbClr val="403FE8"/>
                </a:solidFill>
                <a:latin typeface="Arial"/>
              </a:rPr>
              <a:t>•  </a:t>
            </a:r>
            <a:r>
              <a:rPr sz="1250" b="1">
                <a:solidFill>
                  <a:srgbClr val="13135E"/>
                </a:solidFill>
                <a:latin typeface="Arial"/>
              </a:rPr>
              <a:t>Ship checklist. </a:t>
            </a:r>
            <a:r>
              <a:rPr sz="1250" b="0">
                <a:solidFill>
                  <a:srgbClr val="434343"/>
                </a:solidFill>
                <a:latin typeface="Arial"/>
              </a:rPr>
              <a:t>ADR (cost included) · NFR (checks + marks) · wired into CLAUDE.md (trigger rows + binding line) · smoke-tested · PR-reviewed, CI green · reflection note in the PR.</a:t>
            </a:r>
          </a:p>
          <a:p>
            <a:pPr algn="l">
              <a:lnSpc>
                <a:spcPct val="122000"/>
              </a:lnSpc>
              <a:spcAft>
                <a:spcPts val="900"/>
              </a:spcAft>
            </a:pPr>
            <a:r>
              <a:rPr sz="1250" b="1">
                <a:solidFill>
                  <a:srgbClr val="403FE8"/>
                </a:solidFill>
                <a:latin typeface="Arial"/>
              </a:rPr>
              <a:t>•  </a:t>
            </a:r>
            <a:r>
              <a:rPr sz="1250" b="1">
                <a:solidFill>
                  <a:srgbClr val="13135E"/>
                </a:solidFill>
                <a:latin typeface="Arial"/>
              </a:rPr>
              <a:t>Stretch, self-paced. </a:t>
            </a:r>
            <a:r>
              <a:rPr sz="1250" b="0">
                <a:solidFill>
                  <a:srgbClr val="434343"/>
                </a:solidFill>
                <a:latin typeface="Arial"/>
              </a:rPr>
              <a:t>Store-boundary clauses · the half-gate ESLint clause · a rules-file conversion · a head start on the "how we use these" README.</a:t>
            </a:r>
          </a:p>
          <a:p>
            <a:pPr algn="l">
              <a:lnSpc>
                <a:spcPct val="122000"/>
              </a:lnSpc>
              <a:spcAft>
                <a:spcPts val="900"/>
              </a:spcAft>
            </a:pPr>
            <a:r>
              <a:rPr sz="1250" b="1">
                <a:solidFill>
                  <a:srgbClr val="403FE8"/>
                </a:solidFill>
                <a:latin typeface="Arial"/>
              </a:rPr>
              <a:t>•  </a:t>
            </a:r>
            <a:r>
              <a:rPr sz="1250" b="1">
                <a:solidFill>
                  <a:srgbClr val="13135E"/>
                </a:solidFill>
                <a:latin typeface="Arial"/>
              </a:rPr>
              <a:t>Everything is in the handout. </a:t>
            </a:r>
            <a:r>
              <a:rPr sz="1250" b="0">
                <a:solidFill>
                  <a:srgbClr val="434343"/>
                </a:solidFill>
                <a:latin typeface="Arial"/>
              </a:rPr>
              <a:t>All five prompt starters, the stuck-points table, the skeletons.</a:t>
            </a:r>
          </a:p>
          <a:p>
            <a:pPr algn="l">
              <a:lnSpc>
                <a:spcPct val="122000"/>
              </a:lnSpc>
              <a:spcAft>
                <a:spcPts val="900"/>
              </a:spcAft>
            </a:pPr>
            <a:r>
              <a:rPr sz="1250" b="1">
                <a:solidFill>
                  <a:srgbClr val="403FE8"/>
                </a:solidFill>
                <a:latin typeface="Arial"/>
              </a:rPr>
              <a:t>•  </a:t>
            </a:r>
            <a:r>
              <a:rPr sz="1250" b="1">
                <a:solidFill>
                  <a:srgbClr val="13135E"/>
                </a:solidFill>
                <a:latin typeface="Arial"/>
              </a:rPr>
              <a:t>Next week: teeth. </a:t>
            </a:r>
            <a:r>
              <a:rPr sz="1250" b="0">
                <a:solidFill>
                  <a:srgbClr val="434343"/>
                </a:solidFill>
                <a:latin typeface="Arial"/>
              </a:rPr>
              <a:t>Your clause becomes a hook and a CI gate — and the marked clauses get their reckoning.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