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 to Lab 2.a. Two hours, mostly hands-on. The challenge in one breath: this repo has a real, load-bearing rule that nothing explains and nothing checks — you will document the why as an ADR, derive a rule from last week's real fixes and write it as an NFR, and wire both into CLAUDE.md so Claude actually reads them. ~1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[CALIBRATED from Lab 1.b, 2026-08-12: agenda held · prompting depth right · checkpoint gates worked · mostly solo, fine · room waits to be told → 4 seed clauses + 10-min derive] The blocks sum to 120 — keep yourself honest on them. No setup block: everyone arrives ready per the handout (branch created, docs/labs pulled, npm test green) — verify that claim with a ten-second show of hands here, and pair any exception quietly during the Why slide rather than stopping the room. Set expectations: this block is less typing than 1.b and more deciding. Two unusual asks today: read code cold and write a rule from it, and mark which parts of your own rule a machine could not check. Also say once: how you're assessed is on the handout — same five-dimension rubric as Lab 1, counts toward Agentic Developer. ~2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oversell — this room is already positive about AI; the pitch is "stop solving the same problem sixteen times." Land the vocabulary on card 3, once, and reuse it all day: a RULE is what the team agrees on; a DOCUMENT is where the rule lives (one document can hold many rules); a rule written down and agreed is a STANDARD — the same definition the distribution guide uses. Then land the ETH note: the point is not "AI cannot write docs", it is that a doc nobody thought about is negative value. Ask who has run /init and never read the output — hands will go up. Source link is in the handout. ~3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sorting question — say it twice: WHO must obey this rule? Everyone everywhere → Collective. Everyone in this repo → Project. Only some files → Feature/path. All three example rules are real and in this repo right now; open CLAUDE.md line 72 if anyone doubts the secrets one. The footnote is the payoff: the secrets rule is mis-layered today, and the room can SEE it — that mismatch is why the sixth artifact (an org-wide home + how repos inherit from it) exists, and 2.b hands it to them to define. Today all their work is Project-layer. ~3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 middle column aloud, row by row — the questions do the teaching. The expansions (Architecture Decision Record, Non-Functional Requirement) get said out loud exactly once, here. Then the footnote, with this repo's pair as the example: the envelope rule is an NFR — every response uses it, checkable, a bare res.json() is a defect. adding-a-resource.md is a recipe — the recommended steps; you may add a resource differently and violate nothing, as long as the envelope rule still holds. Binding vs guiding is the line. ~2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slide of the block — spend time here. Walk the same subject across all five rows, then land the one-word summary. If someone says "that is a lot of documents for one rule" — good: you would not write all five; you write the one that answers the question you actually have. EXPECT the pairing question ("does every NFR have an ADR?"): no, and no — they pair ONLY when one subject has both a contested decision AND a checkable standing rule, like this boundary. NFR-0001 has no ADR (hygiene, not a decision); a cloud-choice ADR would have no NFR (nothing to check per PR). When both exist they cross-reference, never duplicate: the NFR says "rationale: ADR-0002", the ADR says "enforced via NFR-0002". If the room wants a second worked pair, use the one on the takeaway card (enforcing-a-convention.md): "all backends must use SQLite" — ADR holds the decision, NFR holds the must + a CI dependency-scan check, and the word ALL makes it Collective-layer, which previews the sixth artifact. The CLAUDE.md row quotes the file verbatim on purpose — open it live if anyone doubts. ~5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read all 30 cells. Two rows do the work: "carries a check" isolates the NFR — the only artifact obliged to say how compliance is verified, the bridge to 2.b — and "when it loads" separates the two context files from the three documents. Then read the footnote aloud: the quick test is the take-home, and one-home-per-fact is the failure mode that kills governance corpora. Recipes and rules files get no further slide — the handout covers them. ~4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Land the continuity first — this is NOT new: 1.a taught POINTER = LAZY vs @IMPORT = EAGER, and said "give a clear trigger — before X, read Y." The table is that one line as rows: situation -&gt; pointer. A lazy pointer WITHOUT a trigger is a link the agent may never follow; the trigger is the firing condition that makes lazy reliable. Then pre-empt the objection: they saw a 72-line CLAUDE.md in 1.a and will meet 500-line ones in the wild. Both are correct at their scale; the trigger table is what makes the difference. Phrase triggers as situations, not topics — the agent matches on what it is doing. The last bullet is the third rung, one sentence only: past a few dozen docs, per-repo copies drift and even the trigger table bloats — so the docs get ONE canonical home and consumers QUERY it (a search tool over the governance repo, or a small docs service the agent calls). The mature corpus we cite runs 137 docs that way. Do not teach the mechanics here — the distribution guide 2.b hands over covers them; it puts the crossover at roughly 20+ docs. ~2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sell the heavy forms. The one nuance: your NFR today is deliberately mid-ladder — the handout gives the clause + "Checked by:" skeleton, which NFR-0001 predates. Fun fact for the room: a mature corpus we know contains an ADR recording its own choice of ADR format — the format itself is a decision. ~2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Cite the finding as a finding: published field experience says teams stop writing ADRs because the operational questions were never answered. Ask which of these five triggers they could answer for their own repos today — usually none. Champions co-lead the standards work from here on and the EM reviews the output — name the confirmed co-leads here (see the engagement plan; do not name anyone in shared material), and make sure the room knows a review is coming. ~4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Demonstrate the shape: the second prompt deliberately ends "leave Decision as a question for me to answer" — that clause is the difference between drafting and delegating. All five starters are in the handout's prompt table; these two are quoted from it verbatim. ~4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incident-citing pattern is the most transferable thing in this block. Give the shape: "Rule: never X. Why: on &lt;date&gt; we did X and &lt;consequence&gt;." It is also the answer to the yes-man complaint from their interviews — rules with reasons survive pushback from a persuasive agent. ~2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Transition. Tell them what to watch for: where the evidence comes from, and the moment I stop Claude and make the decision myself. And tell them now: you write yours immediately after, same subject, your own words.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the actual directories, not the slide. Grep for imports of store.ts and show the boundary really holds. The "nothing checks it" line plants 2.b — don't explain it yet. ~3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Narrate the wrong turns — if Claude writes a consequence that is really a benefit in disguise, say so and fix it. The honest cost is what makes an ADR credible; a document with only upsides is marketing. Note the shape on screen matches the shipped template exactly: a metadata bullet block, then THREE sections. ~8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[CALIBRATED from Lab 1.b, 2026-08-12: agenda held · prompting depth right · checkpoint gates worked · mostly solo, fine · room waits to be told → 4 seed clauses + 10-min derive] This is the follow-along increment — everyone in the same state before the checkpoint. If anyone skipped the handout prep, now is when it bites: branch `feat/governance`, docs/labs pulled. Circulate; the common stall is over-polishing Context. Ten minutes, hard stop. Fast finishers: point at the stretch — derive the store-boundary clause list early, or review a neighbour's draft Decision. ~11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[CALIBRATED from Lab 1.b, 2026-08-12: agenda held · prompting depth right · checkpoint gates worked · mostly solo, fine · room waits to be told → 4 seed clauses + 10-min derive] Do not advance past unresolved hands. Cheap to verify by walking the room. If more than two people are stuck, the cause is usually prompt shape — show yours again. Fast finishers go to the stretch list (handout): the store-boundary clauses or a peer review. ~3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[CALIBRATED from Lab 1.b, 2026-08-12: agenda held · prompting depth right · checkpoint gates worked · mostly solo, fine · room waits to be told → 4 seed clauses + 10-min derive] Scaffolding drops here — from following along to deciding. Announce the mode change explicitly; it should not be discovered.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[CALIBRATED from Lab 1.b, 2026-08-12: agenda held · prompting depth right · checkpoint gates worked · mostly solo, fine · room waits to be told → 4 seed clauses + 10-min derive] STIMULUS (settled from 1.b outcome): row C is a REAL, anonymised 1.b PR — students who shipped PRs did the loop properly, so shapes A and B are SYNTHETIC diffs against bugs #4/#5. Frame it once: nobody was ASKED to write a test last week — gap in the standard, not in a person. Then stop talking. BONUS BEAT (use in converge if energy is good): several of last week's fixes never became PRs at all — working code, invisible to review. Ask: what rule would catch a fix that never ships? Their own behaviour just raised a real governance question. ~4 min of reading.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[CALIBRATED from Lab 1.b, 2026-08-12: agenda held · prompting depth right · checkpoint gates worked · mostly solo, fine · room waits to be told → 4 seed clauses + 10-min derive] Ten minutes, tight — 1.b says this room waits to be told, so drive it: the FACILITATION LADDER, in order, per stalled group: (1) "Seed 2 — keep, tighten, or drop?" (2) "Fix B is green. Would seed 1 alone have caught it?" (3) "Which of your tags could a script actually decide — prove it: what does the script read?" Never state a clause yourself. Watch for the room deciding B is acceptable; that is the interesting case — do NOT tell them. Group B keeps faster tables on the second convention; its output feeds the merge. ~10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[CALIBRATED from Lab 1.b, 2026-08-12: agenda held · prompting depth right · checkpoint gates worked · mostly solo, fine · room waits to be told → 4 seed clauses + 10-min derive] MANDATORY: state and write the agreed clauses before advancing — an unresolved discussion is worse than none. Card contents are illustrative; replace live with what the room produced. If they missed "failed first", ask: "B was green before the fix. Would your rule have caught it?" Apply the tiebreak out loud when groups conflict. ~4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minutes, and it is the hinge: written-unchecked, checked, half-checked all live in ONE file the room already trusts. The half-gate case is the stretch item — closing it is an ESLint rule away. This is Appendix C's logging-standards coverage: the convention exists; the class derives what checking it would mean. ~2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 is the point: AFTER the room commits, so it reads as comparison, not answer key. Sanitised — no client, product, or domain detail; if asked, "another engagement, and that is all I can say." ~2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[CALIBRATED from Lab 1.b, 2026-08-12: agenda held · prompting depth right · checkpoint gates worked · mostly solo, fine · room waits to be told → 4 seed clauses + 10-min derive] Circulate with one question per group: "how is that checked?" If they cannot answer, the clause is not finished. The skeleton on screen is also in the handout. Reserve the last five minutes for peer review — it is an acceptance criterion and the first thing skipped. ~20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[CALIBRATED from Lab 1.b, 2026-08-12: agenda held · prompting depth right · checkpoint gates worked · mostly solo, fine · room waits to be told → 4 seed clauses + 10-min derive] Ask each group to read one fuzzy clause and its recorded decision aloud — two minutes, and it makes the standard real. Fast finishers: the half-gate stretch (write the ESLint clause) or the rules-file conversion. ~2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Name the two mechanisms out loud — trigger row vs binding line — and anchor both in 1.a: the trigger row is the lazy pointer they already know; the binding line is a deliberate eager load, kept to one sentence precisely because eager costs every session. The binding line is new vocabulary and it is graded. NFR-0001 has no binding line yet; they are setting the pattern. The smoke test takes 60 seconds: new session, ask the rule, watch whether it reads the doc or guesses. If it guesses, the trigger is phrased as a topic, not a situation — fixable in one edit. ~9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[CALIBRATED from Lab 1.b, 2026-08-12: agenda held · prompting depth right · checkpoint gates worked · mostly solo, fine · room waits to be told → 4 seed clauses + 10-min derive] Do not skip this to buy build time — it is the review+capture close Format B requires. INSTRUCTOR, within 24h: file the lab-capture entry (AI-Transformation-Playbook/04-labs/lab-capture-template.md) — what was built, stuck points, timings, refinements. This deck is the Format B pilot; the capture entry is how it gets validated. ~4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Land the through-line: last week a habit, this week a standard, next week a gate. The wrap checklist mirrors the handout acceptance criteria exactly — read it as one list, not highlights. ~1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Picture 2" descr="imag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57200"/>
            <a:ext cx="850392" cy="45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965960"/>
            <a:ext cx="7863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>
                <a:solidFill>
                  <a:srgbClr val="FFFFFF"/>
                </a:solidFill>
                <a:latin typeface="Arial"/>
              </a:rPr>
              <a:t>Writing the Standards Down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926080"/>
            <a:ext cx="7863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0">
                <a:solidFill>
                  <a:srgbClr val="CCD9FF"/>
                </a:solidFill>
                <a:latin typeface="Arial"/>
              </a:rPr>
              <a:t>Lab 2.a — the governance documents an AI agent actually uses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434840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A9B7F7"/>
                </a:solidFill>
                <a:latin typeface="Arial"/>
              </a:rPr>
              <a:t>FSL AI Training · Phase 1 · Week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TODAY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Two hours, mostly hands-on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2.a — Writing the Standards Down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554480"/>
            <a:ext cx="8046720" cy="411480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655064"/>
            <a:ext cx="8686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403FE8"/>
                </a:solidFill>
                <a:latin typeface="Arial"/>
              </a:rPr>
              <a:t>6 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1604772"/>
            <a:ext cx="2606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3135E"/>
                </a:solidFill>
                <a:latin typeface="Arial"/>
              </a:rPr>
              <a:t>Why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1623060"/>
            <a:ext cx="40690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666666"/>
                </a:solidFill>
                <a:latin typeface="Arial"/>
              </a:rPr>
              <a:t>What shared standards buy you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029967"/>
            <a:ext cx="804672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130551"/>
            <a:ext cx="8686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403FE8"/>
                </a:solidFill>
                <a:latin typeface="Arial"/>
              </a:rPr>
              <a:t>18 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2080260"/>
            <a:ext cx="2606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3135E"/>
                </a:solidFill>
                <a:latin typeface="Arial"/>
              </a:rPr>
              <a:t>The five artifacts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2098548"/>
            <a:ext cx="40690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666666"/>
                </a:solidFill>
                <a:latin typeface="Arial"/>
              </a:rPr>
              <a:t>What each is — and how to tell them apart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2505456"/>
            <a:ext cx="8046720" cy="411480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2606040"/>
            <a:ext cx="8686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403FE8"/>
                </a:solidFill>
                <a:latin typeface="Arial"/>
              </a:rPr>
              <a:t>10 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91640" y="2555748"/>
            <a:ext cx="2606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3135E"/>
                </a:solidFill>
                <a:latin typeface="Arial"/>
              </a:rPr>
              <a:t>How they get authored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2574036"/>
            <a:ext cx="40690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666666"/>
                </a:solidFill>
                <a:latin typeface="Arial"/>
              </a:rPr>
              <a:t>When one is required, who reviews, drafting with Claude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2980944"/>
            <a:ext cx="804672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3081527"/>
            <a:ext cx="8686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403FE8"/>
                </a:solidFill>
                <a:latin typeface="Arial"/>
              </a:rPr>
              <a:t>26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91640" y="3031236"/>
            <a:ext cx="2606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3135E"/>
                </a:solidFill>
                <a:latin typeface="Arial"/>
              </a:rPr>
              <a:t>Demo an ADR — then write yours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120" y="3049524"/>
            <a:ext cx="40690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666666"/>
                </a:solidFill>
                <a:latin typeface="Arial"/>
              </a:rPr>
              <a:t>The repository boundary, documented twice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3456432"/>
            <a:ext cx="8046720" cy="411480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3557016"/>
            <a:ext cx="8686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403FE8"/>
                </a:solidFill>
                <a:latin typeface="Arial"/>
              </a:rPr>
              <a:t>44 min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91640" y="3506724"/>
            <a:ext cx="2606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3135E"/>
                </a:solidFill>
                <a:latin typeface="Arial"/>
              </a:rPr>
              <a:t>Derive + write an NFR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9120" y="3525012"/>
            <a:ext cx="40690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666666"/>
                </a:solidFill>
                <a:latin typeface="Arial"/>
              </a:rPr>
              <a:t>Judge three fixes from last week — your verdict becomes the team standard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3931920"/>
            <a:ext cx="804672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" y="4032504"/>
            <a:ext cx="8686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403FE8"/>
                </a:solidFill>
                <a:latin typeface="Arial"/>
              </a:rPr>
              <a:t>16 min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91640" y="3982211"/>
            <a:ext cx="2606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3135E"/>
                </a:solidFill>
                <a:latin typeface="Arial"/>
              </a:rPr>
              <a:t>Wire it in + review &amp; retro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9120" y="4000500"/>
            <a:ext cx="40690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666666"/>
                </a:solidFill>
                <a:latin typeface="Arial"/>
              </a:rPr>
              <a:t>Trigger table, binding line, smoke test, reflect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WHY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Sixteen developers, sixteen private setups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The assessment called this a Cultural Gap: engineers ahead of shared norms.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2.a — Writing the Standards Down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103120"/>
            <a:ext cx="2602992" cy="2011680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2103120"/>
            <a:ext cx="2602992" cy="41148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286000"/>
            <a:ext cx="2237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WHAT WORKS TODAY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816352"/>
            <a:ext cx="223723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Individual practice is genuinely strong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Claude is productive on this repo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The habits from 1.b landed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70504" y="2103120"/>
            <a:ext cx="2602992" cy="2011680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70504" y="2103120"/>
            <a:ext cx="2602992" cy="41148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53384" y="2286000"/>
            <a:ext cx="2237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WHAT DOES NOT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53384" y="2816352"/>
            <a:ext cx="223723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None of it is shared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Every dev re-teaches Claude the same things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No way to tell if a rule is followed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92368" y="2103120"/>
            <a:ext cx="2602992" cy="2011680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992368" y="2103120"/>
            <a:ext cx="2602992" cy="41148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75248" y="2286000"/>
            <a:ext cx="2237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WHAT TODAY CHANGES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75248" y="2816352"/>
            <a:ext cx="223723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Habits become written rules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Rules get homes: documents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Written + agreed = a standard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261104"/>
            <a:ext cx="786384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50" b="0">
                <a:solidFill>
                  <a:srgbClr val="666666"/>
                </a:solidFill>
                <a:latin typeface="Arial"/>
              </a:rPr>
              <a:t>And the evidence says authorship matters: an ETH Zurich study (Feb 2026) found LLM-generated context files LOWERED task success ~3% while raising cost 20%+; human-written improved it ~4%. /init-and-walk-away is worse than nothing.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SCOPE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Every rule has a reach — that reach is its layer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A rule is the agreement; a document is its home — one document can hold many rules. A rule's LAYER is its reach: who must obey it. That decides which document it belongs in, so the right people (and agents) inherit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2.a — Writing the Standards Down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011680"/>
            <a:ext cx="8046720" cy="310896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089404"/>
            <a:ext cx="11887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Layer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2089404"/>
            <a:ext cx="1737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Who must obey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0" y="2089404"/>
            <a:ext cx="22860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A real rule at this layer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089404"/>
            <a:ext cx="21031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So the document lives…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322576"/>
            <a:ext cx="8046720" cy="384048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2377440"/>
            <a:ext cx="118872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1">
                <a:solidFill>
                  <a:srgbClr val="13135E"/>
                </a:solidFill>
                <a:latin typeface="Arial"/>
              </a:rPr>
              <a:t>Collective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2377440"/>
            <a:ext cx="173736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>
                <a:solidFill>
                  <a:srgbClr val="434343"/>
                </a:solidFill>
                <a:latin typeface="Arial"/>
              </a:rPr>
              <a:t>Everyone, in every repo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0" y="2377440"/>
            <a:ext cx="228600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>
                <a:solidFill>
                  <a:srgbClr val="434343"/>
                </a:solidFill>
                <a:latin typeface="Arial"/>
              </a:rPr>
              <a:t>"Never commit secrets"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377440"/>
            <a:ext cx="210312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>
                <a:solidFill>
                  <a:srgbClr val="434343"/>
                </a:solidFill>
                <a:latin typeface="Arial"/>
              </a:rPr>
              <a:t>In an org-wide home — which does not exist yet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2706624"/>
            <a:ext cx="804672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2761488"/>
            <a:ext cx="118872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1">
                <a:solidFill>
                  <a:srgbClr val="13135E"/>
                </a:solidFill>
                <a:latin typeface="Arial"/>
              </a:rPr>
              <a:t>Project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11680" y="2761488"/>
            <a:ext cx="173736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>
                <a:solidFill>
                  <a:srgbClr val="434343"/>
                </a:solidFill>
                <a:latin typeface="Arial"/>
              </a:rPr>
              <a:t>Everyone in ONE repo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31920" y="2761488"/>
            <a:ext cx="228600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>
                <a:solidFill>
                  <a:srgbClr val="434343"/>
                </a:solidFill>
                <a:latin typeface="Arial"/>
              </a:rPr>
              <a:t>"Responses only via the respond.ts envelope"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2761488"/>
            <a:ext cx="210312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>
                <a:solidFill>
                  <a:srgbClr val="434343"/>
                </a:solidFill>
                <a:latin typeface="Arial"/>
              </a:rPr>
              <a:t>In this repo: CLAUDE.md, docs/adr, docs/nfr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3090672"/>
            <a:ext cx="8046720" cy="384048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3145536"/>
            <a:ext cx="118872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1">
                <a:solidFill>
                  <a:srgbClr val="13135E"/>
                </a:solidFill>
                <a:latin typeface="Arial"/>
              </a:rPr>
              <a:t>Feature / path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11680" y="3145536"/>
            <a:ext cx="173736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>
                <a:solidFill>
                  <a:srgbClr val="434343"/>
                </a:solidFill>
                <a:latin typeface="Arial"/>
              </a:rPr>
              <a:t>Only work touching certain files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31920" y="3145536"/>
            <a:ext cx="228600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>
                <a:solidFill>
                  <a:srgbClr val="434343"/>
                </a:solidFill>
                <a:latin typeface="Arial"/>
              </a:rPr>
              <a:t>"Server tests MUST use makeTestDb()"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3145536"/>
            <a:ext cx="210312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>
                <a:solidFill>
                  <a:srgbClr val="434343"/>
                </a:solidFill>
                <a:latin typeface="Arial"/>
              </a:rPr>
              <a:t>In .claude/rules/testing.md — loads only on matching paths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3602736"/>
            <a:ext cx="786384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00" b="0">
                <a:solidFill>
                  <a:srgbClr val="666666"/>
                </a:solidFill>
                <a:latin typeface="Arial"/>
              </a:rPr>
              <a:t>Spot the mismatch: "never commit secrets" binds every repo, but it lives in THIS repo's CLAUDE.md — a Collective-reach rule parked at Project layer, because no org-wide home exists. Building that home is the sixth artifact 2.b hands your team.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THE ARTIFACTS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Five types — and the question each answers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Two acronyms spelled out once, then never again. If you can name the question, you know which document you are writing.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2.a — Writing the Standards Down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011680"/>
            <a:ext cx="8046720" cy="310896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089404"/>
            <a:ext cx="140528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Artifact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28248" y="2089404"/>
            <a:ext cx="341696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The question it answers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28096" y="2089404"/>
            <a:ext cx="2675823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What it is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322576"/>
            <a:ext cx="8046720" cy="384048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377440"/>
            <a:ext cx="1405288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CLAUDE.md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28248" y="2377440"/>
            <a:ext cx="3416968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What must the agent know before anything else?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28096" y="2377440"/>
            <a:ext cx="2675823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Always-loaded context + pointers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2706624"/>
            <a:ext cx="804672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2761488"/>
            <a:ext cx="1405288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ADR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28248" y="2761488"/>
            <a:ext cx="3416968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WHY is it like this?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28096" y="2761488"/>
            <a:ext cx="2675823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Architecture Decision Record — one decision, with its cost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090672"/>
            <a:ext cx="8046720" cy="384048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145536"/>
            <a:ext cx="1405288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NFR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28248" y="3145536"/>
            <a:ext cx="3416968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What must always be TRUE — and how do we check?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28096" y="3145536"/>
            <a:ext cx="2675823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Non-Functional Requirement — a standing, testable rule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3474720"/>
            <a:ext cx="804672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3529584"/>
            <a:ext cx="1405288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Best-practice recipe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228248" y="3529584"/>
            <a:ext cx="3416968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HOW do I do X here?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28096" y="3529584"/>
            <a:ext cx="2675823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A worked procedure — "recipe" from here 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3858768"/>
            <a:ext cx="8046720" cy="384048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3913631"/>
            <a:ext cx="1405288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Rules file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228248" y="3913631"/>
            <a:ext cx="3416968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What applies ONLY in these files?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28096" y="3913631"/>
            <a:ext cx="2675823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Path-scoped context (.claude/rules/)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4315968"/>
            <a:ext cx="786384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00" b="0">
                <a:solidFill>
                  <a:srgbClr val="666666"/>
                </a:solidFill>
                <a:latin typeface="Arial"/>
              </a:rPr>
              <a:t>The pair people conflate — NFR vs recipe: an NFR BINDS (what must be true, checkable; a deviation is a defect). A recipe GUIDES (the recommended route there; deviate freely, so long as the NFRs still hold).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DIFFERENTIATION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One subject, five artifacts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This repo has a real rule: only repositories/ may import db/store.ts. Here is what each artifact says about that same subject.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2.a — Writing the Standards Down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011680"/>
            <a:ext cx="8046720" cy="310896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089404"/>
            <a:ext cx="10972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Artifact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40" y="2089404"/>
            <a:ext cx="65836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What it says about the repository boundary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322576"/>
            <a:ext cx="8046720" cy="384048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377440"/>
            <a:ext cx="109728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CLAUDE.md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20240" y="2377440"/>
            <a:ext cx="658368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The real line, verbatim: "Don't: access db.json outside server/src/repositories/". Always loaded, no rationale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706624"/>
            <a:ext cx="804672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761488"/>
            <a:ext cx="109728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ADR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20240" y="2761488"/>
            <a:ext cx="658368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Why a repository layer was chosen, what else was considered, what it costs. Written once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090672"/>
            <a:ext cx="8046720" cy="384048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145536"/>
            <a:ext cx="109728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NFR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20240" y="3145536"/>
            <a:ext cx="658368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The rule as a standing requirement — plus how compliance is checked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474720"/>
            <a:ext cx="804672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529584"/>
            <a:ext cx="109728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Recipe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20240" y="3529584"/>
            <a:ext cx="658368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docs/best-practices/adding-a-resource.md — the steps for adding a resource within that boundary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3858768"/>
            <a:ext cx="8046720" cy="384048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3913631"/>
            <a:ext cx="109728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Rules file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3913631"/>
            <a:ext cx="658368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Guidance that loads only when you are in the files it applies to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4315968"/>
            <a:ext cx="786384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00" b="0">
                <a:solidFill>
                  <a:srgbClr val="666666"/>
                </a:solidFill>
                <a:latin typeface="Arial"/>
              </a:rPr>
              <a:t>None of them is redundant. ADR = history. NFR = law. Recipe = procedure. CLAUDE.md = index. Rules file = context that arrives just in time.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DIFFERENTIATION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Telling them apart when it is unclear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2.a — Writing the Standards Down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691640"/>
            <a:ext cx="8046720" cy="310896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769364"/>
            <a:ext cx="93202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54986" y="1769364"/>
            <a:ext cx="127134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CLAUDE.md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9213" y="1769364"/>
            <a:ext cx="117439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Rules file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66491" y="1769364"/>
            <a:ext cx="127134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ADR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20718" y="1769364"/>
            <a:ext cx="136829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NFR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71893" y="1769364"/>
            <a:ext cx="93202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Recipe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002536"/>
            <a:ext cx="8046720" cy="384048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057400"/>
            <a:ext cx="932026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00" b="1">
                <a:solidFill>
                  <a:srgbClr val="13135E"/>
                </a:solidFill>
                <a:latin typeface="Arial"/>
              </a:rPr>
              <a:t>Answers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54986" y="2057400"/>
            <a:ext cx="1271346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00" b="0">
                <a:solidFill>
                  <a:srgbClr val="434343"/>
                </a:solidFill>
                <a:latin typeface="Arial"/>
              </a:rPr>
              <a:t>What to know first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9213" y="2057400"/>
            <a:ext cx="1174398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00" b="0">
                <a:solidFill>
                  <a:srgbClr val="434343"/>
                </a:solidFill>
                <a:latin typeface="Arial"/>
              </a:rPr>
              <a:t>What applies here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66491" y="2057400"/>
            <a:ext cx="1271346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00" b="0">
                <a:solidFill>
                  <a:srgbClr val="434343"/>
                </a:solidFill>
                <a:latin typeface="Arial"/>
              </a:rPr>
              <a:t>Why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20718" y="2057400"/>
            <a:ext cx="1368294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00" b="0">
                <a:solidFill>
                  <a:srgbClr val="434343"/>
                </a:solidFill>
                <a:latin typeface="Arial"/>
              </a:rPr>
              <a:t>What must hold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71893" y="2057400"/>
            <a:ext cx="932026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00" b="0">
                <a:solidFill>
                  <a:srgbClr val="434343"/>
                </a:solidFill>
                <a:latin typeface="Arial"/>
              </a:rPr>
              <a:t>How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2386584"/>
            <a:ext cx="804672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2441448"/>
            <a:ext cx="932026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00" b="1">
                <a:solidFill>
                  <a:srgbClr val="13135E"/>
                </a:solidFill>
                <a:latin typeface="Arial"/>
              </a:rPr>
              <a:t>Tense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54986" y="2441448"/>
            <a:ext cx="1271346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00" b="0">
                <a:solidFill>
                  <a:srgbClr val="434343"/>
                </a:solidFill>
                <a:latin typeface="Arial"/>
              </a:rPr>
              <a:t>Present, standing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09213" y="2441448"/>
            <a:ext cx="1174398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00" b="0">
                <a:solidFill>
                  <a:srgbClr val="434343"/>
                </a:solidFill>
                <a:latin typeface="Arial"/>
              </a:rPr>
              <a:t>Present, scoped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66491" y="2441448"/>
            <a:ext cx="1271346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00" b="0">
                <a:solidFill>
                  <a:srgbClr val="434343"/>
                </a:solidFill>
                <a:latin typeface="Arial"/>
              </a:rPr>
              <a:t>Past — a choice made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20718" y="2441448"/>
            <a:ext cx="1368294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00" b="0">
                <a:solidFill>
                  <a:srgbClr val="434343"/>
                </a:solidFill>
                <a:latin typeface="Arial"/>
              </a:rPr>
              <a:t>Present — holds now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71893" y="2441448"/>
            <a:ext cx="932026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00" b="0">
                <a:solidFill>
                  <a:srgbClr val="434343"/>
                </a:solidFill>
                <a:latin typeface="Arial"/>
              </a:rPr>
              <a:t>Imperative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2770632"/>
            <a:ext cx="8046720" cy="384048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2825496"/>
            <a:ext cx="932026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00" b="1">
                <a:solidFill>
                  <a:srgbClr val="13135E"/>
                </a:solidFill>
                <a:latin typeface="Arial"/>
              </a:rPr>
              <a:t>Lifecycle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54986" y="2825496"/>
            <a:ext cx="1271346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00" b="0">
                <a:solidFill>
                  <a:srgbClr val="434343"/>
                </a:solidFill>
                <a:latin typeface="Arial"/>
              </a:rPr>
              <a:t>Revised continuously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9213" y="2825496"/>
            <a:ext cx="1174398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00" b="0">
                <a:solidFill>
                  <a:srgbClr val="434343"/>
                </a:solidFill>
                <a:latin typeface="Arial"/>
              </a:rPr>
              <a:t>Revised in place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66491" y="2825496"/>
            <a:ext cx="1271346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00" b="0">
                <a:solidFill>
                  <a:srgbClr val="434343"/>
                </a:solidFill>
                <a:latin typeface="Arial"/>
              </a:rPr>
              <a:t>Superseded, never edited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20718" y="2825496"/>
            <a:ext cx="1368294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00" b="0">
                <a:solidFill>
                  <a:srgbClr val="434343"/>
                </a:solidFill>
                <a:latin typeface="Arial"/>
              </a:rPr>
              <a:t>Revised in place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71893" y="2825496"/>
            <a:ext cx="932026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00" b="0">
                <a:solidFill>
                  <a:srgbClr val="434343"/>
                </a:solidFill>
                <a:latin typeface="Arial"/>
              </a:rPr>
              <a:t>Updated freely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8640" y="3154679"/>
            <a:ext cx="804672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" y="3209544"/>
            <a:ext cx="932026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00" b="1">
                <a:solidFill>
                  <a:srgbClr val="13135E"/>
                </a:solidFill>
                <a:latin typeface="Arial"/>
              </a:rPr>
              <a:t>Carries a check?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754986" y="3209544"/>
            <a:ext cx="1271346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00" b="0">
                <a:solidFill>
                  <a:srgbClr val="434343"/>
                </a:solidFill>
                <a:latin typeface="Arial"/>
              </a:rPr>
              <a:t>No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209213" y="3209544"/>
            <a:ext cx="1174398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00" b="0">
                <a:solidFill>
                  <a:srgbClr val="434343"/>
                </a:solidFill>
                <a:latin typeface="Arial"/>
              </a:rPr>
              <a:t>No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66491" y="3209544"/>
            <a:ext cx="1271346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00" b="0">
                <a:solidFill>
                  <a:srgbClr val="434343"/>
                </a:solidFill>
                <a:latin typeface="Arial"/>
              </a:rPr>
              <a:t>No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20718" y="3209544"/>
            <a:ext cx="1368294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00" b="1">
                <a:solidFill>
                  <a:srgbClr val="1B7F4B"/>
                </a:solidFill>
                <a:latin typeface="Arial"/>
              </a:rPr>
              <a:t>YES — that is why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571893" y="3209544"/>
            <a:ext cx="932026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00" b="0">
                <a:solidFill>
                  <a:srgbClr val="434343"/>
                </a:solidFill>
                <a:latin typeface="Arial"/>
              </a:rPr>
              <a:t>No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48640" y="3538727"/>
            <a:ext cx="8046720" cy="384048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0080" y="3593591"/>
            <a:ext cx="932026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00" b="1">
                <a:solidFill>
                  <a:srgbClr val="13135E"/>
                </a:solidFill>
                <a:latin typeface="Arial"/>
              </a:rPr>
              <a:t>When it loads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754986" y="3593591"/>
            <a:ext cx="1271346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00" b="1">
                <a:solidFill>
                  <a:srgbClr val="403FE8"/>
                </a:solidFill>
                <a:latin typeface="Arial"/>
              </a:rPr>
              <a:t>ALWAYS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09213" y="3593591"/>
            <a:ext cx="1174398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00" b="0">
                <a:solidFill>
                  <a:srgbClr val="434343"/>
                </a:solidFill>
                <a:latin typeface="Arial"/>
              </a:rPr>
              <a:t>On matching paths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66491" y="3593591"/>
            <a:ext cx="1271346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00" b="0">
                <a:solidFill>
                  <a:srgbClr val="434343"/>
                </a:solidFill>
                <a:latin typeface="Arial"/>
              </a:rPr>
              <a:t>On demand, via a trigger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20718" y="3593591"/>
            <a:ext cx="1368294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00" b="0">
                <a:solidFill>
                  <a:srgbClr val="434343"/>
                </a:solidFill>
                <a:latin typeface="Arial"/>
              </a:rPr>
              <a:t>On demand + binding line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71893" y="3593591"/>
            <a:ext cx="932026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00" b="0">
                <a:solidFill>
                  <a:srgbClr val="434343"/>
                </a:solidFill>
                <a:latin typeface="Arial"/>
              </a:rPr>
              <a:t>On demand, via a trigger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48640" y="3922776"/>
            <a:ext cx="804672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40080" y="3977639"/>
            <a:ext cx="932026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00" b="1">
                <a:solidFill>
                  <a:srgbClr val="13135E"/>
                </a:solidFill>
                <a:latin typeface="Arial"/>
              </a:rPr>
              <a:t>Lose it and…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754986" y="3977639"/>
            <a:ext cx="1271346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00" b="0">
                <a:solidFill>
                  <a:srgbClr val="434343"/>
                </a:solidFill>
                <a:latin typeface="Arial"/>
              </a:rPr>
              <a:t>The agent is unoriented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209213" y="3977639"/>
            <a:ext cx="1174398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00" b="0">
                <a:solidFill>
                  <a:srgbClr val="434343"/>
                </a:solidFill>
                <a:latin typeface="Arial"/>
              </a:rPr>
              <a:t>Guidance stops arriving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66491" y="3977639"/>
            <a:ext cx="1271346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00" b="0">
                <a:solidFill>
                  <a:srgbClr val="434343"/>
                </a:solidFill>
                <a:latin typeface="Arial"/>
              </a:rPr>
              <a:t>You lose the why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020718" y="3977639"/>
            <a:ext cx="1368294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00" b="0">
                <a:solidFill>
                  <a:srgbClr val="434343"/>
                </a:solidFill>
                <a:latin typeface="Arial"/>
              </a:rPr>
              <a:t>You lose the rule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571893" y="3977639"/>
            <a:ext cx="932026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00" b="0">
                <a:solidFill>
                  <a:srgbClr val="434343"/>
                </a:solidFill>
                <a:latin typeface="Arial"/>
              </a:rPr>
              <a:t>You lose the how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8640" y="4315968"/>
            <a:ext cx="786384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00" b="0">
                <a:solidFill>
                  <a:srgbClr val="666666"/>
                </a:solidFill>
                <a:latin typeface="Arial"/>
              </a:rPr>
              <a:t>Quick test: one-time choice → ADR · always-holds + checkable → NFR · steps → recipe · every session → CLAUDE.md · some files → rules file. One home per fact: duplicates drift — hence CLAUDE.md holds a trigger table, not the docs' contents.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CLAUDE.MD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How big should it get?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The scaling answer, because "keep it short" stops being useful advice at some point. The trigger table is Lab 1's lazy loading, systematized: pointer = the lazy load, trigger = when it fires.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2.a — Writing the Standards Down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011680"/>
            <a:ext cx="3703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THE HONEST ANSWER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377440"/>
            <a:ext cx="3703320" cy="22494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1">
                <a:solidFill>
                  <a:srgbClr val="A9B7F7"/>
                </a:solidFill>
                <a:latin typeface="Arial"/>
              </a:rPr>
              <a:t>•  </a:t>
            </a:r>
            <a:r>
              <a:rPr sz="1100" b="0">
                <a:solidFill>
                  <a:srgbClr val="434343"/>
                </a:solidFill>
                <a:latin typeface="Arial"/>
              </a:rPr>
              <a:t>Lab 1.a said 100–200 lines. Right — to start.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1">
                <a:solidFill>
                  <a:srgbClr val="A9B7F7"/>
                </a:solidFill>
                <a:latin typeface="Arial"/>
              </a:rPr>
              <a:t>•  </a:t>
            </a:r>
            <a:r>
              <a:rPr sz="1100" b="0">
                <a:solidFill>
                  <a:srgbClr val="434343"/>
                </a:solidFill>
                <a:latin typeface="Arial"/>
              </a:rPr>
              <a:t>Past that, do not grow the file. Add a trigger row.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1">
                <a:solidFill>
                  <a:srgbClr val="A9B7F7"/>
                </a:solidFill>
                <a:latin typeface="Arial"/>
              </a:rPr>
              <a:t>•  </a:t>
            </a:r>
            <a:r>
              <a:rPr sz="1100" b="0">
                <a:solidFill>
                  <a:srgbClr val="434343"/>
                </a:solidFill>
                <a:latin typeface="Arial"/>
              </a:rPr>
              <a:t>The table is the mechanism: always-loaded index, on-demand detail.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1">
                <a:solidFill>
                  <a:srgbClr val="A9B7F7"/>
                </a:solidFill>
                <a:latin typeface="Arial"/>
              </a:rPr>
              <a:t>•  </a:t>
            </a:r>
            <a:r>
              <a:rPr sz="1100" b="0">
                <a:solidFill>
                  <a:srgbClr val="434343"/>
                </a:solidFill>
                <a:latin typeface="Arial"/>
              </a:rPr>
              <a:t>Dozens of docs later, copies drift: keep ONE home and let agents query it on demand.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2011680"/>
            <a:ext cx="4023360" cy="2706624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2011680"/>
            <a:ext cx="41148" cy="270662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73168" y="2139696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1">
                <a:solidFill>
                  <a:srgbClr val="999999"/>
                </a:solidFill>
                <a:latin typeface="Arial"/>
              </a:rPr>
              <a:t>CLAUDE.MD, THIS REPO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73168" y="2414016"/>
            <a:ext cx="3657600" cy="22128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## Reference docs — read on demand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/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| When you are…      | Read first        |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| ------------------ | ----------------- |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| Changing response  | docs/adr/0001…    |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| shapes or codes    |                   |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| Calling an         | docs/nfr/0001…    |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| external API       |                   |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/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# a trigger is a SITUATION,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# not a topic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MATURITY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Start light — and know when to graduate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This repo ships the light forms. Today you write light ADRs — and an NFR that is already one rung up, because per-clause checks are the point.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2.a — Writing the Standards Down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011680"/>
            <a:ext cx="8046720" cy="310896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089404"/>
            <a:ext cx="11887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2089404"/>
            <a:ext cx="3108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ADR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0" y="2089404"/>
            <a:ext cx="3200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NFR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322576"/>
            <a:ext cx="8046720" cy="384048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377440"/>
            <a:ext cx="118872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Start here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11680" y="2377440"/>
            <a:ext cx="310896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Nygard: Context · Decision · Status · Consequences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0" y="2377440"/>
            <a:ext cx="320040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Prose rule + one "how compliance is checked" section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2706624"/>
            <a:ext cx="804672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2761488"/>
            <a:ext cx="118872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Graduate 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11680" y="2761488"/>
            <a:ext cx="310896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MADR: + Decision Drivers, Considered Options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0" y="2761488"/>
            <a:ext cx="320040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Numbered MUSTs + per-clause checks + thresholds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090672"/>
            <a:ext cx="8046720" cy="384048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145536"/>
            <a:ext cx="118872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Graduate when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11680" y="3145536"/>
            <a:ext cx="310896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Consequences keep coming out thin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03520" y="3145536"/>
            <a:ext cx="320040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The rule starts being ignored — you want a gate, not a hope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3602736"/>
            <a:ext cx="786384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00" b="0">
                <a:solidFill>
                  <a:srgbClr val="666666"/>
                </a:solidFill>
                <a:latin typeface="Arial"/>
              </a:rPr>
              <a:t>An NFR without a verification method is a wish with a document number.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AUTHORING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When is a document required — and who owns it?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The reason ADR practices die is not the template — nobody wrote down the trigger, the reviewer, or where it lives.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2.a — Writing the Standards Down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011680"/>
            <a:ext cx="8046720" cy="310896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089404"/>
            <a:ext cx="12890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Write a…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12040" y="2089404"/>
            <a:ext cx="364421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When…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39139" y="2089404"/>
            <a:ext cx="25647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Authored / reviewed by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322576"/>
            <a:ext cx="8046720" cy="384048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377440"/>
            <a:ext cx="128908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ADR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12040" y="2377440"/>
            <a:ext cx="3644218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hard to reverse, contested, or a newcomer would ask "why is it like this?"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39139" y="2377440"/>
            <a:ext cx="256478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Anyone; peer PR review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2706624"/>
            <a:ext cx="804672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2761488"/>
            <a:ext cx="128908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NFR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12040" y="2761488"/>
            <a:ext cx="3644218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the rule spans features AND you can say how it is checked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39139" y="2761488"/>
            <a:ext cx="256478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A few author, many adopt; EM reviews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090672"/>
            <a:ext cx="8046720" cy="384048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145536"/>
            <a:ext cx="128908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Recipe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12040" y="3145536"/>
            <a:ext cx="3644218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you have answered the same question twice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39139" y="3145536"/>
            <a:ext cx="256478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The person who answered; peer review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3474720"/>
            <a:ext cx="804672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3529584"/>
            <a:ext cx="128908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CLAUDE.md line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12040" y="3529584"/>
            <a:ext cx="3644218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the agent needs it every session — and it is one line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39139" y="3529584"/>
            <a:ext cx="256478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Champion-gated: it costs every session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3858768"/>
            <a:ext cx="8046720" cy="384048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3913631"/>
            <a:ext cx="128908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Rules file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12040" y="3913631"/>
            <a:ext cx="3644218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it only applies when specific files are open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39139" y="3913631"/>
            <a:ext cx="256478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Same as a recipe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4315968"/>
            <a:ext cx="786384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00" b="0">
                <a:solidFill>
                  <a:srgbClr val="666666"/>
                </a:solidFill>
                <a:latin typeface="Arial"/>
              </a:rPr>
              <a:t>Peer review via PR is the acceptance gate today. An unreviewed standard is a draft. The "how we use these" README (2.b) exists to record exactly this table for your team.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AUTHORING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Drafting with Claude, honestly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The ETH finding again: generated context hurts, human-written helps. Draft, do not delegate.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2.a — Writing the Standards Down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011680"/>
            <a:ext cx="3703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THE DIVISION OF LABOUR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377440"/>
            <a:ext cx="3703320" cy="22494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1">
                <a:solidFill>
                  <a:srgbClr val="A9B7F7"/>
                </a:solidFill>
                <a:latin typeface="Arial"/>
              </a:rPr>
              <a:t>•  </a:t>
            </a:r>
            <a:r>
              <a:rPr sz="1100" b="0">
                <a:solidFill>
                  <a:srgbClr val="434343"/>
                </a:solidFill>
                <a:latin typeface="Arial"/>
              </a:rPr>
              <a:t>Claude drafts from EVIDENCE in the code.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1">
                <a:solidFill>
                  <a:srgbClr val="A9B7F7"/>
                </a:solidFill>
                <a:latin typeface="Arial"/>
              </a:rPr>
              <a:t>•  </a:t>
            </a:r>
            <a:r>
              <a:rPr sz="1100" b="0">
                <a:solidFill>
                  <a:srgbClr val="434343"/>
                </a:solidFill>
                <a:latin typeface="Arial"/>
              </a:rPr>
              <a:t>You own the Decision and the Consequences.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1">
                <a:solidFill>
                  <a:srgbClr val="A9B7F7"/>
                </a:solidFill>
                <a:latin typeface="Arial"/>
              </a:rPr>
              <a:t>•  </a:t>
            </a:r>
            <a:r>
              <a:rPr sz="1100" b="0">
                <a:solidFill>
                  <a:srgbClr val="434343"/>
                </a:solidFill>
                <a:latin typeface="Arial"/>
              </a:rPr>
              <a:t>Never ask it what the team should do.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1">
                <a:solidFill>
                  <a:srgbClr val="A9B7F7"/>
                </a:solidFill>
                <a:latin typeface="Arial"/>
              </a:rPr>
              <a:t>•  </a:t>
            </a:r>
            <a:r>
              <a:rPr sz="1100" b="0">
                <a:solidFill>
                  <a:srgbClr val="434343"/>
                </a:solidFill>
                <a:latin typeface="Arial"/>
              </a:rPr>
              <a:t>Read the draft as someone who disagrees.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2011680"/>
            <a:ext cx="4023360" cy="2706624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2011680"/>
            <a:ext cx="41148" cy="270662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73168" y="2139696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1">
                <a:solidFill>
                  <a:srgbClr val="999999"/>
                </a:solidFill>
                <a:latin typeface="Arial"/>
              </a:rPr>
              <a:t>PROMPT STARTERS (2 OF 5 — CARD IN HANDOUT)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73168" y="2414016"/>
            <a:ext cx="3657600" cy="22128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# gather evidence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Read @server/src/repositories/ and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@server/src/services/todos.service.ts.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What boundary do these files enforce,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and what would break if it were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violated? Don't propose changes.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/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# draft, but leave the decision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Using @docs/adr/template.md, draft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an ADR for that boundary. Fill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Context and Consequences from what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you just read. Leave Decision as a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question for me to answer.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LIFECYCLE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Keeping them true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The half of governance nobody plans for: what happens when the world moves.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2.a — Writing the Standards Down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783080"/>
            <a:ext cx="7863840" cy="2935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Supersede, never edit, an accepted ADR. </a:t>
            </a:r>
            <a:r>
              <a:rPr sz="1250" b="0">
                <a:solidFill>
                  <a:srgbClr val="434343"/>
                </a:solidFill>
                <a:latin typeface="Arial"/>
              </a:rPr>
              <a:t>The old decision happened. Write a new one that replaces it.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Revise NFRs in place. </a:t>
            </a:r>
            <a:r>
              <a:rPr sz="1250" b="0">
                <a:solidFill>
                  <a:srgbClr val="434343"/>
                </a:solidFill>
                <a:latin typeface="Arial"/>
              </a:rPr>
              <a:t>They describe what holds now.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Every rule cites the incident that produced it. </a:t>
            </a:r>
            <a:r>
              <a:rPr sz="1250" b="0">
                <a:solidFill>
                  <a:srgbClr val="434343"/>
                </a:solidFill>
                <a:latin typeface="Arial"/>
              </a:rPr>
              <a:t>A "Why" naming a real failure survives staff turnover; "best practice" does not.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Review on a cadence, not on vibes. </a:t>
            </a:r>
            <a:r>
              <a:rPr sz="1250" b="0">
                <a:solidFill>
                  <a:srgbClr val="434343"/>
                </a:solidFill>
                <a:latin typeface="Arial"/>
              </a:rPr>
              <a:t>A date on the document, and a person against it.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Picture 2" descr="imag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57200"/>
            <a:ext cx="850392" cy="45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2148840"/>
            <a:ext cx="78638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Demo — write an ADR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971800"/>
            <a:ext cx="7863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0">
                <a:solidFill>
                  <a:srgbClr val="CCD9FF"/>
                </a:solidFill>
                <a:latin typeface="Arial"/>
              </a:rPr>
              <a:t>The repository boundary. Watch the whole shape — then you write the same one.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DEMO · THE GAP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A rule with no recorded reason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Real, load-bearing, and undocumented — the ADR trigger on all three counts.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2.a — Writing the Standards Down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783080"/>
            <a:ext cx="7863840" cy="2935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The rule exists. </a:t>
            </a:r>
            <a:r>
              <a:rPr sz="1250" b="0">
                <a:solidFill>
                  <a:srgbClr val="434343"/>
                </a:solidFill>
                <a:latin typeface="Arial"/>
              </a:rPr>
              <a:t>CLAUDE.md says routes and services never import `db/store.ts`.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The code obeys it. </a:t>
            </a:r>
            <a:r>
              <a:rPr sz="1250" b="0">
                <a:solidFill>
                  <a:srgbClr val="434343"/>
                </a:solidFill>
                <a:latin typeface="Arial"/>
              </a:rPr>
              <a:t>Only `server/src/repositories/` touches the store.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Nothing says why. </a:t>
            </a:r>
            <a:r>
              <a:rPr sz="1250" b="0">
                <a:solidFill>
                  <a:srgbClr val="434343"/>
                </a:solidFill>
                <a:latin typeface="Arial"/>
              </a:rPr>
              <a:t>A newcomer sees a constraint with no rationale — so they route around it.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Nothing checks it. </a:t>
            </a:r>
            <a:r>
              <a:rPr sz="1250" b="0">
                <a:solidFill>
                  <a:srgbClr val="434343"/>
                </a:solidFill>
                <a:latin typeface="Arial"/>
              </a:rPr>
              <a:t>Which is next week's problem, and worth noticing now.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DEMO · DRAFT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Evidence in, decision mine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Eight minutes, live. The interesting part is the Consequences section.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2.a — Writing the Standards Down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011680"/>
            <a:ext cx="3703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WHAT I AM DOING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377440"/>
            <a:ext cx="3703320" cy="22494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1">
                <a:solidFill>
                  <a:srgbClr val="A9B7F7"/>
                </a:solidFill>
                <a:latin typeface="Arial"/>
              </a:rPr>
              <a:t>•  </a:t>
            </a:r>
            <a:r>
              <a:rPr sz="1100" b="0">
                <a:solidFill>
                  <a:srgbClr val="434343"/>
                </a:solidFill>
                <a:latin typeface="Arial"/>
              </a:rPr>
              <a:t>Prompt Claude to READ, not to conclude.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1">
                <a:solidFill>
                  <a:srgbClr val="A9B7F7"/>
                </a:solidFill>
                <a:latin typeface="Arial"/>
              </a:rPr>
              <a:t>•  </a:t>
            </a:r>
            <a:r>
              <a:rPr sz="1100" b="0">
                <a:solidFill>
                  <a:srgbClr val="434343"/>
                </a:solidFill>
                <a:latin typeface="Arial"/>
              </a:rPr>
              <a:t>Paste its Context. Edit it for accuracy.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1">
                <a:solidFill>
                  <a:srgbClr val="A9B7F7"/>
                </a:solidFill>
                <a:latin typeface="Arial"/>
              </a:rPr>
              <a:t>•  </a:t>
            </a:r>
            <a:r>
              <a:rPr sz="1100" b="0">
                <a:solidFill>
                  <a:srgbClr val="434343"/>
                </a:solidFill>
                <a:latin typeface="Arial"/>
              </a:rPr>
              <a:t>Write the Decision myself, in one sentence.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1">
                <a:solidFill>
                  <a:srgbClr val="A9B7F7"/>
                </a:solidFill>
                <a:latin typeface="Arial"/>
              </a:rPr>
              <a:t>•  </a:t>
            </a:r>
            <a:r>
              <a:rPr sz="1100" b="0">
                <a:solidFill>
                  <a:srgbClr val="434343"/>
                </a:solidFill>
                <a:latin typeface="Arial"/>
              </a:rPr>
              <a:t>Add a consequence that is genuinely a cost.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2011680"/>
            <a:ext cx="4023360" cy="2706624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2011680"/>
            <a:ext cx="41148" cy="270662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73168" y="2139696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1">
                <a:solidFill>
                  <a:srgbClr val="999999"/>
                </a:solidFill>
                <a:latin typeface="Arial"/>
              </a:rPr>
              <a:t>MATCHES DOCS/ADR/TEMPLATE.MD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73168" y="2414016"/>
            <a:ext cx="3657600" cy="22128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700" b="0">
                <a:solidFill>
                  <a:srgbClr val="434343"/>
                </a:solidFill>
                <a:latin typeface="Consolas"/>
              </a:rPr>
              <a:t># docs/adr/0002-repository-only-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700" b="0">
                <a:solidFill>
                  <a:srgbClr val="434343"/>
                </a:solidFill>
                <a:latin typeface="Consolas"/>
              </a:rPr>
              <a:t>#   store-access.md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700" b="0">
                <a:solidFill>
                  <a:srgbClr val="434343"/>
                </a:solidFill>
                <a:latin typeface="Consolas"/>
              </a:rPr>
              <a:t/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700" b="0">
                <a:solidFill>
                  <a:srgbClr val="434343"/>
                </a:solidFill>
                <a:latin typeface="Consolas"/>
              </a:rPr>
              <a:t>- Status: Accepted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700" b="0">
                <a:solidFill>
                  <a:srgbClr val="434343"/>
                </a:solidFill>
                <a:latin typeface="Consolas"/>
              </a:rPr>
              <a:t>- Date: &lt;today&gt;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700" b="0">
                <a:solidFill>
                  <a:srgbClr val="434343"/>
                </a:solidFill>
                <a:latin typeface="Consolas"/>
              </a:rPr>
              <a:t>- Deciders: &lt;the team&gt;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700" b="0">
                <a:solidFill>
                  <a:srgbClr val="434343"/>
                </a:solidFill>
                <a:latin typeface="Consolas"/>
              </a:rPr>
              <a:t/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700" b="0">
                <a:solidFill>
                  <a:srgbClr val="434343"/>
                </a:solidFill>
                <a:latin typeface="Consolas"/>
              </a:rPr>
              <a:t>## Context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700" b="0">
                <a:solidFill>
                  <a:srgbClr val="434343"/>
                </a:solidFill>
                <a:latin typeface="Consolas"/>
              </a:rPr>
              <a:t>&lt;from Claude, edited&gt;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700" b="0">
                <a:solidFill>
                  <a:srgbClr val="434343"/>
                </a:solidFill>
                <a:latin typeface="Consolas"/>
              </a:rPr>
              <a:t/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700" b="0">
                <a:solidFill>
                  <a:srgbClr val="434343"/>
                </a:solidFill>
                <a:latin typeface="Consolas"/>
              </a:rPr>
              <a:t>## Decision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700" b="0">
                <a:solidFill>
                  <a:srgbClr val="434343"/>
                </a:solidFill>
                <a:latin typeface="Consolas"/>
              </a:rPr>
              <a:t>Only modules under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700" b="0">
                <a:solidFill>
                  <a:srgbClr val="434343"/>
                </a:solidFill>
                <a:latin typeface="Consolas"/>
              </a:rPr>
              <a:t>server/src/repositories/ may import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700" b="0">
                <a:solidFill>
                  <a:srgbClr val="434343"/>
                </a:solidFill>
                <a:latin typeface="Consolas"/>
              </a:rPr>
              <a:t>db/store.ts.  &lt;-- I wrote this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700" b="0">
                <a:solidFill>
                  <a:srgbClr val="434343"/>
                </a:solidFill>
                <a:latin typeface="Consolas"/>
              </a:rPr>
              <a:t/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700" b="0">
                <a:solidFill>
                  <a:srgbClr val="434343"/>
                </a:solidFill>
                <a:latin typeface="Consolas"/>
              </a:rPr>
              <a:t>## Consequences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700" b="0">
                <a:solidFill>
                  <a:srgbClr val="434343"/>
                </a:solidFill>
                <a:latin typeface="Consolas"/>
              </a:rPr>
              <a:t>- Good: persistence is swappable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700" b="0">
                <a:solidFill>
                  <a:srgbClr val="434343"/>
                </a:solidFill>
                <a:latin typeface="Consolas"/>
              </a:rPr>
              <a:t>- Bad: one more hop for simple reads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Now write yours — same subject, your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The clause list later is group work. Every document today is yours, in your copy.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2.a — Writing the Standards Down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783080"/>
            <a:ext cx="7863840" cy="2935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Ten minutes, in your own copy. </a:t>
            </a:r>
            <a:r>
              <a:rPr sz="1250" b="0">
                <a:solidFill>
                  <a:srgbClr val="434343"/>
                </a:solidFill>
                <a:latin typeface="Arial"/>
              </a:rPr>
              <a:t>Same boundary, your own Context and Consequences. The motion is the point, not novelty.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Use the two prompts you just watched. </a:t>
            </a:r>
            <a:r>
              <a:rPr sz="1250" b="0">
                <a:solidFill>
                  <a:srgbClr val="434343"/>
                </a:solidFill>
                <a:latin typeface="Arial"/>
              </a:rPr>
              <a:t>Evidence first, then draft-with-the-decision-left-open. Both are in the handout.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Write the Decision yourself. </a:t>
            </a:r>
            <a:r>
              <a:rPr sz="1250" b="0">
                <a:solidFill>
                  <a:srgbClr val="434343"/>
                </a:solidFill>
                <a:latin typeface="Arial"/>
              </a:rPr>
              <a:t>One sentence. If it came out of Claude, rewrite it.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Find one honest cost. </a:t>
            </a:r>
            <a:r>
              <a:rPr sz="1250" b="0">
                <a:solidFill>
                  <a:srgbClr val="434343"/>
                </a:solidFill>
                <a:latin typeface="Arial"/>
              </a:rPr>
              <a:t>The acceptance bar has a cost in Consequences — "none" is not an answer.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CHECKPOINT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Checkpoint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2.a — Writing the Standards Down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691640"/>
            <a:ext cx="8046720" cy="1417320"/>
          </a:xfrm>
          <a:prstGeom prst="rect">
            <a:avLst/>
          </a:prstGeom>
          <a:solidFill>
            <a:srgbClr val="E2E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691640"/>
            <a:ext cx="54864" cy="1417320"/>
          </a:xfrm>
          <a:prstGeom prst="rect">
            <a:avLst/>
          </a:prstGeom>
          <a:solidFill>
            <a:srgbClr val="1B7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74519"/>
            <a:ext cx="749807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1B7F4B"/>
                </a:solidFill>
                <a:latin typeface="Arial"/>
              </a:rPr>
              <a:t>NOBODY ADVANCES UNTIL THIS IS TRUE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40280"/>
            <a:ext cx="7498079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 b="1">
                <a:solidFill>
                  <a:srgbClr val="13135E"/>
                </a:solidFill>
                <a:latin typeface="Arial"/>
              </a:rPr>
              <a:t>You have docs/adr/0002-*.md staged in YOUR copy: metadata block (Status / Date / Deciders) complete, all three sections — Context, Decision, Consequences — filled, and at least one real cost.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337560"/>
            <a:ext cx="78638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150" b="0">
                <a:solidFill>
                  <a:srgbClr val="434343"/>
                </a:solidFill>
                <a:latin typeface="Arial"/>
              </a:rPr>
              <a:t>Thumbs up, or say so. If your Decision line came out of Claude rather than out of you, rewrite it now — that is the one part of an ADR that cannot be delegated.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Picture 2" descr="imag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57200"/>
            <a:ext cx="850392" cy="45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2148840"/>
            <a:ext cx="78638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Your turn — derive a rule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971800"/>
            <a:ext cx="7863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0">
                <a:solidFill>
                  <a:srgbClr val="CCD9FF"/>
                </a:solidFill>
                <a:latin typeface="Arial"/>
              </a:rPr>
              <a:t>Three real fixes from last week. You decide what the standard is.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STIMULUS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Three fixes from last week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Drawn from last week’s exercise — anonymised, and where a shape didn’t occur in your PRs, reconstructed. All three closed their issue. All three are green.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2.a — Writing the Standards Down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011680"/>
            <a:ext cx="8046720" cy="310896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089404"/>
            <a:ext cx="5486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Fix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2089404"/>
            <a:ext cx="58521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What shipped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6640" y="2089404"/>
            <a:ext cx="10972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CI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322576"/>
            <a:ext cx="8046720" cy="384048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377440"/>
            <a:ext cx="54864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2377440"/>
            <a:ext cx="585216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The bug is gone. No test was added.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0" y="2377440"/>
            <a:ext cx="109728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1B7F4B"/>
                </a:solidFill>
                <a:latin typeface="Arial"/>
              </a:rPr>
              <a:t>green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2706624"/>
            <a:ext cx="804672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2761488"/>
            <a:ext cx="54864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2761488"/>
            <a:ext cx="585216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A test was added. It passes — and it passed before the fix too.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06640" y="2761488"/>
            <a:ext cx="109728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1B7F4B"/>
                </a:solidFill>
                <a:latin typeface="Arial"/>
              </a:rPr>
              <a:t>green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090672"/>
            <a:ext cx="8046720" cy="384048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145536"/>
            <a:ext cx="54864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3145536"/>
            <a:ext cx="585216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A test was added that failed first, then passed after the fix.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06640" y="3145536"/>
            <a:ext cx="109728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1B7F4B"/>
                </a:solidFill>
                <a:latin typeface="Arial"/>
              </a:rPr>
              <a:t>green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3602736"/>
            <a:ext cx="786384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00" b="0">
                <a:solidFill>
                  <a:srgbClr val="666666"/>
                </a:solidFill>
                <a:latin typeface="Arial"/>
              </a:rPr>
              <a:t>Read them cold. No commentary from the front of the room yet.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DERIVE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Which are acceptable? Write the rule.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Ten minutes, in groups. You are EDITING four seed clauses, not authoring from cold — disagreement is signal.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2.a — Writing the Standards Down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103120"/>
            <a:ext cx="2602992" cy="2011680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2103120"/>
            <a:ext cx="2602992" cy="41148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286000"/>
            <a:ext cx="2237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YOUR SEED CLAUSES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816352"/>
            <a:ext cx="223723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1. A fix ships with a test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2. The test failed before the fix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3. The test lives next to the module it tests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4. The full suite is green before the PR opens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Keep, tighten, or drop each — then add your own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70504" y="2103120"/>
            <a:ext cx="2602992" cy="2011680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70504" y="2103120"/>
            <a:ext cx="2602992" cy="41148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53384" y="2286000"/>
            <a:ext cx="2237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TAG EVERY CLAUSE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53384" y="2816352"/>
            <a:ext cx="223723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MECHANICAL — a script decides it from the diff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FUZZY — it needs a person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The tag is the point. Do not skip it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92368" y="2103120"/>
            <a:ext cx="2602992" cy="2011680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992368" y="2103120"/>
            <a:ext cx="2602992" cy="41148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75248" y="2286000"/>
            <a:ext cx="2237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TWO GROUPS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75248" y="2816352"/>
            <a:ext cx="223723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A: the test-discipline rule (these diffs)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B: the store boundary (only repositories/ imports db/store.ts)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Same job: clauses, tagged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261104"/>
            <a:ext cx="786384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50" b="0">
                <a:solidFill>
                  <a:srgbClr val="666666"/>
                </a:solidFill>
                <a:latin typeface="Arial"/>
              </a:rPr>
              <a:t>Every clause gets a verdict (keep / tighten / drop) and a tag. That is the whole task.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CONVERGE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Where we landed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Written down before anyone moves on. This is the agreed list, not my list.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2.a — Writing the Standards Down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103120"/>
            <a:ext cx="2602992" cy="2011680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2103120"/>
            <a:ext cx="2602992" cy="41148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286000"/>
            <a:ext cx="2237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MECHANICAL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816352"/>
            <a:ext cx="223723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A change under server/src ships with a test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The test file is co-located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Full suite green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70504" y="2103120"/>
            <a:ext cx="2602992" cy="2011680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70504" y="2103120"/>
            <a:ext cx="2602992" cy="41148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53384" y="2286000"/>
            <a:ext cx="2237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FUZZY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53384" y="2816352"/>
            <a:ext cx="223723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The test failed first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The test asserts behaviour, not implementation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The assertion is meaningful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92368" y="2103120"/>
            <a:ext cx="2602992" cy="2011680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992368" y="2103120"/>
            <a:ext cx="2602992" cy="41148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75248" y="2286000"/>
            <a:ext cx="2237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DECIDE NOW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75248" y="2816352"/>
            <a:ext cx="223723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Accepted risk?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Human gate?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Or dropped?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261104"/>
            <a:ext cx="786384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50" b="0">
                <a:solidFill>
                  <a:srgbClr val="666666"/>
                </a:solidFill>
                <a:latin typeface="Arial"/>
              </a:rPr>
              <a:t>Merging two groups' clauses? Tiebreak: the stricter clause wins — unless someone can show it false-positives on real code in this repo. "The test failed first" is the clause that matters most, and no gate can decide it. That is the finding.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THE HINGE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Same file, three enforcement states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A rule with half a gate. Your NFR clauses will have the same three states — that is what the tag is for.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2.a — Writing the Standards Down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011680"/>
            <a:ext cx="3703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ONE CLAUDE.MD, THREE RULES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377440"/>
            <a:ext cx="3703320" cy="22494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1">
                <a:solidFill>
                  <a:srgbClr val="A9B7F7"/>
                </a:solidFill>
                <a:latin typeface="Arial"/>
              </a:rPr>
              <a:t>•  </a:t>
            </a:r>
            <a:r>
              <a:rPr sz="1100" b="0">
                <a:solidFill>
                  <a:srgbClr val="434343"/>
                </a:solidFill>
                <a:latin typeface="Arial"/>
              </a:rPr>
              <a:t>Store boundary: written, NOTHING checks it.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1">
                <a:solidFill>
                  <a:srgbClr val="A9B7F7"/>
                </a:solidFill>
                <a:latin typeface="Arial"/>
              </a:rPr>
              <a:t>•  </a:t>
            </a:r>
            <a:r>
              <a:rPr sz="1100" b="0">
                <a:solidFill>
                  <a:srgbClr val="434343"/>
                </a:solidFill>
                <a:latin typeface="Arial"/>
              </a:rPr>
              <a:t>console.log in server/src: lint FAILS it.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1">
                <a:solidFill>
                  <a:srgbClr val="A9B7F7"/>
                </a:solidFill>
                <a:latin typeface="Arial"/>
              </a:rPr>
              <a:t>•  </a:t>
            </a:r>
            <a:r>
              <a:rPr sz="1100" b="0">
                <a:solidFill>
                  <a:srgbClr val="434343"/>
                </a:solidFill>
                <a:latin typeface="Arial"/>
              </a:rPr>
              <a:t>logger.info with a wrong first arg: passes SILENTLY.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1">
                <a:solidFill>
                  <a:srgbClr val="A9B7F7"/>
                </a:solidFill>
                <a:latin typeface="Arial"/>
              </a:rPr>
              <a:t>•  </a:t>
            </a:r>
            <a:r>
              <a:rPr sz="1100" b="0">
                <a:solidFill>
                  <a:srgbClr val="434343"/>
                </a:solidFill>
                <a:latin typeface="Arial"/>
              </a:rPr>
              <a:t>Which of these is a standard? Why?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2011680"/>
            <a:ext cx="4023360" cy="2706624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2011680"/>
            <a:ext cx="41148" cy="270662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73168" y="2139696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1">
                <a:solidFill>
                  <a:srgbClr val="999999"/>
                </a:solidFill>
                <a:latin typeface="Arial"/>
              </a:rPr>
              <a:t>SERVER/SRC — TRY 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73168" y="2414016"/>
            <a:ext cx="3657600" cy="22128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// the rule (CLAUDE.md):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// logger.info('&lt;file-basename&gt;',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//   message, meta?)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/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console.log('created', id)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  // -&gt; lint error. CAUGHT.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/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logger.info('creating a todo',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  { id })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  // wrong first arg -&gt; passes.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  // HALF a gate.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COMPARE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What a mature team wrote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A real NFR from a mature 137-document corpus — shown now that your list exists, not before.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2.a — Writing the Standards Down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011680"/>
            <a:ext cx="8046720" cy="310896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089404"/>
            <a:ext cx="155447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Section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77439" y="2089404"/>
            <a:ext cx="61264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What it contains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322576"/>
            <a:ext cx="8046720" cy="384048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377440"/>
            <a:ext cx="1554479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Classification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77439" y="2377440"/>
            <a:ext cx="612648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Category, priority, and which external framework it traces to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706624"/>
            <a:ext cx="804672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761488"/>
            <a:ext cx="1554479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Requirements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7439" y="2761488"/>
            <a:ext cx="612648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Numbered MUST clauses — no prose, no hedging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090672"/>
            <a:ext cx="8046720" cy="384048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145536"/>
            <a:ext cx="1554479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Thresholds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77439" y="3145536"/>
            <a:ext cx="612648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Target / Warning / Critical, so "compliant" is measurable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474720"/>
            <a:ext cx="804672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529584"/>
            <a:ext cx="1554479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Verification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77439" y="3529584"/>
            <a:ext cx="612648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Per clause: the exact test or check that proves it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3858768"/>
            <a:ext cx="8046720" cy="384048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3913631"/>
            <a:ext cx="1554479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Plan reference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77439" y="3913631"/>
            <a:ext cx="612648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Which phase implements it, so it is not aspirational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4315968"/>
            <a:ext cx="786384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00" b="0">
                <a:solidFill>
                  <a:srgbClr val="666666"/>
                </a:solidFill>
                <a:latin typeface="Arial"/>
              </a:rPr>
              <a:t>What did you catch that they did not? Their form is heavier than you need today; the per-clause Verification is the part worth stealing.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WRITE IT 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Turn the clauses into an NFR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Twenty minutes: your own doc, in your own copy, from the agreed clause list.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2.a — Writing the Standards Down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011680"/>
            <a:ext cx="3703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THE RULES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377440"/>
            <a:ext cx="3703320" cy="22494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1">
                <a:solidFill>
                  <a:srgbClr val="A9B7F7"/>
                </a:solidFill>
                <a:latin typeface="Arial"/>
              </a:rPr>
              <a:t>•  </a:t>
            </a:r>
            <a:r>
              <a:rPr sz="1100" b="0">
                <a:solidFill>
                  <a:srgbClr val="434343"/>
                </a:solidFill>
                <a:latin typeface="Arial"/>
              </a:rPr>
              <a:t>Copy NFR-0001's headings and tone —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1">
                <a:solidFill>
                  <a:srgbClr val="A9B7F7"/>
                </a:solidFill>
                <a:latin typeface="Arial"/>
              </a:rPr>
              <a:t>•  </a:t>
            </a:r>
            <a:r>
              <a:rPr sz="1100" b="0">
                <a:solidFill>
                  <a:srgbClr val="434343"/>
                </a:solidFill>
                <a:latin typeface="Arial"/>
              </a:rPr>
              <a:t>then ADD the per-clause checks it predates.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1">
                <a:solidFill>
                  <a:srgbClr val="A9B7F7"/>
                </a:solidFill>
                <a:latin typeface="Arial"/>
              </a:rPr>
              <a:t>•  </a:t>
            </a:r>
            <a:r>
              <a:rPr sz="1100" b="0">
                <a:solidFill>
                  <a:srgbClr val="434343"/>
                </a:solidFill>
                <a:latin typeface="Arial"/>
              </a:rPr>
              <a:t>Every clause: "Checked by: &lt;what&gt;".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1">
                <a:solidFill>
                  <a:srgbClr val="A9B7F7"/>
                </a:solidFill>
                <a:latin typeface="Arial"/>
              </a:rPr>
              <a:t>•  </a:t>
            </a:r>
            <a:r>
              <a:rPr sz="1100" b="0">
                <a:solidFill>
                  <a:srgbClr val="434343"/>
                </a:solidFill>
                <a:latin typeface="Arial"/>
              </a:rPr>
              <a:t>Unenforceable ones get the marking convention →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1">
                <a:solidFill>
                  <a:srgbClr val="A9B7F7"/>
                </a:solidFill>
                <a:latin typeface="Arial"/>
              </a:rPr>
              <a:t>•  </a:t>
            </a:r>
            <a:r>
              <a:rPr sz="1100" b="0">
                <a:solidFill>
                  <a:srgbClr val="434343"/>
                </a:solidFill>
                <a:latin typeface="Arial"/>
              </a:rPr>
              <a:t>Peer review is the last five minutes. Protected.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2011680"/>
            <a:ext cx="4023360" cy="2706624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2011680"/>
            <a:ext cx="41148" cy="270662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73168" y="2139696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1">
                <a:solidFill>
                  <a:srgbClr val="999999"/>
                </a:solidFill>
                <a:latin typeface="Arial"/>
              </a:rPr>
              <a:t>DOCS/NFR/0002-… (YOURS)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73168" y="2414016"/>
            <a:ext cx="3657600" cy="22128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## The rules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/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1. A change under server/src ships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   with a test in the same PR.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   Checked by: CI diff check.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/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2. The test failed before the fix.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   Checked by: — NOT MECHANICALLY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   CHECKABLE — decision: human gate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   (reviewer asks) — &lt;name&gt;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/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# clause + check + mark + name.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# an unmarked unenforceable clause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# is the dangerous kind.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CHECKPOINT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Checkpoint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2.a — Writing the Standards Down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691640"/>
            <a:ext cx="8046720" cy="1417320"/>
          </a:xfrm>
          <a:prstGeom prst="rect">
            <a:avLst/>
          </a:prstGeom>
          <a:solidFill>
            <a:srgbClr val="E2E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691640"/>
            <a:ext cx="54864" cy="1417320"/>
          </a:xfrm>
          <a:prstGeom prst="rect">
            <a:avLst/>
          </a:prstGeom>
          <a:solidFill>
            <a:srgbClr val="1B7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74519"/>
            <a:ext cx="749807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1B7F4B"/>
                </a:solidFill>
                <a:latin typeface="Arial"/>
              </a:rPr>
              <a:t>NOBODY ADVANCES UNTIL THIS IS TRUE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40280"/>
            <a:ext cx="7498079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 b="1">
                <a:solidFill>
                  <a:srgbClr val="13135E"/>
                </a:solidFill>
                <a:latin typeface="Arial"/>
              </a:rPr>
              <a:t>Your NFR names how each clause is checked — and the ones that cannot be are marked, with a decision and a name.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337560"/>
            <a:ext cx="78638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150" b="0">
                <a:solidFill>
                  <a:srgbClr val="434343"/>
                </a:solidFill>
                <a:latin typeface="Arial"/>
              </a:rPr>
              <a:t>Artifact check, not a state check: I am reading your document, not your test output. A clause with no check and no mark is the one thing that fails here.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WIRE IT 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A document nothing points at is a document nobody reads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Claude included. This step is why the last two hours matter.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2.a — Writing the Standards Down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011680"/>
            <a:ext cx="3703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TWO KINDS OF WIRING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377440"/>
            <a:ext cx="3703320" cy="22494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1">
                <a:solidFill>
                  <a:srgbClr val="A9B7F7"/>
                </a:solidFill>
                <a:latin typeface="Arial"/>
              </a:rPr>
              <a:t>•  </a:t>
            </a:r>
            <a:r>
              <a:rPr sz="1100" b="0">
                <a:solidFill>
                  <a:srgbClr val="434343"/>
                </a:solidFill>
                <a:latin typeface="Arial"/>
              </a:rPr>
              <a:t>A TRIGGER ROW per doc — fetches the full doc when the situation applies.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1">
                <a:solidFill>
                  <a:srgbClr val="A9B7F7"/>
                </a:solidFill>
                <a:latin typeface="Arial"/>
              </a:rPr>
              <a:t>•  </a:t>
            </a:r>
            <a:r>
              <a:rPr sz="1100" b="0">
                <a:solidFill>
                  <a:srgbClr val="434343"/>
                </a:solidFill>
                <a:latin typeface="Arial"/>
              </a:rPr>
              <a:t>A BINDING LINE for the NFR — one line, always in force, never fetched.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1">
                <a:solidFill>
                  <a:srgbClr val="A9B7F7"/>
                </a:solidFill>
                <a:latin typeface="Arial"/>
              </a:rPr>
              <a:t>•  </a:t>
            </a:r>
            <a:r>
              <a:rPr sz="1100" b="0">
                <a:solidFill>
                  <a:srgbClr val="434343"/>
                </a:solidFill>
                <a:latin typeface="Arial"/>
              </a:rPr>
              <a:t>Same pair as 1.a: trigger row = the lazy pointer; binding line = a one-line EAGER load.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1">
                <a:solidFill>
                  <a:srgbClr val="A9B7F7"/>
                </a:solidFill>
                <a:latin typeface="Arial"/>
              </a:rPr>
              <a:t>•  </a:t>
            </a:r>
            <a:r>
              <a:rPr sz="1100" b="0">
                <a:solidFill>
                  <a:srgbClr val="434343"/>
                </a:solidFill>
                <a:latin typeface="Arial"/>
              </a:rPr>
              <a:t>The doc is the law; the binding line is the sign on the wall.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1">
                <a:solidFill>
                  <a:srgbClr val="A9B7F7"/>
                </a:solidFill>
                <a:latin typeface="Arial"/>
              </a:rPr>
              <a:t>•  </a:t>
            </a:r>
            <a:r>
              <a:rPr sz="1100" b="0">
                <a:solidFill>
                  <a:srgbClr val="434343"/>
                </a:solidFill>
                <a:latin typeface="Arial"/>
              </a:rPr>
              <a:t>Then smoke-test in a FRESH session.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2011680"/>
            <a:ext cx="4023360" cy="2706624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2011680"/>
            <a:ext cx="41148" cy="270662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73168" y="2139696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1">
                <a:solidFill>
                  <a:srgbClr val="999999"/>
                </a:solidFill>
                <a:latin typeface="Arial"/>
              </a:rPr>
              <a:t>CLAUDE.MD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73168" y="2414016"/>
            <a:ext cx="3657600" cy="22128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| When you are…       | Read first      |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| ------------------- | --------------- |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| Changing the store  | docs/adr/0002…  |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| boundary            |                 |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| Fixing a bug or     | docs/nfr/0002…  |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| adding behaviour    |                 |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/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## Do / Don't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- Do: every change under server/src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  ships with a test in the same PR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  (NFR-0002)   &lt;-- the binding line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/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# smoke test, fresh session: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# "what is our rule about tests?"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REVIEW &amp; RETRO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Compare, reflect, capture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Five minutes that make the difference between an exercise and a practice.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2.a — Writing the Standards Down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783080"/>
            <a:ext cx="7863840" cy="2935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Two volunteers, two NFRs. </a:t>
            </a:r>
            <a:r>
              <a:rPr sz="1250" b="0">
                <a:solidFill>
                  <a:srgbClr val="434343"/>
                </a:solidFill>
                <a:latin typeface="Arial"/>
              </a:rPr>
              <a:t>Same clause list, different documents — what did each choose to check, and what did they mark?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One retro question. </a:t>
            </a:r>
            <a:r>
              <a:rPr sz="1250" b="0">
                <a:solidFill>
                  <a:srgbClr val="434343"/>
                </a:solidFill>
                <a:latin typeface="Arial"/>
              </a:rPr>
              <a:t>What was hard, what was easy? Thirty seconds each, around the room.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Reflection note — now, not later. </a:t>
            </a:r>
            <a:r>
              <a:rPr sz="1250" b="0">
                <a:solidFill>
                  <a:srgbClr val="434343"/>
                </a:solidFill>
                <a:latin typeface="Arial"/>
              </a:rPr>
              <a:t>3–5 sentences in your PR description: what you learned, what surprised you, what you'd apply tomorrow. It is an acceptance criterion.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Unfinished work finishes async. </a:t>
            </a:r>
            <a:r>
              <a:rPr sz="1250" b="0">
                <a:solidFill>
                  <a:srgbClr val="434343"/>
                </a:solidFill>
                <a:latin typeface="Arial"/>
              </a:rPr>
              <a:t>Still required, still peer-reviewed — the list does not shrink because the clock ran out.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WRAP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Ship checklist, and what is next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Questions &amp; support: #extra-duty-solutions-ai-training — your instructor and the Applied AI Engineer are there.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2.a — Writing the Standards Down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783080"/>
            <a:ext cx="7863840" cy="2935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Ship checklist. </a:t>
            </a:r>
            <a:r>
              <a:rPr sz="1250" b="0">
                <a:solidFill>
                  <a:srgbClr val="434343"/>
                </a:solidFill>
                <a:latin typeface="Arial"/>
              </a:rPr>
              <a:t>ADR (cost included) · NFR (checks + marks) · wired into CLAUDE.md (trigger rows + binding line) · smoke-tested · PR-reviewed, CI green · reflection note in the PR.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Stretch, self-paced. </a:t>
            </a:r>
            <a:r>
              <a:rPr sz="1250" b="0">
                <a:solidFill>
                  <a:srgbClr val="434343"/>
                </a:solidFill>
                <a:latin typeface="Arial"/>
              </a:rPr>
              <a:t>Store-boundary clauses · the half-gate ESLint clause · a rules-file conversion · a head start on the "how we use these" README.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Everything is in the handout. </a:t>
            </a:r>
            <a:r>
              <a:rPr sz="1250" b="0">
                <a:solidFill>
                  <a:srgbClr val="434343"/>
                </a:solidFill>
                <a:latin typeface="Arial"/>
              </a:rPr>
              <a:t>All five prompt starters, the stuck-points table, the skeletons.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Next week: teeth. </a:t>
            </a:r>
            <a:r>
              <a:rPr sz="1250" b="0">
                <a:solidFill>
                  <a:srgbClr val="434343"/>
                </a:solidFill>
                <a:latin typeface="Arial"/>
              </a:rPr>
              <a:t>Your clause becomes a hook and a CI gate — and the marked clauses get their reckoning.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