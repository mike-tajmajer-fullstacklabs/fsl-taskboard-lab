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Lab 2.a. Two hours, mostly hands-on. By the end you will have authored an ADR and an NFR against real gaps in this repo, and wired both into CLAUDE.md. Frame it up front: last week was about using context; this week is about writing the context down so it is shared rather than personal. ~1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Set expectations: this block is less typing than 1.b and more deciding. Two things you will be asked to do that may feel unusual: read code cold and write a rule from it, and mark which parts of your own rule a machine could not check. ~2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only. The snippets point is worth 20 seconds because it previews the last topic of 2.b: template copies do not inherit upstream changes, which is exactly the problem a distribution mechanism solves. ~5 min including pairing.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This room is already positive about AI; the pitch is not "use AI", it is "stop solving the same problem sixteen times." Name the finding from their own assessment so it lands as their diagnosis rather than ours. ~3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justifies the whole block, so do not rush it. The point is not "AI cannot write docs" — it is that a doc nobody thought about is negative value, because it costs tokens and misleads. Ask the room: who has run /init and never read the output? Hands will go up. ~3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 is a map, not a lesson. The payoff is that it explains why the sixth artifact (how standards travel) is different in kind: it is the only Collective-layer one, and it is the one we hand back to them in 2.b. ~2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middle column aloud, row by row — the questions do the teaching, not the artifact names. Do not define each one at length here; slides 7 and 8 do that work better. ~3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of the block. Spend time here. Take the same subject and walk it across all five rows, then land the one-word summary line. If someone says "that is a lot of documents for one rule" — good, that is the next slide: you would not write all five, you write the one that answers the question you actually have. ~5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30 cells. Point at the two rows named in the footnote and let people read the rest. The check row is the bridge to 2.b; the load row is why you would ever choose a rules file over CLAUDE.md — always-loaded context is expensive. ~4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obvious objection: they saw a 72-line CLAUDE.md in 1.a and will meet 500-line ones in the wild. Both are correct at their scale. The mechanism that makes the difference is the trigger table — phrase triggers as situations ("changing response shapes") not topics ("API"), because the agent matches on what it is doing. ~3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sell MADR. The light template is right for this team now; the point of showing both is that they will meet the heavier one and should know it is the same idea with the alternatives written down. Mention that a mature corpus we have seen contains an ADR recording its own choice of ADR format — that usually gets a laugh and makes the point that the format itself is a decision.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load-bearing slide for next week. If they leave with one habit from 2.a, it should be writing the check before the wording. Say plainly: a clause you cannot check is still worth writing, but it must be MARKED, because a standard that pretends to be enforced gets trusted further than it deserves. ~3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by design; the differentiation work is already done. The one genuinely new idea is path-scoped loading, which most of the room will not have seen. Show testing.md briefly if there is a laptop up. ~2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finding as a finding, not an opinion — published field experience says teams stop writing ADRs because the operational questions were never answered, not because the format was wrong. Then ask the room which of these five triggers they could answer for their own repos today. Usually none. That is the gap. ~3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champions get named. If Gideon and Trishton are co-leading, say so here — it models the "authored by a few" point instead of just asserting it. The EM reviewing the output is the acceptance gate; make sure the room knows a review is coming. ~3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shape rather than describing it: the second prompt deliberately ends "leave Decision as a question for me to answer." That single clause is the difference between drafting and delegating. Tell them the prompt starters card at the end has all five. ~4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incident-citing pattern is the most transferable thing in this block — it is what stops a standard reading as arbitrary. Give a concrete shape: "Rule: never X. Why: on &lt;date&gt; we did X and &lt;consequence&gt;." Note that this is also the answer to the yes-man complaint from their interviews: rules with reasons survive pushback from a persuasive agent. ~3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Tell them: watch for two things — where the evidence comes from, and the moment I stop Claude and make the decision myself.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directories on screen, not the slide. Grep for imports of store.ts and show that the boundary really does hold. The "nothing checks it" line plants 2.b — do not explain it yet, just let them notice. ~4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wrong turns — if Claude writes a consequence that is really a benefit in disguise, say so out loud and fix it. The honest cost ("one more hop for simple reads") is what makes an ADR credible; a document with only upsides reads as marketing. ~8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Do not advance past unresolved hands. This checkpoint is cheap to verify by walking the room. If more than two people are stuck, the likely cause is prompt shape, not understanding — show your prompt again. ~3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Scaffolding drops here. This is the part of the block where you stop following and start deciding. Say that explicitly — the change in mode should be announced, not discovered.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INSTRUCTOR: use three real 1.b PRs if all three shapes exist; otherwise synthesise. Anonymise the diffs, and if the "no test" example is someone in the room, use a synthetic one instead. Frame it once, up front: nobody was ASKED to write a test last week, so this is a gap in the standard, not in a person. Then stop talking. ~5 min of silence and reading.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Fifteen minutes. Circulate; do not answer. If a group stalls, go to their two seeded clauses and ask "would you keep this, tighten it, or drop it?" — editing is far easier than authoring. Watch for the room converging on B being acceptable; the tautological test is the interesting case and they often miss it. Do NOT tell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MANDATORY: state and write down the agreed clauses before advancing. An unresolved discussion is worse than none. The card contents here are illustrative — replace them live with what the room actually produced. If they did not surface "failed first", ask: "B was green before the fix. Would your rule have caught it?" ~5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matters more than content here: this comes AFTER the room commits to its own list, so it reads as comparison rather than the answer key. Sanitised — no client, product, or domain detail. If someone asks whose it is, the answer is "another engagement, and that is all I can say." ~3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Circulate and ask one question per group: "how is that checked?" If they cannot answer, the clause is not finished. Reserve the last five minutes for the peer review — it is in the acceptance criteria and it is the first thing to get skipped. ~20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[PROVISIONAL — recalibrate after Lab 1.b feedback] Different in kind from Checkpoint 1 — there is no command to run. Ask each group to read one fuzzy clause and its recorded decision aloud. That takes two minutes and makes the standard real. ~3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smoke test is the whole point and takes 60 seconds — new session, ask the rule, watch whether it reads the doc or guesses. If it guesses, the trigger is phrased as a topic rather than a situation. That is the most common failure and it is fixable in one edit. ~15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through-line: last week a habit, this week a standard, next week a gate. Point at the prompt starters in the handout and the Slack channel. If anything is unfinished, it finishes async and still needs a review — the acceptance list does not shrink because the clock ran out. ~5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Writing the Standards Down</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2.a — the governance documents an AI agent actually uses</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mostly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Setup + 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Where 1.b left us, and what standards buy you</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25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five artifacts</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each is — and how to tell them apart</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20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How they get authored</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When one is required, who reviews, drafting with Claude</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25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 write an ADR</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repository boundary, documented live</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30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Derive + write an NFR</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You read three real diffs and write the rule</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15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Wire it in + review</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Trigger table, binding line, smoke test</a:t>
            </a:r>
          </a:p>
        </p:txBody>
      </p:sp>
      <p:sp>
        <p:nvSpPr>
          <p:cNvPr id="32" name="TextBox 31"/>
          <p:cNvSpPr txBox="1"/>
          <p:nvPr/>
        </p:nvSpPr>
        <p:spPr>
          <a:xfrm>
            <a:off x="548640" y="4517136"/>
            <a:ext cx="7863840" cy="365760"/>
          </a:xfrm>
          <a:prstGeom prst="rect">
            <a:avLst/>
          </a:prstGeom>
          <a:noFill/>
        </p:spPr>
        <p:txBody>
          <a:bodyPr wrap="square" anchor="t" lIns="0" rIns="0" tIns="0" bIns="0">
            <a:spAutoFit/>
          </a:bodyPr>
          <a:lstStyle/>
          <a:p>
            <a:pPr algn="l">
              <a:lnSpc>
                <a:spcPct val="120000"/>
              </a:lnSpc>
              <a:spcAft>
                <a:spcPts val="400"/>
              </a:spcAft>
            </a:pPr>
            <a:r>
              <a:rPr sz="1000" b="0">
                <a:solidFill>
                  <a:srgbClr val="999999"/>
                </a:solidFill>
                <a:latin typeface="Arial"/>
              </a:rPr>
              <a:t>Timings are the plan, not a promise — say so, and keep us honest on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SETUP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we start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minutes. Pair anyone who is broken before we start, not during the demo.</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Your own copy. </a:t>
            </a:r>
            <a:r>
              <a:rPr sz="1250" b="0">
                <a:solidFill>
                  <a:srgbClr val="434343"/>
                </a:solidFill>
                <a:latin typeface="Arial"/>
              </a:rPr>
              <a:t>The same one from 1.b — `npm test` green, `npm run dev` working.</a:t>
            </a:r>
          </a:p>
          <a:p>
            <a:pPr algn="l">
              <a:lnSpc>
                <a:spcPct val="122000"/>
              </a:lnSpc>
              <a:spcAft>
                <a:spcPts val="900"/>
              </a:spcAft>
            </a:pPr>
            <a:r>
              <a:rPr sz="1250" b="1">
                <a:solidFill>
                  <a:srgbClr val="403FE8"/>
                </a:solidFill>
                <a:latin typeface="Arial"/>
              </a:rPr>
              <a:t>•  </a:t>
            </a:r>
            <a:r>
              <a:rPr sz="1250" b="1">
                <a:solidFill>
                  <a:srgbClr val="13135E"/>
                </a:solidFill>
                <a:latin typeface="Arial"/>
              </a:rPr>
              <a:t>Clean branch. </a:t>
            </a:r>
            <a:r>
              <a:rPr sz="1250" b="0">
                <a:solidFill>
                  <a:srgbClr val="434343"/>
                </a:solidFill>
                <a:latin typeface="Arial"/>
              </a:rPr>
              <a:t>`git checkout -b feat/governance` before anything else.</a:t>
            </a:r>
          </a:p>
          <a:p>
            <a:pPr algn="l">
              <a:lnSpc>
                <a:spcPct val="122000"/>
              </a:lnSpc>
              <a:spcAft>
                <a:spcPts val="900"/>
              </a:spcAft>
            </a:pPr>
            <a:r>
              <a:rPr sz="1250" b="1">
                <a:solidFill>
                  <a:srgbClr val="403FE8"/>
                </a:solidFill>
                <a:latin typeface="Arial"/>
              </a:rPr>
              <a:t>•  </a:t>
            </a:r>
            <a:r>
              <a:rPr sz="1250" b="1">
                <a:solidFill>
                  <a:srgbClr val="13135E"/>
                </a:solidFill>
                <a:latin typeface="Arial"/>
              </a:rPr>
              <a:t>Two examples already ship. </a:t>
            </a:r>
            <a:r>
              <a:rPr sz="1250" b="0">
                <a:solidFill>
                  <a:srgbClr val="434343"/>
                </a:solidFill>
                <a:latin typeface="Arial"/>
              </a:rPr>
              <a:t>One ADR (`docs/adr/0001`) and one NFR (`docs/nfr/0001`).</a:t>
            </a:r>
          </a:p>
          <a:p>
            <a:pPr algn="l">
              <a:lnSpc>
                <a:spcPct val="122000"/>
              </a:lnSpc>
              <a:spcAft>
                <a:spcPts val="900"/>
              </a:spcAft>
            </a:pPr>
            <a:r>
              <a:rPr sz="1250" b="1">
                <a:solidFill>
                  <a:srgbClr val="403FE8"/>
                </a:solidFill>
                <a:latin typeface="Arial"/>
              </a:rPr>
              <a:t>•  </a:t>
            </a:r>
            <a:r>
              <a:rPr sz="1250" b="1">
                <a:solidFill>
                  <a:srgbClr val="13135E"/>
                </a:solidFill>
                <a:latin typeface="Arial"/>
              </a:rPr>
              <a:t>Snippets arrive by copy-paste. </a:t>
            </a:r>
            <a:r>
              <a:rPr sz="1250" b="0">
                <a:solidFill>
                  <a:srgbClr val="434343"/>
                </a:solidFill>
                <a:latin typeface="Arial"/>
              </a:rPr>
              <a:t>Your copy predates today's material — pull `docs/labs` with giget, or copy from GitHub raw.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Sixteen developers, sixteen private setups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assessment called this a Cultural Gap: engineers ahead of shared norms.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WORKS TODAY</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Individual practice is genuinely strong</a:t>
            </a:r>
          </a:p>
          <a:p>
            <a:pPr algn="l">
              <a:lnSpc>
                <a:spcPct val="118000"/>
              </a:lnSpc>
              <a:spcAft>
                <a:spcPts val="600"/>
              </a:spcAft>
            </a:pPr>
            <a:r>
              <a:rPr sz="1000" b="1">
                <a:solidFill>
                  <a:srgbClr val="A9B7F7"/>
                </a:solidFill>
                <a:latin typeface="Arial"/>
              </a:rPr>
              <a:t>•  </a:t>
            </a:r>
            <a:r>
              <a:rPr sz="1000" b="0">
                <a:solidFill>
                  <a:srgbClr val="434343"/>
                </a:solidFill>
                <a:latin typeface="Arial"/>
              </a:rPr>
              <a:t>Claude is productive on this repo</a:t>
            </a:r>
          </a:p>
          <a:p>
            <a:pPr algn="l">
              <a:lnSpc>
                <a:spcPct val="118000"/>
              </a:lnSpc>
              <a:spcAft>
                <a:spcPts val="600"/>
              </a:spcAft>
            </a:pPr>
            <a:r>
              <a:rPr sz="1000" b="1">
                <a:solidFill>
                  <a:srgbClr val="A9B7F7"/>
                </a:solidFill>
                <a:latin typeface="Arial"/>
              </a:rPr>
              <a:t>•  </a:t>
            </a:r>
            <a:r>
              <a:rPr sz="1000" b="0">
                <a:solidFill>
                  <a:srgbClr val="434343"/>
                </a:solidFill>
                <a:latin typeface="Arial"/>
              </a:rPr>
              <a:t>The habits from 1.b landed</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DOES NOT</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None of it is shared</a:t>
            </a:r>
          </a:p>
          <a:p>
            <a:pPr algn="l">
              <a:lnSpc>
                <a:spcPct val="118000"/>
              </a:lnSpc>
              <a:spcAft>
                <a:spcPts val="600"/>
              </a:spcAft>
            </a:pPr>
            <a:r>
              <a:rPr sz="1000" b="1">
                <a:solidFill>
                  <a:srgbClr val="A9B7F7"/>
                </a:solidFill>
                <a:latin typeface="Arial"/>
              </a:rPr>
              <a:t>•  </a:t>
            </a:r>
            <a:r>
              <a:rPr sz="1000" b="0">
                <a:solidFill>
                  <a:srgbClr val="434343"/>
                </a:solidFill>
                <a:latin typeface="Arial"/>
              </a:rPr>
              <a:t>Every dev re-teaches Claude the same things</a:t>
            </a:r>
          </a:p>
          <a:p>
            <a:pPr algn="l">
              <a:lnSpc>
                <a:spcPct val="118000"/>
              </a:lnSpc>
              <a:spcAft>
                <a:spcPts val="600"/>
              </a:spcAft>
            </a:pPr>
            <a:r>
              <a:rPr sz="1000" b="1">
                <a:solidFill>
                  <a:srgbClr val="A9B7F7"/>
                </a:solidFill>
                <a:latin typeface="Arial"/>
              </a:rPr>
              <a:t>•  </a:t>
            </a:r>
            <a:r>
              <a:rPr sz="1000" b="0">
                <a:solidFill>
                  <a:srgbClr val="434343"/>
                </a:solidFill>
                <a:latin typeface="Arial"/>
              </a:rPr>
              <a:t>No way to tell if a rule is being followed</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TODAY CHANGES</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Habits become documents</a:t>
            </a:r>
          </a:p>
          <a:p>
            <a:pPr algn="l">
              <a:lnSpc>
                <a:spcPct val="118000"/>
              </a:lnSpc>
              <a:spcAft>
                <a:spcPts val="600"/>
              </a:spcAft>
            </a:pPr>
            <a:r>
              <a:rPr sz="1000" b="1">
                <a:solidFill>
                  <a:srgbClr val="A9B7F7"/>
                </a:solidFill>
                <a:latin typeface="Arial"/>
              </a:rPr>
              <a:t>•  </a:t>
            </a:r>
            <a:r>
              <a:rPr sz="1000" b="0">
                <a:solidFill>
                  <a:srgbClr val="434343"/>
                </a:solidFill>
                <a:latin typeface="Arial"/>
              </a:rPr>
              <a:t>Documents get reviewed</a:t>
            </a:r>
          </a:p>
          <a:p>
            <a:pPr algn="l">
              <a:lnSpc>
                <a:spcPct val="118000"/>
              </a:lnSpc>
              <a:spcAft>
                <a:spcPts val="600"/>
              </a:spcAft>
            </a:pPr>
            <a:r>
              <a:rPr sz="1000" b="1">
                <a:solidFill>
                  <a:srgbClr val="A9B7F7"/>
                </a:solidFill>
                <a:latin typeface="Arial"/>
              </a:rPr>
              <a:t>•  </a:t>
            </a:r>
            <a:r>
              <a:rPr sz="1000" b="0">
                <a:solidFill>
                  <a:srgbClr val="434343"/>
                </a:solidFill>
                <a:latin typeface="Arial"/>
              </a:rPr>
              <a:t>CLAUDE.md points at them</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Alignment, not persuasion. Nobody here needs convincing that AI helps — the gap is that everyone solved it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EVIDENCE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Generated context files made things worse.</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An ETH Zurich study (Feb 2026) found LLM-generated context files lowered task success by about 3% versus no context at all, while raising cost more than 20%. Human-written files improved success by about 4%. Running /init and walking away is worse than doing nothing. You will use Claude to draft — from evidence in the code — and you will own every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SCOPE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Collective, Project, Feature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layers. Today you work in the middle one and hear about the outer one.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COLLECTIVE</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Org-wide — every repo</a:t>
            </a:r>
          </a:p>
          <a:p>
            <a:pPr algn="l">
              <a:lnSpc>
                <a:spcPct val="118000"/>
              </a:lnSpc>
              <a:spcAft>
                <a:spcPts val="600"/>
              </a:spcAft>
            </a:pPr>
            <a:r>
              <a:rPr sz="1000" b="1">
                <a:solidFill>
                  <a:srgbClr val="A9B7F7"/>
                </a:solidFill>
                <a:latin typeface="Arial"/>
              </a:rPr>
              <a:t>•  </a:t>
            </a:r>
            <a:r>
              <a:rPr sz="1000" b="0">
                <a:solidFill>
                  <a:srgbClr val="434343"/>
                </a:solidFill>
                <a:latin typeface="Arial"/>
              </a:rPr>
              <a:t>Standards, templates, guardrails</a:t>
            </a:r>
          </a:p>
          <a:p>
            <a:pPr algn="l">
              <a:lnSpc>
                <a:spcPct val="118000"/>
              </a:lnSpc>
              <a:spcAft>
                <a:spcPts val="600"/>
              </a:spcAft>
            </a:pPr>
            <a:r>
              <a:rPr sz="1000" b="1">
                <a:solidFill>
                  <a:srgbClr val="A9B7F7"/>
                </a:solidFill>
                <a:latin typeface="Arial"/>
              </a:rPr>
              <a:t>•  </a:t>
            </a:r>
            <a:r>
              <a:rPr sz="1000" b="0">
                <a:solidFill>
                  <a:srgbClr val="434343"/>
                </a:solidFill>
                <a:latin typeface="Arial"/>
              </a:rPr>
              <a:t>Most teams have none</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PROJECT</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This repo</a:t>
            </a:r>
          </a:p>
          <a:p>
            <a:pPr algn="l">
              <a:lnSpc>
                <a:spcPct val="118000"/>
              </a:lnSpc>
              <a:spcAft>
                <a:spcPts val="600"/>
              </a:spcAft>
            </a:pPr>
            <a:r>
              <a:rPr sz="1000" b="1">
                <a:solidFill>
                  <a:srgbClr val="A9B7F7"/>
                </a:solidFill>
                <a:latin typeface="Arial"/>
              </a:rPr>
              <a:t>•  </a:t>
            </a:r>
            <a:r>
              <a:rPr sz="1000" b="0">
                <a:solidFill>
                  <a:srgbClr val="434343"/>
                </a:solidFill>
                <a:latin typeface="Arial"/>
              </a:rPr>
              <a:t>CLAUDE.md, ADRs, NFRs, recipes</a:t>
            </a:r>
          </a:p>
          <a:p>
            <a:pPr algn="l">
              <a:lnSpc>
                <a:spcPct val="118000"/>
              </a:lnSpc>
              <a:spcAft>
                <a:spcPts val="600"/>
              </a:spcAft>
            </a:pPr>
            <a:r>
              <a:rPr sz="1000" b="1">
                <a:solidFill>
                  <a:srgbClr val="A9B7F7"/>
                </a:solidFill>
                <a:latin typeface="Arial"/>
              </a:rPr>
              <a:t>•  </a:t>
            </a:r>
            <a:r>
              <a:rPr sz="1000" b="0">
                <a:solidFill>
                  <a:srgbClr val="434343"/>
                </a:solidFill>
                <a:latin typeface="Arial"/>
              </a:rPr>
              <a:t>Most teams have an accident here</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FEATURE</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This slice of work</a:t>
            </a:r>
          </a:p>
          <a:p>
            <a:pPr algn="l">
              <a:lnSpc>
                <a:spcPct val="118000"/>
              </a:lnSpc>
              <a:spcAft>
                <a:spcPts val="600"/>
              </a:spcAft>
            </a:pPr>
            <a:r>
              <a:rPr sz="1000" b="1">
                <a:solidFill>
                  <a:srgbClr val="A9B7F7"/>
                </a:solidFill>
                <a:latin typeface="Arial"/>
              </a:rPr>
              <a:t>•  </a:t>
            </a:r>
            <a:r>
              <a:rPr sz="1000" b="0">
                <a:solidFill>
                  <a:srgbClr val="434343"/>
                </a:solidFill>
                <a:latin typeface="Arial"/>
              </a:rPr>
              <a:t>Path-scoped rules, feature specs</a:t>
            </a:r>
          </a:p>
          <a:p>
            <a:pPr algn="l">
              <a:lnSpc>
                <a:spcPct val="118000"/>
              </a:lnSpc>
              <a:spcAft>
                <a:spcPts val="600"/>
              </a:spcAft>
            </a:pPr>
            <a:r>
              <a:rPr sz="1000" b="1">
                <a:solidFill>
                  <a:srgbClr val="A9B7F7"/>
                </a:solidFill>
                <a:latin typeface="Arial"/>
              </a:rPr>
              <a:t>•  </a:t>
            </a:r>
            <a:r>
              <a:rPr sz="1000" b="0">
                <a:solidFill>
                  <a:srgbClr val="434343"/>
                </a:solidFill>
                <a:latin typeface="Arial"/>
              </a:rPr>
              <a:t>Arrives just in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ARTIFACTS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types — and the question each answers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If you can name the question, you know which document you are writing.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40528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2228248" y="2089404"/>
            <a:ext cx="3628724"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question it answers</a:t>
            </a:r>
          </a:p>
        </p:txBody>
      </p:sp>
      <p:sp>
        <p:nvSpPr>
          <p:cNvPr id="12" name="TextBox 11"/>
          <p:cNvSpPr txBox="1"/>
          <p:nvPr/>
        </p:nvSpPr>
        <p:spPr>
          <a:xfrm>
            <a:off x="6039852" y="2089404"/>
            <a:ext cx="2464067"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is</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5" name="TextBox 14"/>
          <p:cNvSpPr txBox="1"/>
          <p:nvPr/>
        </p:nvSpPr>
        <p:spPr>
          <a:xfrm>
            <a:off x="2228248" y="2377440"/>
            <a:ext cx="3628724"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the agent know before anything else?</a:t>
            </a:r>
          </a:p>
        </p:txBody>
      </p:sp>
      <p:sp>
        <p:nvSpPr>
          <p:cNvPr id="16" name="TextBox 15"/>
          <p:cNvSpPr txBox="1"/>
          <p:nvPr/>
        </p:nvSpPr>
        <p:spPr>
          <a:xfrm>
            <a:off x="6039852" y="2377440"/>
            <a:ext cx="2464067"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Always-loaded context + pointers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9" name="TextBox 18"/>
          <p:cNvSpPr txBox="1"/>
          <p:nvPr/>
        </p:nvSpPr>
        <p:spPr>
          <a:xfrm>
            <a:off x="2228248" y="2761488"/>
            <a:ext cx="3628724"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is it like this?</a:t>
            </a:r>
          </a:p>
        </p:txBody>
      </p:sp>
      <p:sp>
        <p:nvSpPr>
          <p:cNvPr id="20" name="TextBox 19"/>
          <p:cNvSpPr txBox="1"/>
          <p:nvPr/>
        </p:nvSpPr>
        <p:spPr>
          <a:xfrm>
            <a:off x="6039852" y="2761488"/>
            <a:ext cx="2464067"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One decision, with its cost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3" name="TextBox 22"/>
          <p:cNvSpPr txBox="1"/>
          <p:nvPr/>
        </p:nvSpPr>
        <p:spPr>
          <a:xfrm>
            <a:off x="2228248" y="3145536"/>
            <a:ext cx="3628724"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always be TRUE — and how do we check?</a:t>
            </a:r>
          </a:p>
        </p:txBody>
      </p:sp>
      <p:sp>
        <p:nvSpPr>
          <p:cNvPr id="24" name="TextBox 23"/>
          <p:cNvSpPr txBox="1"/>
          <p:nvPr/>
        </p:nvSpPr>
        <p:spPr>
          <a:xfrm>
            <a:off x="6039852" y="3145536"/>
            <a:ext cx="2464067"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standing, testable rule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Best-practice recipe</a:t>
            </a:r>
          </a:p>
        </p:txBody>
      </p:sp>
      <p:sp>
        <p:nvSpPr>
          <p:cNvPr id="27" name="TextBox 26"/>
          <p:cNvSpPr txBox="1"/>
          <p:nvPr/>
        </p:nvSpPr>
        <p:spPr>
          <a:xfrm>
            <a:off x="2228248" y="3529584"/>
            <a:ext cx="3628724"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HOW do I do X here?</a:t>
            </a:r>
          </a:p>
        </p:txBody>
      </p:sp>
      <p:sp>
        <p:nvSpPr>
          <p:cNvPr id="28" name="TextBox 27"/>
          <p:cNvSpPr txBox="1"/>
          <p:nvPr/>
        </p:nvSpPr>
        <p:spPr>
          <a:xfrm>
            <a:off x="6039852" y="3529584"/>
            <a:ext cx="2464067"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worked procedure</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228248" y="3913631"/>
            <a:ext cx="3628724"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applies ONLY in these files?</a:t>
            </a:r>
          </a:p>
        </p:txBody>
      </p:sp>
      <p:sp>
        <p:nvSpPr>
          <p:cNvPr id="32" name="TextBox 31"/>
          <p:cNvSpPr txBox="1"/>
          <p:nvPr/>
        </p:nvSpPr>
        <p:spPr>
          <a:xfrm>
            <a:off x="6039852" y="3913631"/>
            <a:ext cx="2464067"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Path-scoped context</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That is the whole trick. Everything else on the next two slides is detail.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One subject, five artifacts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has a real rule: only repositories/ may import db/store.ts. Here is what each artifact says about that same subject.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1920240" y="2089404"/>
            <a:ext cx="6583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says about the repository boundary</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4" name="TextBox 13"/>
          <p:cNvSpPr txBox="1"/>
          <p:nvPr/>
        </p:nvSpPr>
        <p:spPr>
          <a:xfrm>
            <a:off x="1920240" y="2377440"/>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One line, no rationale: "never access db.json outside repositories/". Always loaded</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7" name="TextBox 16"/>
          <p:cNvSpPr txBox="1"/>
          <p:nvPr/>
        </p:nvSpPr>
        <p:spPr>
          <a:xfrm>
            <a:off x="1920240" y="2761488"/>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a repository layer was chosen, what else was considered, what it costs</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0" name="TextBox 19"/>
          <p:cNvSpPr txBox="1"/>
          <p:nvPr/>
        </p:nvSpPr>
        <p:spPr>
          <a:xfrm>
            <a:off x="1920240" y="3145536"/>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as a standing requirement — plus how compliance is checked</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Best practice</a:t>
            </a:r>
          </a:p>
        </p:txBody>
      </p:sp>
      <p:sp>
        <p:nvSpPr>
          <p:cNvPr id="23" name="TextBox 22"/>
          <p:cNvSpPr txBox="1"/>
          <p:nvPr/>
        </p:nvSpPr>
        <p:spPr>
          <a:xfrm>
            <a:off x="1920240" y="3529584"/>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adding-a-resource.md — the steps for adding a resource within that boundary</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26" name="TextBox 25"/>
          <p:cNvSpPr txBox="1"/>
          <p:nvPr/>
        </p:nvSpPr>
        <p:spPr>
          <a:xfrm>
            <a:off x="1920240" y="3913631"/>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Guidance that loads only when you are in the files it applies to</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None of them is redundant. ADR = history. NFR = law. Recipe = procedure. CLAUDE.md = index. Rules file = context that arrives just in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Telling them apart when it is unclear</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0" name="TextBox 9"/>
          <p:cNvSpPr txBox="1"/>
          <p:nvPr/>
        </p:nvSpPr>
        <p:spPr>
          <a:xfrm>
            <a:off x="1754986"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CLAUDE.md</a:t>
            </a:r>
          </a:p>
        </p:txBody>
      </p:sp>
      <p:sp>
        <p:nvSpPr>
          <p:cNvPr id="11" name="TextBox 10"/>
          <p:cNvSpPr txBox="1"/>
          <p:nvPr/>
        </p:nvSpPr>
        <p:spPr>
          <a:xfrm>
            <a:off x="3209213" y="1769364"/>
            <a:ext cx="117439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Rules file</a:t>
            </a:r>
          </a:p>
        </p:txBody>
      </p:sp>
      <p:sp>
        <p:nvSpPr>
          <p:cNvPr id="12" name="TextBox 11"/>
          <p:cNvSpPr txBox="1"/>
          <p:nvPr/>
        </p:nvSpPr>
        <p:spPr>
          <a:xfrm>
            <a:off x="4566491"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3" name="TextBox 12"/>
          <p:cNvSpPr txBox="1"/>
          <p:nvPr/>
        </p:nvSpPr>
        <p:spPr>
          <a:xfrm>
            <a:off x="6020718" y="1769364"/>
            <a:ext cx="1368294"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4" name="TextBox 13"/>
          <p:cNvSpPr txBox="1"/>
          <p:nvPr/>
        </p:nvSpPr>
        <p:spPr>
          <a:xfrm>
            <a:off x="7571893"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Recipe</a:t>
            </a:r>
          </a:p>
        </p:txBody>
      </p:sp>
      <p:sp>
        <p:nvSpPr>
          <p:cNvPr id="15" name="Rectangle 14"/>
          <p:cNvSpPr/>
          <p:nvPr/>
        </p:nvSpPr>
        <p:spPr>
          <a:xfrm>
            <a:off x="548640" y="200253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57400"/>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Answers</a:t>
            </a:r>
          </a:p>
        </p:txBody>
      </p:sp>
      <p:sp>
        <p:nvSpPr>
          <p:cNvPr id="17" name="TextBox 16"/>
          <p:cNvSpPr txBox="1"/>
          <p:nvPr/>
        </p:nvSpPr>
        <p:spPr>
          <a:xfrm>
            <a:off x="1754986"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to know first</a:t>
            </a:r>
          </a:p>
        </p:txBody>
      </p:sp>
      <p:sp>
        <p:nvSpPr>
          <p:cNvPr id="18" name="TextBox 17"/>
          <p:cNvSpPr txBox="1"/>
          <p:nvPr/>
        </p:nvSpPr>
        <p:spPr>
          <a:xfrm>
            <a:off x="3209213" y="2057400"/>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applies here</a:t>
            </a:r>
          </a:p>
        </p:txBody>
      </p:sp>
      <p:sp>
        <p:nvSpPr>
          <p:cNvPr id="19" name="TextBox 18"/>
          <p:cNvSpPr txBox="1"/>
          <p:nvPr/>
        </p:nvSpPr>
        <p:spPr>
          <a:xfrm>
            <a:off x="4566491"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Why</a:t>
            </a:r>
          </a:p>
        </p:txBody>
      </p:sp>
      <p:sp>
        <p:nvSpPr>
          <p:cNvPr id="20" name="TextBox 19"/>
          <p:cNvSpPr txBox="1"/>
          <p:nvPr/>
        </p:nvSpPr>
        <p:spPr>
          <a:xfrm>
            <a:off x="6020718" y="2057400"/>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must hold</a:t>
            </a:r>
          </a:p>
        </p:txBody>
      </p:sp>
      <p:sp>
        <p:nvSpPr>
          <p:cNvPr id="21" name="TextBox 20"/>
          <p:cNvSpPr txBox="1"/>
          <p:nvPr/>
        </p:nvSpPr>
        <p:spPr>
          <a:xfrm>
            <a:off x="7571893" y="2057400"/>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How</a:t>
            </a:r>
          </a:p>
        </p:txBody>
      </p:sp>
      <p:sp>
        <p:nvSpPr>
          <p:cNvPr id="22" name="Rectangle 21"/>
          <p:cNvSpPr/>
          <p:nvPr/>
        </p:nvSpPr>
        <p:spPr>
          <a:xfrm>
            <a:off x="548640" y="238658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41448"/>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Tense</a:t>
            </a:r>
          </a:p>
        </p:txBody>
      </p:sp>
      <p:sp>
        <p:nvSpPr>
          <p:cNvPr id="24" name="TextBox 23"/>
          <p:cNvSpPr txBox="1"/>
          <p:nvPr/>
        </p:nvSpPr>
        <p:spPr>
          <a:xfrm>
            <a:off x="1754986"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standing</a:t>
            </a:r>
          </a:p>
        </p:txBody>
      </p:sp>
      <p:sp>
        <p:nvSpPr>
          <p:cNvPr id="25" name="TextBox 24"/>
          <p:cNvSpPr txBox="1"/>
          <p:nvPr/>
        </p:nvSpPr>
        <p:spPr>
          <a:xfrm>
            <a:off x="3209213" y="2441448"/>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scoped</a:t>
            </a:r>
          </a:p>
        </p:txBody>
      </p:sp>
      <p:sp>
        <p:nvSpPr>
          <p:cNvPr id="26" name="TextBox 25"/>
          <p:cNvSpPr txBox="1"/>
          <p:nvPr/>
        </p:nvSpPr>
        <p:spPr>
          <a:xfrm>
            <a:off x="4566491"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Past — a choice made</a:t>
            </a:r>
          </a:p>
        </p:txBody>
      </p:sp>
      <p:sp>
        <p:nvSpPr>
          <p:cNvPr id="27" name="TextBox 26"/>
          <p:cNvSpPr txBox="1"/>
          <p:nvPr/>
        </p:nvSpPr>
        <p:spPr>
          <a:xfrm>
            <a:off x="6020718" y="2441448"/>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 holds now</a:t>
            </a:r>
          </a:p>
        </p:txBody>
      </p:sp>
      <p:sp>
        <p:nvSpPr>
          <p:cNvPr id="28" name="TextBox 27"/>
          <p:cNvSpPr txBox="1"/>
          <p:nvPr/>
        </p:nvSpPr>
        <p:spPr>
          <a:xfrm>
            <a:off x="7571893" y="2441448"/>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Imperative</a:t>
            </a:r>
          </a:p>
        </p:txBody>
      </p:sp>
      <p:sp>
        <p:nvSpPr>
          <p:cNvPr id="29" name="Rectangle 28"/>
          <p:cNvSpPr/>
          <p:nvPr/>
        </p:nvSpPr>
        <p:spPr>
          <a:xfrm>
            <a:off x="548640" y="277063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825496"/>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Lifecycle</a:t>
            </a:r>
          </a:p>
        </p:txBody>
      </p:sp>
      <p:sp>
        <p:nvSpPr>
          <p:cNvPr id="31" name="TextBox 30"/>
          <p:cNvSpPr txBox="1"/>
          <p:nvPr/>
        </p:nvSpPr>
        <p:spPr>
          <a:xfrm>
            <a:off x="1754986"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continuously</a:t>
            </a:r>
          </a:p>
        </p:txBody>
      </p:sp>
      <p:sp>
        <p:nvSpPr>
          <p:cNvPr id="32" name="TextBox 31"/>
          <p:cNvSpPr txBox="1"/>
          <p:nvPr/>
        </p:nvSpPr>
        <p:spPr>
          <a:xfrm>
            <a:off x="3209213" y="2825496"/>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3" name="TextBox 32"/>
          <p:cNvSpPr txBox="1"/>
          <p:nvPr/>
        </p:nvSpPr>
        <p:spPr>
          <a:xfrm>
            <a:off x="4566491"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Superseded, never edited</a:t>
            </a:r>
          </a:p>
        </p:txBody>
      </p:sp>
      <p:sp>
        <p:nvSpPr>
          <p:cNvPr id="34" name="TextBox 33"/>
          <p:cNvSpPr txBox="1"/>
          <p:nvPr/>
        </p:nvSpPr>
        <p:spPr>
          <a:xfrm>
            <a:off x="6020718" y="2825496"/>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5" name="TextBox 34"/>
          <p:cNvSpPr txBox="1"/>
          <p:nvPr/>
        </p:nvSpPr>
        <p:spPr>
          <a:xfrm>
            <a:off x="7571893" y="2825496"/>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Updated freely</a:t>
            </a:r>
          </a:p>
        </p:txBody>
      </p:sp>
      <p:sp>
        <p:nvSpPr>
          <p:cNvPr id="36" name="Rectangle 35"/>
          <p:cNvSpPr/>
          <p:nvPr/>
        </p:nvSpPr>
        <p:spPr>
          <a:xfrm>
            <a:off x="548640" y="3154679"/>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209544"/>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Carries a check?</a:t>
            </a:r>
          </a:p>
        </p:txBody>
      </p:sp>
      <p:sp>
        <p:nvSpPr>
          <p:cNvPr id="38" name="TextBox 37"/>
          <p:cNvSpPr txBox="1"/>
          <p:nvPr/>
        </p:nvSpPr>
        <p:spPr>
          <a:xfrm>
            <a:off x="1754986"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39" name="TextBox 38"/>
          <p:cNvSpPr txBox="1"/>
          <p:nvPr/>
        </p:nvSpPr>
        <p:spPr>
          <a:xfrm>
            <a:off x="3209213" y="3209544"/>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0" name="TextBox 39"/>
          <p:cNvSpPr txBox="1"/>
          <p:nvPr/>
        </p:nvSpPr>
        <p:spPr>
          <a:xfrm>
            <a:off x="4566491"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1" name="TextBox 40"/>
          <p:cNvSpPr txBox="1"/>
          <p:nvPr/>
        </p:nvSpPr>
        <p:spPr>
          <a:xfrm>
            <a:off x="6020718" y="3209544"/>
            <a:ext cx="1368294" cy="292607"/>
          </a:xfrm>
          <a:prstGeom prst="rect">
            <a:avLst/>
          </a:prstGeom>
          <a:noFill/>
        </p:spPr>
        <p:txBody>
          <a:bodyPr wrap="square" anchor="t" lIns="0" rIns="0" tIns="0" bIns="0">
            <a:spAutoFit/>
          </a:bodyPr>
          <a:lstStyle/>
          <a:p>
            <a:pPr algn="l">
              <a:lnSpc>
                <a:spcPct val="112000"/>
              </a:lnSpc>
              <a:spcAft>
                <a:spcPts val="400"/>
              </a:spcAft>
            </a:pPr>
            <a:r>
              <a:rPr sz="800" b="1">
                <a:solidFill>
                  <a:srgbClr val="1B7F4B"/>
                </a:solidFill>
                <a:latin typeface="Arial"/>
              </a:rPr>
              <a:t>YES — that is why</a:t>
            </a:r>
          </a:p>
        </p:txBody>
      </p:sp>
      <p:sp>
        <p:nvSpPr>
          <p:cNvPr id="42" name="TextBox 41"/>
          <p:cNvSpPr txBox="1"/>
          <p:nvPr/>
        </p:nvSpPr>
        <p:spPr>
          <a:xfrm>
            <a:off x="7571893" y="3209544"/>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3" name="Rectangle 42"/>
          <p:cNvSpPr/>
          <p:nvPr/>
        </p:nvSpPr>
        <p:spPr>
          <a:xfrm>
            <a:off x="548640" y="3538727"/>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93591"/>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When it loads</a:t>
            </a:r>
          </a:p>
        </p:txBody>
      </p:sp>
      <p:sp>
        <p:nvSpPr>
          <p:cNvPr id="45" name="TextBox 44"/>
          <p:cNvSpPr txBox="1"/>
          <p:nvPr/>
        </p:nvSpPr>
        <p:spPr>
          <a:xfrm>
            <a:off x="1754986" y="3593591"/>
            <a:ext cx="1271346" cy="292607"/>
          </a:xfrm>
          <a:prstGeom prst="rect">
            <a:avLst/>
          </a:prstGeom>
          <a:noFill/>
        </p:spPr>
        <p:txBody>
          <a:bodyPr wrap="square" anchor="t" lIns="0" rIns="0" tIns="0" bIns="0">
            <a:spAutoFit/>
          </a:bodyPr>
          <a:lstStyle/>
          <a:p>
            <a:pPr algn="l">
              <a:lnSpc>
                <a:spcPct val="112000"/>
              </a:lnSpc>
              <a:spcAft>
                <a:spcPts val="400"/>
              </a:spcAft>
            </a:pPr>
            <a:r>
              <a:rPr sz="800" b="1">
                <a:solidFill>
                  <a:srgbClr val="403FE8"/>
                </a:solidFill>
                <a:latin typeface="Arial"/>
              </a:rPr>
              <a:t>ALWAYS</a:t>
            </a:r>
          </a:p>
        </p:txBody>
      </p:sp>
      <p:sp>
        <p:nvSpPr>
          <p:cNvPr id="46" name="TextBox 45"/>
          <p:cNvSpPr txBox="1"/>
          <p:nvPr/>
        </p:nvSpPr>
        <p:spPr>
          <a:xfrm>
            <a:off x="3209213" y="3593591"/>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matching paths</a:t>
            </a:r>
          </a:p>
        </p:txBody>
      </p:sp>
      <p:sp>
        <p:nvSpPr>
          <p:cNvPr id="47" name="TextBox 46"/>
          <p:cNvSpPr txBox="1"/>
          <p:nvPr/>
        </p:nvSpPr>
        <p:spPr>
          <a:xfrm>
            <a:off x="4566491" y="3593591"/>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a:t>
            </a:r>
          </a:p>
        </p:txBody>
      </p:sp>
      <p:sp>
        <p:nvSpPr>
          <p:cNvPr id="48" name="TextBox 47"/>
          <p:cNvSpPr txBox="1"/>
          <p:nvPr/>
        </p:nvSpPr>
        <p:spPr>
          <a:xfrm>
            <a:off x="6020718" y="3593591"/>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 binding line</a:t>
            </a:r>
          </a:p>
        </p:txBody>
      </p:sp>
      <p:sp>
        <p:nvSpPr>
          <p:cNvPr id="49" name="TextBox 48"/>
          <p:cNvSpPr txBox="1"/>
          <p:nvPr/>
        </p:nvSpPr>
        <p:spPr>
          <a:xfrm>
            <a:off x="7571893" y="3593591"/>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a:t>
            </a:r>
          </a:p>
        </p:txBody>
      </p:sp>
      <p:sp>
        <p:nvSpPr>
          <p:cNvPr id="50" name="Rectangle 49"/>
          <p:cNvSpPr/>
          <p:nvPr/>
        </p:nvSpPr>
        <p:spPr>
          <a:xfrm>
            <a:off x="548640" y="392277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3977639"/>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Lose it and…</a:t>
            </a:r>
          </a:p>
        </p:txBody>
      </p:sp>
      <p:sp>
        <p:nvSpPr>
          <p:cNvPr id="52" name="TextBox 51"/>
          <p:cNvSpPr txBox="1"/>
          <p:nvPr/>
        </p:nvSpPr>
        <p:spPr>
          <a:xfrm>
            <a:off x="1754986"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The agent is unoriented</a:t>
            </a:r>
          </a:p>
        </p:txBody>
      </p:sp>
      <p:sp>
        <p:nvSpPr>
          <p:cNvPr id="53" name="TextBox 52"/>
          <p:cNvSpPr txBox="1"/>
          <p:nvPr/>
        </p:nvSpPr>
        <p:spPr>
          <a:xfrm>
            <a:off x="3209213" y="3977639"/>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Guidance stops arriving</a:t>
            </a:r>
          </a:p>
        </p:txBody>
      </p:sp>
      <p:sp>
        <p:nvSpPr>
          <p:cNvPr id="54" name="TextBox 53"/>
          <p:cNvSpPr txBox="1"/>
          <p:nvPr/>
        </p:nvSpPr>
        <p:spPr>
          <a:xfrm>
            <a:off x="4566491"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why</a:t>
            </a:r>
          </a:p>
        </p:txBody>
      </p:sp>
      <p:sp>
        <p:nvSpPr>
          <p:cNvPr id="55" name="TextBox 54"/>
          <p:cNvSpPr txBox="1"/>
          <p:nvPr/>
        </p:nvSpPr>
        <p:spPr>
          <a:xfrm>
            <a:off x="6020718" y="3977639"/>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rule</a:t>
            </a:r>
          </a:p>
        </p:txBody>
      </p:sp>
      <p:sp>
        <p:nvSpPr>
          <p:cNvPr id="56" name="TextBox 55"/>
          <p:cNvSpPr txBox="1"/>
          <p:nvPr/>
        </p:nvSpPr>
        <p:spPr>
          <a:xfrm>
            <a:off x="7571893" y="3977639"/>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how</a:t>
            </a:r>
          </a:p>
        </p:txBody>
      </p:sp>
      <p:sp>
        <p:nvSpPr>
          <p:cNvPr id="57" name="TextBox 5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Two rows do the work: "carries a check" isolates the NFR — the only one obliged to say how compliance is verified, which is why it leads into next week. "When it loads" separates the two context files from the three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CLAUDE.MD</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How big should it get?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scaling answer, because "keep it short" stops being useful advice at some point.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HONEST ANSWER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Lab 1.a said 100–200 lines. That is right — to start.</a:t>
            </a:r>
          </a:p>
          <a:p>
            <a:pPr algn="l">
              <a:lnSpc>
                <a:spcPct val="120000"/>
              </a:lnSpc>
              <a:spcAft>
                <a:spcPts val="800"/>
              </a:spcAft>
            </a:pPr>
            <a:r>
              <a:rPr sz="1100" b="1">
                <a:solidFill>
                  <a:srgbClr val="A9B7F7"/>
                </a:solidFill>
                <a:latin typeface="Arial"/>
              </a:rPr>
              <a:t>•  </a:t>
            </a:r>
            <a:r>
              <a:rPr sz="1100" b="0">
                <a:solidFill>
                  <a:srgbClr val="434343"/>
                </a:solidFill>
                <a:latin typeface="Arial"/>
              </a:rPr>
              <a:t>Past that, do not grow the file. Add a trigger row.</a:t>
            </a:r>
          </a:p>
          <a:p>
            <a:pPr algn="l">
              <a:lnSpc>
                <a:spcPct val="120000"/>
              </a:lnSpc>
              <a:spcAft>
                <a:spcPts val="800"/>
              </a:spcAft>
            </a:pPr>
            <a:r>
              <a:rPr sz="1100" b="1">
                <a:solidFill>
                  <a:srgbClr val="A9B7F7"/>
                </a:solidFill>
                <a:latin typeface="Arial"/>
              </a:rPr>
              <a:t>•  </a:t>
            </a:r>
            <a:r>
              <a:rPr sz="1100" b="0">
                <a:solidFill>
                  <a:srgbClr val="434343"/>
                </a:solidFill>
                <a:latin typeface="Arial"/>
              </a:rPr>
              <a:t>The table is the mechanism: always-loaded index, on-demand detail.</a:t>
            </a:r>
          </a:p>
          <a:p>
            <a:pPr algn="l">
              <a:lnSpc>
                <a:spcPct val="120000"/>
              </a:lnSpc>
              <a:spcAft>
                <a:spcPts val="800"/>
              </a:spcAft>
            </a:pPr>
            <a:r>
              <a:rPr sz="1100" b="1">
                <a:solidFill>
                  <a:srgbClr val="A9B7F7"/>
                </a:solidFill>
                <a:latin typeface="Arial"/>
              </a:rPr>
              <a:t>•  </a:t>
            </a:r>
            <a:r>
              <a:rPr sz="1100" b="0">
                <a:solidFill>
                  <a:srgbClr val="434343"/>
                </a:solidFill>
                <a:latin typeface="Arial"/>
              </a:rPr>
              <a:t>At corpus scale (100+ docs) you stop copying and start serving them.</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 THIS REPO</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Reference docs — read on demand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When you are…      | Read first        |</a:t>
            </a:r>
          </a:p>
          <a:p>
            <a:pPr algn="l">
              <a:lnSpc>
                <a:spcPct val="114000"/>
              </a:lnSpc>
              <a:spcAft>
                <a:spcPts val="0"/>
              </a:spcAft>
            </a:pPr>
            <a:r>
              <a:rPr sz="900" b="0">
                <a:solidFill>
                  <a:srgbClr val="434343"/>
                </a:solidFill>
                <a:latin typeface="Consolas"/>
              </a:rPr>
              <a:t>| ------------------ | ----------------- |</a:t>
            </a:r>
          </a:p>
          <a:p>
            <a:pPr algn="l">
              <a:lnSpc>
                <a:spcPct val="114000"/>
              </a:lnSpc>
              <a:spcAft>
                <a:spcPts val="0"/>
              </a:spcAft>
            </a:pPr>
            <a:r>
              <a:rPr sz="900" b="0">
                <a:solidFill>
                  <a:srgbClr val="434343"/>
                </a:solidFill>
                <a:latin typeface="Consolas"/>
              </a:rPr>
              <a:t>| Changing response  | docs/adr/0001…    |</a:t>
            </a:r>
          </a:p>
          <a:p>
            <a:pPr algn="l">
              <a:lnSpc>
                <a:spcPct val="114000"/>
              </a:lnSpc>
              <a:spcAft>
                <a:spcPts val="0"/>
              </a:spcAft>
            </a:pPr>
            <a:r>
              <a:rPr sz="900" b="0">
                <a:solidFill>
                  <a:srgbClr val="434343"/>
                </a:solidFill>
                <a:latin typeface="Consolas"/>
              </a:rPr>
              <a:t>| shapes or codes    |                   |</a:t>
            </a:r>
          </a:p>
          <a:p>
            <a:pPr algn="l">
              <a:lnSpc>
                <a:spcPct val="114000"/>
              </a:lnSpc>
              <a:spcAft>
                <a:spcPts val="0"/>
              </a:spcAft>
            </a:pPr>
            <a:r>
              <a:rPr sz="900" b="0">
                <a:solidFill>
                  <a:srgbClr val="434343"/>
                </a:solidFill>
                <a:latin typeface="Consolas"/>
              </a:rPr>
              <a:t>| Calling an         | docs/nfr/0001…    |</a:t>
            </a:r>
          </a:p>
          <a:p>
            <a:pPr algn="l">
              <a:lnSpc>
                <a:spcPct val="114000"/>
              </a:lnSpc>
              <a:spcAft>
                <a:spcPts val="0"/>
              </a:spcAft>
            </a:pPr>
            <a:r>
              <a:rPr sz="900" b="0">
                <a:solidFill>
                  <a:srgbClr val="434343"/>
                </a:solidFill>
                <a:latin typeface="Consolas"/>
              </a:rPr>
              <a:t>| external API       |                   |</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a trigger is a SITUATION,</a:t>
            </a:r>
          </a:p>
          <a:p>
            <a:pPr algn="l">
              <a:lnSpc>
                <a:spcPct val="114000"/>
              </a:lnSpc>
              <a:spcAft>
                <a:spcPts val="0"/>
              </a:spcAft>
            </a:pPr>
            <a:r>
              <a:rPr sz="900" b="0">
                <a:solidFill>
                  <a:srgbClr val="434343"/>
                </a:solidFill>
                <a:latin typeface="Consolas"/>
              </a:rPr>
              <a:t># not a topic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ADR</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rungs, and when to graduate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ships the light form. Know the heavier one exists and what it buys.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0584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182880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Nygard (start here)</a:t>
            </a:r>
          </a:p>
        </p:txBody>
      </p:sp>
      <p:sp>
        <p:nvSpPr>
          <p:cNvPr id="12" name="TextBox 11"/>
          <p:cNvSpPr txBox="1"/>
          <p:nvPr/>
        </p:nvSpPr>
        <p:spPr>
          <a:xfrm>
            <a:off x="512064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MADR (graduate to)</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0058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Sections</a:t>
            </a:r>
          </a:p>
        </p:txBody>
      </p:sp>
      <p:sp>
        <p:nvSpPr>
          <p:cNvPr id="15" name="TextBox 14"/>
          <p:cNvSpPr txBox="1"/>
          <p:nvPr/>
        </p:nvSpPr>
        <p:spPr>
          <a:xfrm>
            <a:off x="182880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Context · Decision · Status · Consequences</a:t>
            </a:r>
          </a:p>
        </p:txBody>
      </p:sp>
      <p:sp>
        <p:nvSpPr>
          <p:cNvPr id="16" name="TextBox 15"/>
          <p:cNvSpPr txBox="1"/>
          <p:nvPr/>
        </p:nvSpPr>
        <p:spPr>
          <a:xfrm>
            <a:off x="5120640" y="2377440"/>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 Decision Drivers · Considered Options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0058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Good for</a:t>
            </a:r>
          </a:p>
        </p:txBody>
      </p:sp>
      <p:sp>
        <p:nvSpPr>
          <p:cNvPr id="19" name="TextBox 18"/>
          <p:cNvSpPr txBox="1"/>
          <p:nvPr/>
        </p:nvSpPr>
        <p:spPr>
          <a:xfrm>
            <a:off x="182880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Most decisions, most teams</a:t>
            </a:r>
          </a:p>
        </p:txBody>
      </p:sp>
      <p:sp>
        <p:nvSpPr>
          <p:cNvPr id="20" name="TextBox 19"/>
          <p:cNvSpPr txBox="1"/>
          <p:nvPr/>
        </p:nvSpPr>
        <p:spPr>
          <a:xfrm>
            <a:off x="5120640" y="2761488"/>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Contested or expensive choices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0058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Cost</a:t>
            </a:r>
          </a:p>
        </p:txBody>
      </p:sp>
      <p:sp>
        <p:nvSpPr>
          <p:cNvPr id="23" name="TextBox 22"/>
          <p:cNvSpPr txBox="1"/>
          <p:nvPr/>
        </p:nvSpPr>
        <p:spPr>
          <a:xfrm>
            <a:off x="182880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Ten minutes</a:t>
            </a:r>
          </a:p>
        </p:txBody>
      </p:sp>
      <p:sp>
        <p:nvSpPr>
          <p:cNvPr id="24" name="TextBox 23"/>
          <p:cNvSpPr txBox="1"/>
          <p:nvPr/>
        </p:nvSpPr>
        <p:spPr>
          <a:xfrm>
            <a:off x="5120640" y="3145536"/>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meeting</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0058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when</a:t>
            </a:r>
          </a:p>
        </p:txBody>
      </p:sp>
      <p:sp>
        <p:nvSpPr>
          <p:cNvPr id="27" name="TextBox 26"/>
          <p:cNvSpPr txBox="1"/>
          <p:nvPr/>
        </p:nvSpPr>
        <p:spPr>
          <a:xfrm>
            <a:off x="1828800" y="3529584"/>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Consequences keep coming out thin</a:t>
            </a:r>
          </a:p>
        </p:txBody>
      </p:sp>
      <p:sp>
        <p:nvSpPr>
          <p:cNvPr id="28" name="TextBox 27"/>
          <p:cNvSpPr txBox="1"/>
          <p:nvPr/>
        </p:nvSpPr>
        <p:spPr>
          <a:xfrm>
            <a:off x="5120640" y="3529584"/>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need the alternatives on record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The published failure mode is not template choice — it is that nobody defined when an ADR is required, who reviews it, or where it lives. That is slide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NFR</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rungs — and the field that matters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An NFR without a verification method is a wish with a document number.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Prose NFR (this repo)</a:t>
            </a:r>
          </a:p>
        </p:txBody>
      </p:sp>
      <p:sp>
        <p:nvSpPr>
          <p:cNvPr id="12" name="TextBox 11"/>
          <p:cNvSpPr txBox="1"/>
          <p:nvPr/>
        </p:nvSpPr>
        <p:spPr>
          <a:xfrm>
            <a:off x="512064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enforceable form</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Shape</a:t>
            </a:r>
          </a:p>
        </p:txBody>
      </p:sp>
      <p:sp>
        <p:nvSpPr>
          <p:cNvPr id="15" name="TextBox 14"/>
          <p:cNvSpPr txBox="1"/>
          <p:nvPr/>
        </p:nvSpPr>
        <p:spPr>
          <a:xfrm>
            <a:off x="2011680" y="2377440"/>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few paragraphs of rule</a:t>
            </a:r>
          </a:p>
        </p:txBody>
      </p:sp>
      <p:sp>
        <p:nvSpPr>
          <p:cNvPr id="16" name="TextBox 15"/>
          <p:cNvSpPr txBox="1"/>
          <p:nvPr/>
        </p:nvSpPr>
        <p:spPr>
          <a:xfrm>
            <a:off x="5120640" y="2377440"/>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Classification · Requirements · Thresholds · Verification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Says what</a:t>
            </a:r>
          </a:p>
        </p:txBody>
      </p:sp>
      <p:sp>
        <p:nvSpPr>
          <p:cNvPr id="19" name="TextBox 18"/>
          <p:cNvSpPr txBox="1"/>
          <p:nvPr/>
        </p:nvSpPr>
        <p:spPr>
          <a:xfrm>
            <a:off x="2011680" y="2761488"/>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Yes</a:t>
            </a:r>
          </a:p>
        </p:txBody>
      </p:sp>
      <p:sp>
        <p:nvSpPr>
          <p:cNvPr id="20" name="TextBox 19"/>
          <p:cNvSpPr txBox="1"/>
          <p:nvPr/>
        </p:nvSpPr>
        <p:spPr>
          <a:xfrm>
            <a:off x="5120640" y="2761488"/>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Yes, as numbered MUSTs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Says how checked</a:t>
            </a:r>
          </a:p>
        </p:txBody>
      </p:sp>
      <p:sp>
        <p:nvSpPr>
          <p:cNvPr id="23" name="TextBox 22"/>
          <p:cNvSpPr txBox="1"/>
          <p:nvPr/>
        </p:nvSpPr>
        <p:spPr>
          <a:xfrm>
            <a:off x="2011680" y="3145536"/>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B42A2A"/>
                </a:solidFill>
                <a:latin typeface="Arial"/>
              </a:rPr>
              <a:t>Not really</a:t>
            </a:r>
          </a:p>
        </p:txBody>
      </p:sp>
      <p:sp>
        <p:nvSpPr>
          <p:cNvPr id="24" name="TextBox 23"/>
          <p:cNvSpPr txBox="1"/>
          <p:nvPr/>
        </p:nvSpPr>
        <p:spPr>
          <a:xfrm>
            <a:off x="5120640" y="3145536"/>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Explicitly, per clause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when</a:t>
            </a:r>
          </a:p>
        </p:txBody>
      </p:sp>
      <p:sp>
        <p:nvSpPr>
          <p:cNvPr id="27" name="TextBox 26"/>
          <p:cNvSpPr txBox="1"/>
          <p:nvPr/>
        </p:nvSpPr>
        <p:spPr>
          <a:xfrm>
            <a:off x="2011680" y="3529584"/>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starts being ignored</a:t>
            </a:r>
          </a:p>
        </p:txBody>
      </p:sp>
      <p:sp>
        <p:nvSpPr>
          <p:cNvPr id="28" name="TextBox 27"/>
          <p:cNvSpPr txBox="1"/>
          <p:nvPr/>
        </p:nvSpPr>
        <p:spPr>
          <a:xfrm>
            <a:off x="5120640" y="3529584"/>
            <a:ext cx="33832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want a gate, not a hope</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"How is this checked?" is the question that turns a rule into a gate — and it is the one you will be asked for in the exercise.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CHEAP TWO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Recipes and rules files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Both are cheap, both are underused, and slides 7–8 already told them apart.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3963924"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3963924"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3598164"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BEST-PRACTICE RECIPE</a:t>
            </a:r>
          </a:p>
        </p:txBody>
      </p:sp>
      <p:sp>
        <p:nvSpPr>
          <p:cNvPr id="12" name="TextBox 11"/>
          <p:cNvSpPr txBox="1"/>
          <p:nvPr/>
        </p:nvSpPr>
        <p:spPr>
          <a:xfrm>
            <a:off x="731520" y="2816352"/>
            <a:ext cx="3598164"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Write it the second time you answer the same question</a:t>
            </a:r>
          </a:p>
          <a:p>
            <a:pPr algn="l">
              <a:lnSpc>
                <a:spcPct val="118000"/>
              </a:lnSpc>
              <a:spcAft>
                <a:spcPts val="600"/>
              </a:spcAft>
            </a:pPr>
            <a:r>
              <a:rPr sz="1000" b="1">
                <a:solidFill>
                  <a:srgbClr val="A9B7F7"/>
                </a:solidFill>
                <a:latin typeface="Arial"/>
              </a:rPr>
              <a:t>•  </a:t>
            </a:r>
            <a:r>
              <a:rPr sz="1000" b="0">
                <a:solidFill>
                  <a:srgbClr val="434343"/>
                </a:solidFill>
                <a:latin typeface="Arial"/>
              </a:rPr>
              <a:t>Prescriptive steps, not principles</a:t>
            </a:r>
          </a:p>
          <a:p>
            <a:pPr algn="l">
              <a:lnSpc>
                <a:spcPct val="118000"/>
              </a:lnSpc>
              <a:spcAft>
                <a:spcPts val="600"/>
              </a:spcAft>
            </a:pPr>
            <a:r>
              <a:rPr sz="1000" b="1">
                <a:solidFill>
                  <a:srgbClr val="A9B7F7"/>
                </a:solidFill>
                <a:latin typeface="Arial"/>
              </a:rPr>
              <a:t>•  </a:t>
            </a:r>
            <a:r>
              <a:rPr sz="1000" b="0">
                <a:solidFill>
                  <a:srgbClr val="434343"/>
                </a:solidFill>
                <a:latin typeface="Arial"/>
              </a:rPr>
              <a:t>This repo: adding-a-resource.md</a:t>
            </a:r>
          </a:p>
        </p:txBody>
      </p:sp>
      <p:sp>
        <p:nvSpPr>
          <p:cNvPr id="13" name="Rectangle 12"/>
          <p:cNvSpPr/>
          <p:nvPr/>
        </p:nvSpPr>
        <p:spPr>
          <a:xfrm>
            <a:off x="4631436" y="2103120"/>
            <a:ext cx="3963924"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31436" y="2103120"/>
            <a:ext cx="3963924"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14316" y="2286000"/>
            <a:ext cx="3598164"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RULES FILE</a:t>
            </a:r>
          </a:p>
        </p:txBody>
      </p:sp>
      <p:sp>
        <p:nvSpPr>
          <p:cNvPr id="16" name="TextBox 15"/>
          <p:cNvSpPr txBox="1"/>
          <p:nvPr/>
        </p:nvSpPr>
        <p:spPr>
          <a:xfrm>
            <a:off x="4814316" y="2816352"/>
            <a:ext cx="3598164"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`.claude/rules/*.md`, scoped by path</a:t>
            </a:r>
          </a:p>
          <a:p>
            <a:pPr algn="l">
              <a:lnSpc>
                <a:spcPct val="118000"/>
              </a:lnSpc>
              <a:spcAft>
                <a:spcPts val="600"/>
              </a:spcAft>
            </a:pPr>
            <a:r>
              <a:rPr sz="1000" b="1">
                <a:solidFill>
                  <a:srgbClr val="A9B7F7"/>
                </a:solidFill>
                <a:latin typeface="Arial"/>
              </a:rPr>
              <a:t>•  </a:t>
            </a:r>
            <a:r>
              <a:rPr sz="1000" b="0">
                <a:solidFill>
                  <a:srgbClr val="434343"/>
                </a:solidFill>
                <a:latin typeface="Arial"/>
              </a:rPr>
              <a:t>Loads only when those files are open</a:t>
            </a:r>
          </a:p>
          <a:p>
            <a:pPr algn="l">
              <a:lnSpc>
                <a:spcPct val="118000"/>
              </a:lnSpc>
              <a:spcAft>
                <a:spcPts val="600"/>
              </a:spcAft>
            </a:pPr>
            <a:r>
              <a:rPr sz="1000" b="1">
                <a:solidFill>
                  <a:srgbClr val="A9B7F7"/>
                </a:solidFill>
                <a:latin typeface="Arial"/>
              </a:rPr>
              <a:t>•  </a:t>
            </a:r>
            <a:r>
              <a:rPr sz="1000" b="0">
                <a:solidFill>
                  <a:srgbClr val="434343"/>
                </a:solidFill>
                <a:latin typeface="Arial"/>
              </a:rPr>
              <a:t>This repo: testing.md on test files</a:t>
            </a:r>
          </a:p>
        </p:txBody>
      </p:sp>
      <p:sp>
        <p:nvSpPr>
          <p:cNvPr id="17" name="TextBox 16"/>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If a rule only matters in some files, a rules file beats a CLAUDE.md line — it costs nothing until it is relevant.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When is a document required?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reason ADR practices die is not the template. It is that nobody wrote down the trigger.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2801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Write a…</a:t>
            </a:r>
          </a:p>
        </p:txBody>
      </p:sp>
      <p:sp>
        <p:nvSpPr>
          <p:cNvPr id="11" name="TextBox 10"/>
          <p:cNvSpPr txBox="1"/>
          <p:nvPr/>
        </p:nvSpPr>
        <p:spPr>
          <a:xfrm>
            <a:off x="2103120" y="2089404"/>
            <a:ext cx="64008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When…</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2801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4" name="TextBox 13"/>
          <p:cNvSpPr txBox="1"/>
          <p:nvPr/>
        </p:nvSpPr>
        <p:spPr>
          <a:xfrm>
            <a:off x="2103120" y="2377440"/>
            <a:ext cx="64008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choice is hard to reverse, the team disagreed, or a newcomer would ask "why is it like this?"</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2801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17" name="TextBox 16"/>
          <p:cNvSpPr txBox="1"/>
          <p:nvPr/>
        </p:nvSpPr>
        <p:spPr>
          <a:xfrm>
            <a:off x="2103120" y="2761488"/>
            <a:ext cx="64008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spans features AND you can say how compliance is checked</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2801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0" name="TextBox 19"/>
          <p:cNvSpPr txBox="1"/>
          <p:nvPr/>
        </p:nvSpPr>
        <p:spPr>
          <a:xfrm>
            <a:off x="2103120" y="3145536"/>
            <a:ext cx="64008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have now answered the same question twice</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2801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 line</a:t>
            </a:r>
          </a:p>
        </p:txBody>
      </p:sp>
      <p:sp>
        <p:nvSpPr>
          <p:cNvPr id="23" name="TextBox 22"/>
          <p:cNvSpPr txBox="1"/>
          <p:nvPr/>
        </p:nvSpPr>
        <p:spPr>
          <a:xfrm>
            <a:off x="2103120" y="3529584"/>
            <a:ext cx="64008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needs it every session — and it is one line, not a page</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2801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26" name="TextBox 25"/>
          <p:cNvSpPr txBox="1"/>
          <p:nvPr/>
        </p:nvSpPr>
        <p:spPr>
          <a:xfrm>
            <a:off x="2103120" y="3913631"/>
            <a:ext cx="64008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it only applies when specific files are open</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Undefined triggers are the documented cause of governance decay: no rule for when one is required, who reviews it, or where it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Who writes, who reviews, where it lives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operational half. This is what the "how we use these" README exists to answer.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Authored by a few. </a:t>
            </a:r>
            <a:r>
              <a:rPr sz="1250" b="0">
                <a:solidFill>
                  <a:srgbClr val="434343"/>
                </a:solidFill>
                <a:latin typeface="Arial"/>
              </a:rPr>
              <a:t>Standards are written by a small group and adopted by many. That is normal, not elitist.</a:t>
            </a:r>
          </a:p>
          <a:p>
            <a:pPr algn="l">
              <a:lnSpc>
                <a:spcPct val="122000"/>
              </a:lnSpc>
              <a:spcAft>
                <a:spcPts val="900"/>
              </a:spcAft>
            </a:pPr>
            <a:r>
              <a:rPr sz="1250" b="1">
                <a:solidFill>
                  <a:srgbClr val="403FE8"/>
                </a:solidFill>
                <a:latin typeface="Arial"/>
              </a:rPr>
              <a:t>•  </a:t>
            </a:r>
            <a:r>
              <a:rPr sz="1250" b="1">
                <a:solidFill>
                  <a:srgbClr val="13135E"/>
                </a:solidFill>
                <a:latin typeface="Arial"/>
              </a:rPr>
              <a:t>Reviewed by a name. </a:t>
            </a:r>
            <a:r>
              <a:rPr sz="1250" b="0">
                <a:solidFill>
                  <a:srgbClr val="434343"/>
                </a:solidFill>
                <a:latin typeface="Arial"/>
              </a:rPr>
              <a:t>Peer review via PR is the acceptance gate — an unreviewed standard is a draft.</a:t>
            </a:r>
          </a:p>
          <a:p>
            <a:pPr algn="l">
              <a:lnSpc>
                <a:spcPct val="122000"/>
              </a:lnSpc>
              <a:spcAft>
                <a:spcPts val="900"/>
              </a:spcAft>
            </a:pPr>
            <a:r>
              <a:rPr sz="1250" b="1">
                <a:solidFill>
                  <a:srgbClr val="403FE8"/>
                </a:solidFill>
                <a:latin typeface="Arial"/>
              </a:rPr>
              <a:t>•  </a:t>
            </a:r>
            <a:r>
              <a:rPr sz="1250" b="1">
                <a:solidFill>
                  <a:srgbClr val="13135E"/>
                </a:solidFill>
                <a:latin typeface="Arial"/>
              </a:rPr>
              <a:t>Lives where people already look. </a:t>
            </a:r>
            <a:r>
              <a:rPr sz="1250" b="0">
                <a:solidFill>
                  <a:srgbClr val="434343"/>
                </a:solidFill>
                <a:latin typeface="Arial"/>
              </a:rPr>
              <a:t>In the repo, next to the code, pointed at from CLAUDE.md. Not a wiki nobody opens.</a:t>
            </a:r>
          </a:p>
          <a:p>
            <a:pPr algn="l">
              <a:lnSpc>
                <a:spcPct val="122000"/>
              </a:lnSpc>
              <a:spcAft>
                <a:spcPts val="900"/>
              </a:spcAft>
            </a:pPr>
            <a:r>
              <a:rPr sz="1250" b="1">
                <a:solidFill>
                  <a:srgbClr val="403FE8"/>
                </a:solidFill>
                <a:latin typeface="Arial"/>
              </a:rPr>
              <a:t>•  </a:t>
            </a:r>
            <a:r>
              <a:rPr sz="1250" b="1">
                <a:solidFill>
                  <a:srgbClr val="13135E"/>
                </a:solidFill>
                <a:latin typeface="Arial"/>
              </a:rPr>
              <a:t>Owned after today. </a:t>
            </a:r>
            <a:r>
              <a:rPr sz="1250" b="0">
                <a:solidFill>
                  <a:srgbClr val="434343"/>
                </a:solidFill>
                <a:latin typeface="Arial"/>
              </a:rPr>
              <a:t>Someone keeps it true. Unowned documents rot faster than no documents.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Drafting with Claude, honestly</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ETH finding again: generated context hurts, human-written helps. Draft, do not delegate.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DIVISION OF LABOUR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drafts from EVIDENCE in the code.</a:t>
            </a:r>
          </a:p>
          <a:p>
            <a:pPr algn="l">
              <a:lnSpc>
                <a:spcPct val="120000"/>
              </a:lnSpc>
              <a:spcAft>
                <a:spcPts val="800"/>
              </a:spcAft>
            </a:pPr>
            <a:r>
              <a:rPr sz="1100" b="1">
                <a:solidFill>
                  <a:srgbClr val="A9B7F7"/>
                </a:solidFill>
                <a:latin typeface="Arial"/>
              </a:rPr>
              <a:t>•  </a:t>
            </a:r>
            <a:r>
              <a:rPr sz="1100" b="0">
                <a:solidFill>
                  <a:srgbClr val="434343"/>
                </a:solidFill>
                <a:latin typeface="Arial"/>
              </a:rPr>
              <a:t>You own the Decision and the Consequences.</a:t>
            </a:r>
          </a:p>
          <a:p>
            <a:pPr algn="l">
              <a:lnSpc>
                <a:spcPct val="120000"/>
              </a:lnSpc>
              <a:spcAft>
                <a:spcPts val="800"/>
              </a:spcAft>
            </a:pPr>
            <a:r>
              <a:rPr sz="1100" b="1">
                <a:solidFill>
                  <a:srgbClr val="A9B7F7"/>
                </a:solidFill>
                <a:latin typeface="Arial"/>
              </a:rPr>
              <a:t>•  </a:t>
            </a:r>
            <a:r>
              <a:rPr sz="1100" b="0">
                <a:solidFill>
                  <a:srgbClr val="434343"/>
                </a:solidFill>
                <a:latin typeface="Arial"/>
              </a:rPr>
              <a:t>Never ask it what the team should do.</a:t>
            </a:r>
          </a:p>
          <a:p>
            <a:pPr algn="l">
              <a:lnSpc>
                <a:spcPct val="120000"/>
              </a:lnSpc>
              <a:spcAft>
                <a:spcPts val="800"/>
              </a:spcAft>
            </a:pPr>
            <a:r>
              <a:rPr sz="1100" b="1">
                <a:solidFill>
                  <a:srgbClr val="A9B7F7"/>
                </a:solidFill>
                <a:latin typeface="Arial"/>
              </a:rPr>
              <a:t>•  </a:t>
            </a:r>
            <a:r>
              <a:rPr sz="1100" b="0">
                <a:solidFill>
                  <a:srgbClr val="434343"/>
                </a:solidFill>
                <a:latin typeface="Arial"/>
              </a:rPr>
              <a:t>Read the draft as someone who disagrees.</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PROMPT STARTERS</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gather evidence</a:t>
            </a:r>
          </a:p>
          <a:p>
            <a:pPr algn="l">
              <a:lnSpc>
                <a:spcPct val="114000"/>
              </a:lnSpc>
              <a:spcAft>
                <a:spcPts val="0"/>
              </a:spcAft>
            </a:pPr>
            <a:r>
              <a:rPr sz="900" b="0">
                <a:solidFill>
                  <a:srgbClr val="434343"/>
                </a:solidFill>
                <a:latin typeface="Consolas"/>
              </a:rPr>
              <a:t>Read @server/src/repositories/ and</a:t>
            </a:r>
          </a:p>
          <a:p>
            <a:pPr algn="l">
              <a:lnSpc>
                <a:spcPct val="114000"/>
              </a:lnSpc>
              <a:spcAft>
                <a:spcPts val="0"/>
              </a:spcAft>
            </a:pPr>
            <a:r>
              <a:rPr sz="900" b="0">
                <a:solidFill>
                  <a:srgbClr val="434343"/>
                </a:solidFill>
                <a:latin typeface="Consolas"/>
              </a:rPr>
              <a:t>@server/src/services/todos.service.ts.</a:t>
            </a:r>
          </a:p>
          <a:p>
            <a:pPr algn="l">
              <a:lnSpc>
                <a:spcPct val="114000"/>
              </a:lnSpc>
              <a:spcAft>
                <a:spcPts val="0"/>
              </a:spcAft>
            </a:pPr>
            <a:r>
              <a:rPr sz="900" b="0">
                <a:solidFill>
                  <a:srgbClr val="434343"/>
                </a:solidFill>
                <a:latin typeface="Consolas"/>
              </a:rPr>
              <a:t>What boundary do these enforce, and</a:t>
            </a:r>
          </a:p>
          <a:p>
            <a:pPr algn="l">
              <a:lnSpc>
                <a:spcPct val="114000"/>
              </a:lnSpc>
              <a:spcAft>
                <a:spcPts val="0"/>
              </a:spcAft>
            </a:pPr>
            <a:r>
              <a:rPr sz="900" b="0">
                <a:solidFill>
                  <a:srgbClr val="434343"/>
                </a:solidFill>
                <a:latin typeface="Consolas"/>
              </a:rPr>
              <a:t>what breaks if violated? Do not</a:t>
            </a:r>
          </a:p>
          <a:p>
            <a:pPr algn="l">
              <a:lnSpc>
                <a:spcPct val="114000"/>
              </a:lnSpc>
              <a:spcAft>
                <a:spcPts val="0"/>
              </a:spcAft>
            </a:pPr>
            <a:r>
              <a:rPr sz="900" b="0">
                <a:solidFill>
                  <a:srgbClr val="434343"/>
                </a:solidFill>
                <a:latin typeface="Consolas"/>
              </a:rPr>
              <a:t>propose changes.</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draft, but leave the decision</a:t>
            </a:r>
          </a:p>
          <a:p>
            <a:pPr algn="l">
              <a:lnSpc>
                <a:spcPct val="114000"/>
              </a:lnSpc>
              <a:spcAft>
                <a:spcPts val="0"/>
              </a:spcAft>
            </a:pPr>
            <a:r>
              <a:rPr sz="900" b="0">
                <a:solidFill>
                  <a:srgbClr val="434343"/>
                </a:solidFill>
                <a:latin typeface="Consolas"/>
              </a:rPr>
              <a:t>Using @docs/adr/template.md, draft</a:t>
            </a:r>
          </a:p>
          <a:p>
            <a:pPr algn="l">
              <a:lnSpc>
                <a:spcPct val="114000"/>
              </a:lnSpc>
              <a:spcAft>
                <a:spcPts val="0"/>
              </a:spcAft>
            </a:pPr>
            <a:r>
              <a:rPr sz="900" b="0">
                <a:solidFill>
                  <a:srgbClr val="434343"/>
                </a:solidFill>
                <a:latin typeface="Consolas"/>
              </a:rPr>
              <a:t>an ADR for that boundary. Fill</a:t>
            </a:r>
          </a:p>
          <a:p>
            <a:pPr algn="l">
              <a:lnSpc>
                <a:spcPct val="114000"/>
              </a:lnSpc>
              <a:spcAft>
                <a:spcPts val="0"/>
              </a:spcAft>
            </a:pPr>
            <a:r>
              <a:rPr sz="900" b="0">
                <a:solidFill>
                  <a:srgbClr val="434343"/>
                </a:solidFill>
                <a:latin typeface="Consolas"/>
              </a:rPr>
              <a:t>Context and Consequences from what</a:t>
            </a:r>
          </a:p>
          <a:p>
            <a:pPr algn="l">
              <a:lnSpc>
                <a:spcPct val="114000"/>
              </a:lnSpc>
              <a:spcAft>
                <a:spcPts val="0"/>
              </a:spcAft>
            </a:pPr>
            <a:r>
              <a:rPr sz="900" b="0">
                <a:solidFill>
                  <a:srgbClr val="434343"/>
                </a:solidFill>
                <a:latin typeface="Consolas"/>
              </a:rPr>
              <a:t>you read. Leave Decision as a</a:t>
            </a:r>
          </a:p>
          <a:p>
            <a:pPr algn="l">
              <a:lnSpc>
                <a:spcPct val="114000"/>
              </a:lnSpc>
              <a:spcAft>
                <a:spcPts val="0"/>
              </a:spcAft>
            </a:pPr>
            <a:r>
              <a:rPr sz="900" b="0">
                <a:solidFill>
                  <a:srgbClr val="434343"/>
                </a:solidFill>
                <a:latin typeface="Consolas"/>
              </a:rPr>
              <a:t>question for me to answer.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LIFECYCLE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Keeping them true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half of governance nobody plans for: what happens when the world moves.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Supersede, never edit, an accepted ADR. </a:t>
            </a:r>
            <a:r>
              <a:rPr sz="1250" b="0">
                <a:solidFill>
                  <a:srgbClr val="434343"/>
                </a:solidFill>
                <a:latin typeface="Arial"/>
              </a:rPr>
              <a:t>The old decision happened. Write a new one that replaces it.</a:t>
            </a:r>
          </a:p>
          <a:p>
            <a:pPr algn="l">
              <a:lnSpc>
                <a:spcPct val="122000"/>
              </a:lnSpc>
              <a:spcAft>
                <a:spcPts val="900"/>
              </a:spcAft>
            </a:pPr>
            <a:r>
              <a:rPr sz="1250" b="1">
                <a:solidFill>
                  <a:srgbClr val="403FE8"/>
                </a:solidFill>
                <a:latin typeface="Arial"/>
              </a:rPr>
              <a:t>•  </a:t>
            </a:r>
            <a:r>
              <a:rPr sz="1250" b="1">
                <a:solidFill>
                  <a:srgbClr val="13135E"/>
                </a:solidFill>
                <a:latin typeface="Arial"/>
              </a:rPr>
              <a:t>Revise NFRs in place. </a:t>
            </a:r>
            <a:r>
              <a:rPr sz="1250" b="0">
                <a:solidFill>
                  <a:srgbClr val="434343"/>
                </a:solidFill>
                <a:latin typeface="Arial"/>
              </a:rPr>
              <a:t>They describe what holds now, so they change when the rule changes.</a:t>
            </a:r>
          </a:p>
          <a:p>
            <a:pPr algn="l">
              <a:lnSpc>
                <a:spcPct val="122000"/>
              </a:lnSpc>
              <a:spcAft>
                <a:spcPts val="900"/>
              </a:spcAft>
            </a:pPr>
            <a:r>
              <a:rPr sz="1250" b="1">
                <a:solidFill>
                  <a:srgbClr val="403FE8"/>
                </a:solidFill>
                <a:latin typeface="Arial"/>
              </a:rPr>
              <a:t>•  </a:t>
            </a:r>
            <a:r>
              <a:rPr sz="1250" b="1">
                <a:solidFill>
                  <a:srgbClr val="13135E"/>
                </a:solidFill>
                <a:latin typeface="Arial"/>
              </a:rPr>
              <a:t>Every rule cites the incident that produced it. </a:t>
            </a:r>
            <a:r>
              <a:rPr sz="1250" b="0">
                <a:solidFill>
                  <a:srgbClr val="434343"/>
                </a:solidFill>
                <a:latin typeface="Arial"/>
              </a:rPr>
              <a:t>A "Why" line naming a real failure survives staff turnover; "best practice" does not.</a:t>
            </a:r>
          </a:p>
          <a:p>
            <a:pPr algn="l">
              <a:lnSpc>
                <a:spcPct val="122000"/>
              </a:lnSpc>
              <a:spcAft>
                <a:spcPts val="900"/>
              </a:spcAft>
            </a:pPr>
            <a:r>
              <a:rPr sz="1250" b="1">
                <a:solidFill>
                  <a:srgbClr val="403FE8"/>
                </a:solidFill>
                <a:latin typeface="Arial"/>
              </a:rPr>
              <a:t>•  </a:t>
            </a:r>
            <a:r>
              <a:rPr sz="1250" b="1">
                <a:solidFill>
                  <a:srgbClr val="13135E"/>
                </a:solidFill>
                <a:latin typeface="Arial"/>
              </a:rPr>
              <a:t>Review on a cadence, not on vibes. </a:t>
            </a:r>
            <a:r>
              <a:rPr sz="1250" b="0">
                <a:solidFill>
                  <a:srgbClr val="434343"/>
                </a:solidFill>
                <a:latin typeface="Arial"/>
              </a:rPr>
              <a:t>A date on the document, and a person against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write an ADR</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repository boundary. Watch the whole shape, then you drive.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REPRODUCE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gap we are documenting</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real, load-bearing boundary in this repo with no recorded reasoning behind it.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The rule exists. </a:t>
            </a:r>
            <a:r>
              <a:rPr sz="1250" b="0">
                <a:solidFill>
                  <a:srgbClr val="434343"/>
                </a:solidFill>
                <a:latin typeface="Arial"/>
              </a:rPr>
              <a:t>CLAUDE.md says routes and services never import `db/store.ts`.</a:t>
            </a:r>
          </a:p>
          <a:p>
            <a:pPr algn="l">
              <a:lnSpc>
                <a:spcPct val="122000"/>
              </a:lnSpc>
              <a:spcAft>
                <a:spcPts val="900"/>
              </a:spcAft>
            </a:pPr>
            <a:r>
              <a:rPr sz="1250" b="1">
                <a:solidFill>
                  <a:srgbClr val="403FE8"/>
                </a:solidFill>
                <a:latin typeface="Arial"/>
              </a:rPr>
              <a:t>•  </a:t>
            </a:r>
            <a:r>
              <a:rPr sz="1250" b="1">
                <a:solidFill>
                  <a:srgbClr val="13135E"/>
                </a:solidFill>
                <a:latin typeface="Arial"/>
              </a:rPr>
              <a:t>The code obeys it. </a:t>
            </a:r>
            <a:r>
              <a:rPr sz="1250" b="0">
                <a:solidFill>
                  <a:srgbClr val="434343"/>
                </a:solidFill>
                <a:latin typeface="Arial"/>
              </a:rPr>
              <a:t>Only `server/src/repositories/` touches the store.</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says why. </a:t>
            </a:r>
            <a:r>
              <a:rPr sz="1250" b="0">
                <a:solidFill>
                  <a:srgbClr val="434343"/>
                </a:solidFill>
                <a:latin typeface="Arial"/>
              </a:rPr>
              <a:t>No ADR. A newcomer sees a constraint with no rationale — so they route around it.</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checks it. </a:t>
            </a:r>
            <a:r>
              <a:rPr sz="1250" b="0">
                <a:solidFill>
                  <a:srgbClr val="434343"/>
                </a:solidFill>
                <a:latin typeface="Arial"/>
              </a:rPr>
              <a:t>Which is next week's problem, and worth noticing 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DRAFT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Evidence in, decision mine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live. The interesting part is the Consequences section.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WHAT I AM DOING</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Prompt Claude to READ, not to conclude.</a:t>
            </a:r>
          </a:p>
          <a:p>
            <a:pPr algn="l">
              <a:lnSpc>
                <a:spcPct val="120000"/>
              </a:lnSpc>
              <a:spcAft>
                <a:spcPts val="800"/>
              </a:spcAft>
            </a:pPr>
            <a:r>
              <a:rPr sz="1100" b="1">
                <a:solidFill>
                  <a:srgbClr val="A9B7F7"/>
                </a:solidFill>
                <a:latin typeface="Arial"/>
              </a:rPr>
              <a:t>•  </a:t>
            </a:r>
            <a:r>
              <a:rPr sz="1100" b="0">
                <a:solidFill>
                  <a:srgbClr val="434343"/>
                </a:solidFill>
                <a:latin typeface="Arial"/>
              </a:rPr>
              <a:t>Paste its Context. Edit it for accuracy.</a:t>
            </a:r>
          </a:p>
          <a:p>
            <a:pPr algn="l">
              <a:lnSpc>
                <a:spcPct val="120000"/>
              </a:lnSpc>
              <a:spcAft>
                <a:spcPts val="800"/>
              </a:spcAft>
            </a:pPr>
            <a:r>
              <a:rPr sz="1100" b="1">
                <a:solidFill>
                  <a:srgbClr val="A9B7F7"/>
                </a:solidFill>
                <a:latin typeface="Arial"/>
              </a:rPr>
              <a:t>•  </a:t>
            </a:r>
            <a:r>
              <a:rPr sz="1100" b="0">
                <a:solidFill>
                  <a:srgbClr val="434343"/>
                </a:solidFill>
                <a:latin typeface="Arial"/>
              </a:rPr>
              <a:t>Write the Decision myself, in one sentence.</a:t>
            </a:r>
          </a:p>
          <a:p>
            <a:pPr algn="l">
              <a:lnSpc>
                <a:spcPct val="120000"/>
              </a:lnSpc>
              <a:spcAft>
                <a:spcPts val="800"/>
              </a:spcAft>
            </a:pPr>
            <a:r>
              <a:rPr sz="1100" b="1">
                <a:solidFill>
                  <a:srgbClr val="A9B7F7"/>
                </a:solidFill>
                <a:latin typeface="Arial"/>
              </a:rPr>
              <a:t>•  </a:t>
            </a:r>
            <a:r>
              <a:rPr sz="1100" b="0">
                <a:solidFill>
                  <a:srgbClr val="434343"/>
                </a:solidFill>
                <a:latin typeface="Arial"/>
              </a:rPr>
              <a:t>Add a consequence that is genuinely a cost.</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DOCS/ADR/0002-...MD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750" b="0">
                <a:solidFill>
                  <a:srgbClr val="434343"/>
                </a:solidFill>
                <a:latin typeface="Consolas"/>
              </a:rPr>
              <a:t># ADR-0002: Repository-only store access</a:t>
            </a:r>
          </a:p>
          <a:p>
            <a:pPr algn="l">
              <a:lnSpc>
                <a:spcPct val="114000"/>
              </a:lnSpc>
              <a:spcAft>
                <a:spcPts val="0"/>
              </a:spcAft>
            </a:pPr>
            <a:r>
              <a:rPr sz="750" b="0">
                <a:solidFill>
                  <a:srgbClr val="434343"/>
                </a:solidFill>
                <a:latin typeface="Consolas"/>
              </a:rPr>
              <a:t/>
            </a:r>
          </a:p>
          <a:p>
            <a:pPr algn="l">
              <a:lnSpc>
                <a:spcPct val="114000"/>
              </a:lnSpc>
              <a:spcAft>
                <a:spcPts val="0"/>
              </a:spcAft>
            </a:pPr>
            <a:r>
              <a:rPr sz="750" b="0">
                <a:solidFill>
                  <a:srgbClr val="434343"/>
                </a:solidFill>
                <a:latin typeface="Consolas"/>
              </a:rPr>
              <a:t>## Status</a:t>
            </a:r>
          </a:p>
          <a:p>
            <a:pPr algn="l">
              <a:lnSpc>
                <a:spcPct val="114000"/>
              </a:lnSpc>
              <a:spcAft>
                <a:spcPts val="0"/>
              </a:spcAft>
            </a:pPr>
            <a:r>
              <a:rPr sz="750" b="0">
                <a:solidFill>
                  <a:srgbClr val="434343"/>
                </a:solidFill>
                <a:latin typeface="Consolas"/>
              </a:rPr>
              <a:t>Accepted</a:t>
            </a:r>
          </a:p>
          <a:p>
            <a:pPr algn="l">
              <a:lnSpc>
                <a:spcPct val="114000"/>
              </a:lnSpc>
              <a:spcAft>
                <a:spcPts val="0"/>
              </a:spcAft>
            </a:pPr>
            <a:r>
              <a:rPr sz="750" b="0">
                <a:solidFill>
                  <a:srgbClr val="434343"/>
                </a:solidFill>
                <a:latin typeface="Consolas"/>
              </a:rPr>
              <a:t/>
            </a:r>
          </a:p>
          <a:p>
            <a:pPr algn="l">
              <a:lnSpc>
                <a:spcPct val="114000"/>
              </a:lnSpc>
              <a:spcAft>
                <a:spcPts val="0"/>
              </a:spcAft>
            </a:pPr>
            <a:r>
              <a:rPr sz="750" b="0">
                <a:solidFill>
                  <a:srgbClr val="434343"/>
                </a:solidFill>
                <a:latin typeface="Consolas"/>
              </a:rPr>
              <a:t>## Context</a:t>
            </a:r>
          </a:p>
          <a:p>
            <a:pPr algn="l">
              <a:lnSpc>
                <a:spcPct val="114000"/>
              </a:lnSpc>
              <a:spcAft>
                <a:spcPts val="0"/>
              </a:spcAft>
            </a:pPr>
            <a:r>
              <a:rPr sz="750" b="0">
                <a:solidFill>
                  <a:srgbClr val="434343"/>
                </a:solidFill>
                <a:latin typeface="Consolas"/>
              </a:rPr>
              <a:t>&lt;from Claude, edited&gt;</a:t>
            </a:r>
          </a:p>
          <a:p>
            <a:pPr algn="l">
              <a:lnSpc>
                <a:spcPct val="114000"/>
              </a:lnSpc>
              <a:spcAft>
                <a:spcPts val="0"/>
              </a:spcAft>
            </a:pPr>
            <a:r>
              <a:rPr sz="750" b="0">
                <a:solidFill>
                  <a:srgbClr val="434343"/>
                </a:solidFill>
                <a:latin typeface="Consolas"/>
              </a:rPr>
              <a:t/>
            </a:r>
          </a:p>
          <a:p>
            <a:pPr algn="l">
              <a:lnSpc>
                <a:spcPct val="114000"/>
              </a:lnSpc>
              <a:spcAft>
                <a:spcPts val="0"/>
              </a:spcAft>
            </a:pPr>
            <a:r>
              <a:rPr sz="750" b="0">
                <a:solidFill>
                  <a:srgbClr val="434343"/>
                </a:solidFill>
                <a:latin typeface="Consolas"/>
              </a:rPr>
              <a:t>## Decision</a:t>
            </a:r>
          </a:p>
          <a:p>
            <a:pPr algn="l">
              <a:lnSpc>
                <a:spcPct val="114000"/>
              </a:lnSpc>
              <a:spcAft>
                <a:spcPts val="0"/>
              </a:spcAft>
            </a:pPr>
            <a:r>
              <a:rPr sz="750" b="0">
                <a:solidFill>
                  <a:srgbClr val="434343"/>
                </a:solidFill>
                <a:latin typeface="Consolas"/>
              </a:rPr>
              <a:t>Only modules under</a:t>
            </a:r>
          </a:p>
          <a:p>
            <a:pPr algn="l">
              <a:lnSpc>
                <a:spcPct val="114000"/>
              </a:lnSpc>
              <a:spcAft>
                <a:spcPts val="0"/>
              </a:spcAft>
            </a:pPr>
            <a:r>
              <a:rPr sz="750" b="0">
                <a:solidFill>
                  <a:srgbClr val="434343"/>
                </a:solidFill>
                <a:latin typeface="Consolas"/>
              </a:rPr>
              <a:t>server/src/repositories/ may import</a:t>
            </a:r>
          </a:p>
          <a:p>
            <a:pPr algn="l">
              <a:lnSpc>
                <a:spcPct val="114000"/>
              </a:lnSpc>
              <a:spcAft>
                <a:spcPts val="0"/>
              </a:spcAft>
            </a:pPr>
            <a:r>
              <a:rPr sz="750" b="0">
                <a:solidFill>
                  <a:srgbClr val="434343"/>
                </a:solidFill>
                <a:latin typeface="Consolas"/>
              </a:rPr>
              <a:t>db/store.ts. &lt;-- I wrote this</a:t>
            </a:r>
          </a:p>
          <a:p>
            <a:pPr algn="l">
              <a:lnSpc>
                <a:spcPct val="114000"/>
              </a:lnSpc>
              <a:spcAft>
                <a:spcPts val="0"/>
              </a:spcAft>
            </a:pPr>
            <a:r>
              <a:rPr sz="750" b="0">
                <a:solidFill>
                  <a:srgbClr val="434343"/>
                </a:solidFill>
                <a:latin typeface="Consolas"/>
              </a:rPr>
              <a:t/>
            </a:r>
          </a:p>
          <a:p>
            <a:pPr algn="l">
              <a:lnSpc>
                <a:spcPct val="114000"/>
              </a:lnSpc>
              <a:spcAft>
                <a:spcPts val="0"/>
              </a:spcAft>
            </a:pPr>
            <a:r>
              <a:rPr sz="750" b="0">
                <a:solidFill>
                  <a:srgbClr val="434343"/>
                </a:solidFill>
                <a:latin typeface="Consolas"/>
              </a:rPr>
              <a:t>## Consequences</a:t>
            </a:r>
          </a:p>
          <a:p>
            <a:pPr algn="l">
              <a:lnSpc>
                <a:spcPct val="114000"/>
              </a:lnSpc>
              <a:spcAft>
                <a:spcPts val="0"/>
              </a:spcAft>
            </a:pPr>
            <a:r>
              <a:rPr sz="750" b="0">
                <a:solidFill>
                  <a:srgbClr val="434343"/>
                </a:solidFill>
                <a:latin typeface="Consolas"/>
              </a:rPr>
              <a:t>- Good: persistence is swappable</a:t>
            </a:r>
          </a:p>
          <a:p>
            <a:pPr algn="l">
              <a:lnSpc>
                <a:spcPct val="114000"/>
              </a:lnSpc>
              <a:spcAft>
                <a:spcPts val="0"/>
              </a:spcAft>
            </a:pPr>
            <a:r>
              <a:rPr sz="750" b="0">
                <a:solidFill>
                  <a:srgbClr val="434343"/>
                </a:solidFill>
                <a:latin typeface="Consolas"/>
              </a:rPr>
              <a:t>- Bad: one more hop for simple reads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 have docs/adr/0002-*.md staged, with all four sections filled — and a Consequences section containing at least one real cost.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Thumbs up, or say so. If your Decision line came out of Claude rather than out of you, rewrite it now — that is the one part of an ADR that cannot be delegated.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Your turn — derive a rule</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Three real fixes from last week. You decide what the standard 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STIMULUS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Three fixes from last week</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All three closed their issue. All three were reviewed. All three are green.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54864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Fix</a:t>
            </a:r>
          </a:p>
        </p:txBody>
      </p:sp>
      <p:sp>
        <p:nvSpPr>
          <p:cNvPr id="11" name="TextBox 10"/>
          <p:cNvSpPr txBox="1"/>
          <p:nvPr/>
        </p:nvSpPr>
        <p:spPr>
          <a:xfrm>
            <a:off x="1371600" y="2089404"/>
            <a:ext cx="58521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shipped</a:t>
            </a:r>
          </a:p>
        </p:txBody>
      </p:sp>
      <p:sp>
        <p:nvSpPr>
          <p:cNvPr id="12" name="TextBox 11"/>
          <p:cNvSpPr txBox="1"/>
          <p:nvPr/>
        </p:nvSpPr>
        <p:spPr>
          <a:xfrm>
            <a:off x="740664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a:t>
            </a:r>
          </a:p>
        </p:txBody>
      </p:sp>
      <p:sp>
        <p:nvSpPr>
          <p:cNvPr id="15" name="TextBox 14"/>
          <p:cNvSpPr txBox="1"/>
          <p:nvPr/>
        </p:nvSpPr>
        <p:spPr>
          <a:xfrm>
            <a:off x="1371600" y="2377440"/>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bug is gone. No test was added.</a:t>
            </a:r>
          </a:p>
        </p:txBody>
      </p:sp>
      <p:sp>
        <p:nvSpPr>
          <p:cNvPr id="16" name="TextBox 15"/>
          <p:cNvSpPr txBox="1"/>
          <p:nvPr/>
        </p:nvSpPr>
        <p:spPr>
          <a:xfrm>
            <a:off x="7406640" y="2377440"/>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a:t>
            </a:r>
          </a:p>
        </p:txBody>
      </p:sp>
      <p:sp>
        <p:nvSpPr>
          <p:cNvPr id="19" name="TextBox 18"/>
          <p:cNvSpPr txBox="1"/>
          <p:nvPr/>
        </p:nvSpPr>
        <p:spPr>
          <a:xfrm>
            <a:off x="1371600" y="2761488"/>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test was added. It passes — and it passed before the fix too.</a:t>
            </a:r>
          </a:p>
        </p:txBody>
      </p:sp>
      <p:sp>
        <p:nvSpPr>
          <p:cNvPr id="20" name="TextBox 19"/>
          <p:cNvSpPr txBox="1"/>
          <p:nvPr/>
        </p:nvSpPr>
        <p:spPr>
          <a:xfrm>
            <a:off x="7406640" y="2761488"/>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a:t>
            </a:r>
          </a:p>
        </p:txBody>
      </p:sp>
      <p:sp>
        <p:nvSpPr>
          <p:cNvPr id="23" name="TextBox 22"/>
          <p:cNvSpPr txBox="1"/>
          <p:nvPr/>
        </p:nvSpPr>
        <p:spPr>
          <a:xfrm>
            <a:off x="1371600" y="3145536"/>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test was added that failed first, then passed after the fix.</a:t>
            </a:r>
          </a:p>
        </p:txBody>
      </p:sp>
      <p:sp>
        <p:nvSpPr>
          <p:cNvPr id="24" name="TextBox 23"/>
          <p:cNvSpPr txBox="1"/>
          <p:nvPr/>
        </p:nvSpPr>
        <p:spPr>
          <a:xfrm>
            <a:off x="7406640" y="3145536"/>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Read them cold. No commentary from the front of the room yet.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Which of these are acceptable? Write the rule.</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In your group: produce candidate clauses. For each one, tag it MECHANICAL (a script could decide it from the diff) or FUZZY (it needs a person). Do not resolve your disagreements too early — where you disagree is where the standard is actually being made.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CONVERGE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we landed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Written down before anyone moves on. This is the agreed list, not my list.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MECHANICAL</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 change under server/src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file is co-located</a:t>
            </a:r>
          </a:p>
          <a:p>
            <a:pPr algn="l">
              <a:lnSpc>
                <a:spcPct val="118000"/>
              </a:lnSpc>
              <a:spcAft>
                <a:spcPts val="600"/>
              </a:spcAft>
            </a:pPr>
            <a:r>
              <a:rPr sz="1000" b="1">
                <a:solidFill>
                  <a:srgbClr val="A9B7F7"/>
                </a:solidFill>
                <a:latin typeface="Arial"/>
              </a:rPr>
              <a:t>•  </a:t>
            </a:r>
            <a:r>
              <a:rPr sz="1000" b="0">
                <a:solidFill>
                  <a:srgbClr val="434343"/>
                </a:solidFill>
                <a:latin typeface="Arial"/>
              </a:rPr>
              <a:t>Full suite green</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FUZZY</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The test failed first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asserts behaviour, not implementation</a:t>
            </a:r>
          </a:p>
          <a:p>
            <a:pPr algn="l">
              <a:lnSpc>
                <a:spcPct val="118000"/>
              </a:lnSpc>
              <a:spcAft>
                <a:spcPts val="600"/>
              </a:spcAft>
            </a:pPr>
            <a:r>
              <a:rPr sz="1000" b="1">
                <a:solidFill>
                  <a:srgbClr val="A9B7F7"/>
                </a:solidFill>
                <a:latin typeface="Arial"/>
              </a:rPr>
              <a:t>•  </a:t>
            </a:r>
            <a:r>
              <a:rPr sz="1000" b="0">
                <a:solidFill>
                  <a:srgbClr val="434343"/>
                </a:solidFill>
                <a:latin typeface="Arial"/>
              </a:rPr>
              <a:t>The assertion is meaningful</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DECIDE NOW</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Accepted risk?</a:t>
            </a:r>
          </a:p>
          <a:p>
            <a:pPr algn="l">
              <a:lnSpc>
                <a:spcPct val="118000"/>
              </a:lnSpc>
              <a:spcAft>
                <a:spcPts val="600"/>
              </a:spcAft>
            </a:pPr>
            <a:r>
              <a:rPr sz="1000" b="1">
                <a:solidFill>
                  <a:srgbClr val="A9B7F7"/>
                </a:solidFill>
                <a:latin typeface="Arial"/>
              </a:rPr>
              <a:t>•  </a:t>
            </a:r>
            <a:r>
              <a:rPr sz="1000" b="0">
                <a:solidFill>
                  <a:srgbClr val="434343"/>
                </a:solidFill>
                <a:latin typeface="Arial"/>
              </a:rPr>
              <a:t>Human gate?</a:t>
            </a:r>
          </a:p>
          <a:p>
            <a:pPr algn="l">
              <a:lnSpc>
                <a:spcPct val="118000"/>
              </a:lnSpc>
              <a:spcAft>
                <a:spcPts val="600"/>
              </a:spcAft>
            </a:pPr>
            <a:r>
              <a:rPr sz="1000" b="1">
                <a:solidFill>
                  <a:srgbClr val="A9B7F7"/>
                </a:solidFill>
                <a:latin typeface="Arial"/>
              </a:rPr>
              <a:t>•  </a:t>
            </a:r>
            <a:r>
              <a:rPr sz="1000" b="0">
                <a:solidFill>
                  <a:srgbClr val="434343"/>
                </a:solidFill>
                <a:latin typeface="Arial"/>
              </a:rPr>
              <a:t>Or dropped?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"The test must have failed first" is the clause that matters most and the one no gate can decide. That is not a flaw in your rule — it is the finding.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COMPARE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a mature team wrote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real NFR from a mature 137-document corpus — shown now that your list exists, not before.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5544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Section</a:t>
            </a:r>
          </a:p>
        </p:txBody>
      </p:sp>
      <p:sp>
        <p:nvSpPr>
          <p:cNvPr id="11" name="TextBox 10"/>
          <p:cNvSpPr txBox="1"/>
          <p:nvPr/>
        </p:nvSpPr>
        <p:spPr>
          <a:xfrm>
            <a:off x="2377439" y="2089404"/>
            <a:ext cx="6126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contains</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Classification</a:t>
            </a:r>
          </a:p>
        </p:txBody>
      </p:sp>
      <p:sp>
        <p:nvSpPr>
          <p:cNvPr id="14" name="TextBox 13"/>
          <p:cNvSpPr txBox="1"/>
          <p:nvPr/>
        </p:nvSpPr>
        <p:spPr>
          <a:xfrm>
            <a:off x="2377439" y="2377440"/>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Category, priority, and which external framework it traces to</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Requirements</a:t>
            </a:r>
          </a:p>
        </p:txBody>
      </p:sp>
      <p:sp>
        <p:nvSpPr>
          <p:cNvPr id="17" name="TextBox 16"/>
          <p:cNvSpPr txBox="1"/>
          <p:nvPr/>
        </p:nvSpPr>
        <p:spPr>
          <a:xfrm>
            <a:off x="2377439" y="2761488"/>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 clauses — no prose, no hedging</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Thresholds</a:t>
            </a:r>
          </a:p>
        </p:txBody>
      </p:sp>
      <p:sp>
        <p:nvSpPr>
          <p:cNvPr id="20" name="TextBox 19"/>
          <p:cNvSpPr txBox="1"/>
          <p:nvPr/>
        </p:nvSpPr>
        <p:spPr>
          <a:xfrm>
            <a:off x="2377439" y="3145536"/>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Target / Warning / Critical, so "compliant" is measurable</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Verification</a:t>
            </a:r>
          </a:p>
        </p:txBody>
      </p:sp>
      <p:sp>
        <p:nvSpPr>
          <p:cNvPr id="23" name="TextBox 22"/>
          <p:cNvSpPr txBox="1"/>
          <p:nvPr/>
        </p:nvSpPr>
        <p:spPr>
          <a:xfrm>
            <a:off x="2377439" y="3529584"/>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Per clause: the exact test or check that proves it</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Plan reference</a:t>
            </a:r>
          </a:p>
        </p:txBody>
      </p:sp>
      <p:sp>
        <p:nvSpPr>
          <p:cNvPr id="26" name="TextBox 25"/>
          <p:cNvSpPr txBox="1"/>
          <p:nvPr/>
        </p:nvSpPr>
        <p:spPr>
          <a:xfrm>
            <a:off x="2377439" y="3913631"/>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Which phase implements it, so it is not aspirational</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What did you catch that they did not? Their form is heavier than you need today; the Verification section is the part worth stealing.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WRITE IT 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Turn the clauses into an NFR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Twenty minutes. One doc in docs/nfr/, peer-reviewed by whoever is sitting next to you.</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Copy the form of NFR-0001. </a:t>
            </a:r>
            <a:r>
              <a:rPr sz="1250" b="0">
                <a:solidFill>
                  <a:srgbClr val="434343"/>
                </a:solidFill>
                <a:latin typeface="Arial"/>
              </a:rPr>
              <a:t>Same headings, same tone. You are matching a pattern, not inventing one.</a:t>
            </a:r>
          </a:p>
          <a:p>
            <a:pPr algn="l">
              <a:lnSpc>
                <a:spcPct val="122000"/>
              </a:lnSpc>
              <a:spcAft>
                <a:spcPts val="900"/>
              </a:spcAft>
            </a:pPr>
            <a:r>
              <a:rPr sz="1250" b="1">
                <a:solidFill>
                  <a:srgbClr val="403FE8"/>
                </a:solidFill>
                <a:latin typeface="Arial"/>
              </a:rPr>
              <a:t>•  </a:t>
            </a:r>
            <a:r>
              <a:rPr sz="1250" b="1">
                <a:solidFill>
                  <a:srgbClr val="13135E"/>
                </a:solidFill>
                <a:latin typeface="Arial"/>
              </a:rPr>
              <a:t>Every clause says how it is checked. </a:t>
            </a:r>
            <a:r>
              <a:rPr sz="1250" b="0">
                <a:solidFill>
                  <a:srgbClr val="434343"/>
                </a:solidFill>
                <a:latin typeface="Arial"/>
              </a:rPr>
              <a:t>Even if the answer is "a human, at review."</a:t>
            </a:r>
          </a:p>
          <a:p>
            <a:pPr algn="l">
              <a:lnSpc>
                <a:spcPct val="122000"/>
              </a:lnSpc>
              <a:spcAft>
                <a:spcPts val="900"/>
              </a:spcAft>
            </a:pPr>
            <a:r>
              <a:rPr sz="1250" b="1">
                <a:solidFill>
                  <a:srgbClr val="403FE8"/>
                </a:solidFill>
                <a:latin typeface="Arial"/>
              </a:rPr>
              <a:t>•  </a:t>
            </a:r>
            <a:r>
              <a:rPr sz="1250" b="1">
                <a:solidFill>
                  <a:srgbClr val="13135E"/>
                </a:solidFill>
                <a:latin typeface="Arial"/>
              </a:rPr>
              <a:t>Mark the fuzzy ones. </a:t>
            </a:r>
            <a:r>
              <a:rPr sz="1250" b="0">
                <a:solidFill>
                  <a:srgbClr val="434343"/>
                </a:solidFill>
                <a:latin typeface="Arial"/>
              </a:rPr>
              <a:t>Explicitly. An unmarked unenforceable clause is the dangerous kind.</a:t>
            </a:r>
          </a:p>
          <a:p>
            <a:pPr algn="l">
              <a:lnSpc>
                <a:spcPct val="122000"/>
              </a:lnSpc>
              <a:spcAft>
                <a:spcPts val="900"/>
              </a:spcAft>
            </a:pPr>
            <a:r>
              <a:rPr sz="1250" b="1">
                <a:solidFill>
                  <a:srgbClr val="403FE8"/>
                </a:solidFill>
                <a:latin typeface="Arial"/>
              </a:rPr>
              <a:t>•  </a:t>
            </a:r>
            <a:r>
              <a:rPr sz="1250" b="1">
                <a:solidFill>
                  <a:srgbClr val="13135E"/>
                </a:solidFill>
                <a:latin typeface="Arial"/>
              </a:rPr>
              <a:t>Record a decision for each. </a:t>
            </a:r>
            <a:r>
              <a:rPr sz="1250" b="0">
                <a:solidFill>
                  <a:srgbClr val="434343"/>
                </a:solidFill>
                <a:latin typeface="Arial"/>
              </a:rPr>
              <a:t>Accepted risk, human gate, or dropped — with a name against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NFR names how each clause is checked — and which ones cannot be.</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Artifact check, not a state check: I am reading your document, not your test output. A clause with no check and no mark is the one thing that fails this checkpoint.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WIRE IT IN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document nothing points at is a document nobody reads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Claude included. This is the step that makes the other two hours matter.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THREE EDITS TO CLAUDE.MD</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One trigger row per new doc.</a:t>
            </a:r>
          </a:p>
          <a:p>
            <a:pPr algn="l">
              <a:lnSpc>
                <a:spcPct val="120000"/>
              </a:lnSpc>
              <a:spcAft>
                <a:spcPts val="800"/>
              </a:spcAft>
            </a:pPr>
            <a:r>
              <a:rPr sz="1100" b="1">
                <a:solidFill>
                  <a:srgbClr val="A9B7F7"/>
                </a:solidFill>
                <a:latin typeface="Arial"/>
              </a:rPr>
              <a:t>•  </a:t>
            </a:r>
            <a:r>
              <a:rPr sz="1100" b="0">
                <a:solidFill>
                  <a:srgbClr val="434343"/>
                </a:solidFill>
                <a:latin typeface="Arial"/>
              </a:rPr>
              <a:t>Phrase the trigger as a SITUATION you are in.</a:t>
            </a:r>
          </a:p>
          <a:p>
            <a:pPr algn="l">
              <a:lnSpc>
                <a:spcPct val="120000"/>
              </a:lnSpc>
              <a:spcAft>
                <a:spcPts val="800"/>
              </a:spcAft>
            </a:pPr>
            <a:r>
              <a:rPr sz="1100" b="1">
                <a:solidFill>
                  <a:srgbClr val="A9B7F7"/>
                </a:solidFill>
                <a:latin typeface="Arial"/>
              </a:rPr>
              <a:t>•  </a:t>
            </a:r>
            <a:r>
              <a:rPr sz="1100" b="0">
                <a:solidFill>
                  <a:srgbClr val="434343"/>
                </a:solidFill>
                <a:latin typeface="Arial"/>
              </a:rPr>
              <a:t>One binding line for the NFR, so it applies unfetched.</a:t>
            </a:r>
          </a:p>
          <a:p>
            <a:pPr algn="l">
              <a:lnSpc>
                <a:spcPct val="120000"/>
              </a:lnSpc>
              <a:spcAft>
                <a:spcPts val="800"/>
              </a:spcAft>
            </a:pPr>
            <a:r>
              <a:rPr sz="1100" b="1">
                <a:solidFill>
                  <a:srgbClr val="A9B7F7"/>
                </a:solidFill>
                <a:latin typeface="Arial"/>
              </a:rPr>
              <a:t>•  </a:t>
            </a:r>
            <a:r>
              <a:rPr sz="1100" b="0">
                <a:solidFill>
                  <a:srgbClr val="434343"/>
                </a:solidFill>
                <a:latin typeface="Arial"/>
              </a:rPr>
              <a:t>Then smoke-test in a FRESH session.</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When you are…       | Read first      |</a:t>
            </a:r>
          </a:p>
          <a:p>
            <a:pPr algn="l">
              <a:lnSpc>
                <a:spcPct val="114000"/>
              </a:lnSpc>
              <a:spcAft>
                <a:spcPts val="0"/>
              </a:spcAft>
            </a:pPr>
            <a:r>
              <a:rPr sz="900" b="0">
                <a:solidFill>
                  <a:srgbClr val="434343"/>
                </a:solidFill>
                <a:latin typeface="Consolas"/>
              </a:rPr>
              <a:t>| ------------------- | --------------- |</a:t>
            </a:r>
          </a:p>
          <a:p>
            <a:pPr algn="l">
              <a:lnSpc>
                <a:spcPct val="114000"/>
              </a:lnSpc>
              <a:spcAft>
                <a:spcPts val="0"/>
              </a:spcAft>
            </a:pPr>
            <a:r>
              <a:rPr sz="900" b="0">
                <a:solidFill>
                  <a:srgbClr val="434343"/>
                </a:solidFill>
                <a:latin typeface="Consolas"/>
              </a:rPr>
              <a:t>| Changing the store  | docs/adr/0002…  |</a:t>
            </a:r>
          </a:p>
          <a:p>
            <a:pPr algn="l">
              <a:lnSpc>
                <a:spcPct val="114000"/>
              </a:lnSpc>
              <a:spcAft>
                <a:spcPts val="0"/>
              </a:spcAft>
            </a:pPr>
            <a:r>
              <a:rPr sz="900" b="0">
                <a:solidFill>
                  <a:srgbClr val="434343"/>
                </a:solidFill>
                <a:latin typeface="Consolas"/>
              </a:rPr>
              <a:t>| boundary            |                 |</a:t>
            </a:r>
          </a:p>
          <a:p>
            <a:pPr algn="l">
              <a:lnSpc>
                <a:spcPct val="114000"/>
              </a:lnSpc>
              <a:spcAft>
                <a:spcPts val="0"/>
              </a:spcAft>
            </a:pPr>
            <a:r>
              <a:rPr sz="900" b="0">
                <a:solidFill>
                  <a:srgbClr val="434343"/>
                </a:solidFill>
                <a:latin typeface="Consolas"/>
              </a:rPr>
              <a:t>| Fixing a bug or     | docs/nfr/0002…  |</a:t>
            </a:r>
          </a:p>
          <a:p>
            <a:pPr algn="l">
              <a:lnSpc>
                <a:spcPct val="114000"/>
              </a:lnSpc>
              <a:spcAft>
                <a:spcPts val="0"/>
              </a:spcAft>
            </a:pPr>
            <a:r>
              <a:rPr sz="900" b="0">
                <a:solidFill>
                  <a:srgbClr val="434343"/>
                </a:solidFill>
                <a:latin typeface="Consolas"/>
              </a:rPr>
              <a:t>| adding behaviour    |                 |</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Do / Don't</a:t>
            </a:r>
          </a:p>
          <a:p>
            <a:pPr algn="l">
              <a:lnSpc>
                <a:spcPct val="114000"/>
              </a:lnSpc>
              <a:spcAft>
                <a:spcPts val="0"/>
              </a:spcAft>
            </a:pPr>
            <a:r>
              <a:rPr sz="900" b="0">
                <a:solidFill>
                  <a:srgbClr val="434343"/>
                </a:solidFill>
                <a:latin typeface="Consolas"/>
              </a:rPr>
              <a:t>- Do: every change under server/src</a:t>
            </a:r>
          </a:p>
          <a:p>
            <a:pPr algn="l">
              <a:lnSpc>
                <a:spcPct val="114000"/>
              </a:lnSpc>
              <a:spcAft>
                <a:spcPts val="0"/>
              </a:spcAft>
            </a:pPr>
            <a:r>
              <a:rPr sz="900" b="0">
                <a:solidFill>
                  <a:srgbClr val="434343"/>
                </a:solidFill>
                <a:latin typeface="Consolas"/>
              </a:rPr>
              <a:t>  ships with a test (NFR-0002)</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smoke test, fresh session:</a:t>
            </a:r>
          </a:p>
          <a:p>
            <a:pPr algn="l">
              <a:lnSpc>
                <a:spcPct val="114000"/>
              </a:lnSpc>
              <a:spcAft>
                <a:spcPts val="0"/>
              </a:spcAft>
            </a:pPr>
            <a:r>
              <a:rPr sz="900" b="0">
                <a:solidFill>
                  <a:srgbClr val="434343"/>
                </a:solidFill>
                <a:latin typeface="Consolas"/>
              </a:rPr>
              <a:t># "what is our rule about tests?"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you built, and what is next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Ship checklist: committed · peer-reviewed · CI green · smoke test passed.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An ADR. </a:t>
            </a:r>
            <a:r>
              <a:rPr sz="1250" b="0">
                <a:solidFill>
                  <a:srgbClr val="434343"/>
                </a:solidFill>
                <a:latin typeface="Arial"/>
              </a:rPr>
              <a:t>The boundary now has a recorded reason and an honest cost.</a:t>
            </a:r>
          </a:p>
          <a:p>
            <a:pPr algn="l">
              <a:lnSpc>
                <a:spcPct val="122000"/>
              </a:lnSpc>
              <a:spcAft>
                <a:spcPts val="900"/>
              </a:spcAft>
            </a:pPr>
            <a:r>
              <a:rPr sz="1250" b="1">
                <a:solidFill>
                  <a:srgbClr val="403FE8"/>
                </a:solidFill>
                <a:latin typeface="Arial"/>
              </a:rPr>
              <a:t>•  </a:t>
            </a:r>
            <a:r>
              <a:rPr sz="1250" b="1">
                <a:solidFill>
                  <a:srgbClr val="13135E"/>
                </a:solidFill>
                <a:latin typeface="Arial"/>
              </a:rPr>
              <a:t>An NFR you derived. </a:t>
            </a:r>
            <a:r>
              <a:rPr sz="1250" b="0">
                <a:solidFill>
                  <a:srgbClr val="434343"/>
                </a:solidFill>
                <a:latin typeface="Arial"/>
              </a:rPr>
              <a:t>With the checks named, and the unenforceable parts marked.</a:t>
            </a:r>
          </a:p>
          <a:p>
            <a:pPr algn="l">
              <a:lnSpc>
                <a:spcPct val="122000"/>
              </a:lnSpc>
              <a:spcAft>
                <a:spcPts val="900"/>
              </a:spcAft>
            </a:pPr>
            <a:r>
              <a:rPr sz="1250" b="1">
                <a:solidFill>
                  <a:srgbClr val="403FE8"/>
                </a:solidFill>
                <a:latin typeface="Arial"/>
              </a:rPr>
              <a:t>•  </a:t>
            </a:r>
            <a:r>
              <a:rPr sz="1250" b="1">
                <a:solidFill>
                  <a:srgbClr val="13135E"/>
                </a:solidFill>
                <a:latin typeface="Arial"/>
              </a:rPr>
              <a:t>Both wired in and smoke-tested. </a:t>
            </a:r>
            <a:r>
              <a:rPr sz="1250" b="0">
                <a:solidFill>
                  <a:srgbClr val="434343"/>
                </a:solidFill>
                <a:latin typeface="Arial"/>
              </a:rPr>
              <a:t>Claude reads them when the situation applies.</a:t>
            </a:r>
          </a:p>
          <a:p>
            <a:pPr algn="l">
              <a:lnSpc>
                <a:spcPct val="122000"/>
              </a:lnSpc>
              <a:spcAft>
                <a:spcPts val="900"/>
              </a:spcAft>
            </a:pPr>
            <a:r>
              <a:rPr sz="1250" b="1">
                <a:solidFill>
                  <a:srgbClr val="403FE8"/>
                </a:solidFill>
                <a:latin typeface="Arial"/>
              </a:rPr>
              <a:t>•  </a:t>
            </a:r>
            <a:r>
              <a:rPr sz="1250" b="1">
                <a:solidFill>
                  <a:srgbClr val="13135E"/>
                </a:solidFill>
                <a:latin typeface="Arial"/>
              </a:rPr>
              <a:t>Next week: teeth. </a:t>
            </a:r>
            <a:r>
              <a:rPr sz="1250" b="0">
                <a:solidFill>
                  <a:srgbClr val="434343"/>
                </a:solidFill>
                <a:latin typeface="Arial"/>
              </a:rPr>
              <a:t>You will make something refuse to violate the clause you just wrote — and decide what to do about the part that cannot be checked.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