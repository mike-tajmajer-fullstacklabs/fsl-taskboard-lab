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90"/>
  </p:normalViewPr>
  <p:slideViewPr>
    <p:cSldViewPr snapToGrid="0" snapToObjects="1">
      <p:cViewPr varScale="1">
        <p:scale>
          <a:sx n="159" d="100"/>
          <a:sy n="159" d="100"/>
        </p:scale>
        <p:origin x="40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850605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1764792"/>
            <a:ext cx="457200" cy="64008"/>
          </a:xfrm>
          <a:prstGeom prst="rect">
            <a:avLst/>
          </a:prstGeom>
          <a:solidFill>
            <a:srgbClr val="A9B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8046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Arial"/>
              </a:rPr>
              <a:t>Lab 1 · Your First Agent-Assisted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CCD9FF"/>
                </a:solidFill>
                <a:latin typeface="Arial"/>
              </a:rPr>
              <a:t>Writing a CLAUDE.md and shipping a real PR with Plan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262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9B7F7"/>
                </a:solidFill>
                <a:latin typeface="Arial"/>
              </a:rPr>
              <a:t>FSL AI Training · Phase 1 · Week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LAB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What you'll do this week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8046720" cy="749808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4008" cy="74980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481328"/>
            <a:ext cx="7680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3135E"/>
                </a:solidFill>
                <a:latin typeface="Arial"/>
              </a:rPr>
              <a:t>Author a repo CLAUDE.md, then ship one real, mergeable AI-assisted PR using Plan Mode — end to end.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3135E"/>
                </a:solidFill>
                <a:latin typeface="Arial"/>
              </a:rPr>
              <a:t>The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97480"/>
            <a:ext cx="5029200" cy="18841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050" b="1" dirty="0">
                <a:solidFill>
                  <a:srgbClr val="403FE8"/>
                </a:solidFill>
                <a:latin typeface="Arial"/>
              </a:rPr>
              <a:t>1. </a:t>
            </a:r>
            <a:r>
              <a:rPr lang="en-US" sz="1050" dirty="0">
                <a:solidFill>
                  <a:srgbClr val="434343"/>
                </a:solidFill>
                <a:latin typeface="Arial"/>
              </a:rPr>
              <a:t>Review the Plan &amp; talk about lab time time (do we need to change it)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050" b="1" dirty="0">
                <a:solidFill>
                  <a:srgbClr val="403FE8"/>
                </a:solidFill>
                <a:latin typeface="Arial"/>
              </a:rPr>
              <a:t>2</a:t>
            </a:r>
            <a:r>
              <a:rPr sz="1050" b="1" dirty="0">
                <a:solidFill>
                  <a:srgbClr val="403FE8"/>
                </a:solidFill>
                <a:latin typeface="Arial"/>
              </a:rPr>
              <a:t>.  </a:t>
            </a:r>
            <a:r>
              <a:rPr sz="1050" dirty="0">
                <a:solidFill>
                  <a:srgbClr val="434343"/>
                </a:solidFill>
                <a:latin typeface="Arial"/>
              </a:rPr>
              <a:t>Author your </a:t>
            </a:r>
            <a:r>
              <a:rPr sz="1050" dirty="0" err="1">
                <a:solidFill>
                  <a:srgbClr val="434343"/>
                </a:solidFill>
                <a:latin typeface="Arial"/>
              </a:rPr>
              <a:t>CLAUDE.md</a:t>
            </a:r>
            <a:r>
              <a:rPr sz="1050" dirty="0">
                <a:solidFill>
                  <a:srgbClr val="434343"/>
                </a:solidFill>
                <a:latin typeface="Arial"/>
              </a:rPr>
              <a:t> (stack, conventions, key </a:t>
            </a:r>
            <a:r>
              <a:rPr sz="1050" dirty="0" err="1">
                <a:solidFill>
                  <a:srgbClr val="434343"/>
                </a:solidFill>
                <a:latin typeface="Arial"/>
              </a:rPr>
              <a:t>dirs</a:t>
            </a:r>
            <a:r>
              <a:rPr sz="1050" dirty="0">
                <a:solidFill>
                  <a:srgbClr val="434343"/>
                </a:solidFill>
                <a:latin typeface="Arial"/>
              </a:rPr>
              <a:t>, testing, deploy)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050" b="1" dirty="0">
                <a:solidFill>
                  <a:srgbClr val="403FE8"/>
                </a:solidFill>
                <a:latin typeface="Arial"/>
              </a:rPr>
              <a:t>3</a:t>
            </a:r>
            <a:r>
              <a:rPr sz="1050" b="1" dirty="0">
                <a:solidFill>
                  <a:srgbClr val="403FE8"/>
                </a:solidFill>
                <a:latin typeface="Arial"/>
              </a:rPr>
              <a:t>.  </a:t>
            </a:r>
            <a:r>
              <a:rPr sz="1050" dirty="0">
                <a:solidFill>
                  <a:srgbClr val="434343"/>
                </a:solidFill>
                <a:latin typeface="Arial"/>
              </a:rPr>
              <a:t>Smoke-test it — Claude answers 3 repo questions from context alone</a:t>
            </a:r>
            <a:endParaRPr lang="en-US" sz="1050" dirty="0">
              <a:solidFill>
                <a:srgbClr val="434343"/>
              </a:solidFill>
              <a:latin typeface="Arial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050" b="1" dirty="0">
                <a:solidFill>
                  <a:srgbClr val="434343"/>
                </a:solidFill>
                <a:latin typeface="Arial"/>
              </a:rPr>
              <a:t>Lab 1.b (next week)</a:t>
            </a:r>
            <a:endParaRPr sz="1050" b="1" dirty="0">
              <a:solidFill>
                <a:srgbClr val="434343"/>
              </a:solidFill>
              <a:latin typeface="Arial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050" b="1" dirty="0">
                <a:solidFill>
                  <a:srgbClr val="403FE8"/>
                </a:solidFill>
                <a:latin typeface="Arial"/>
              </a:rPr>
              <a:t>4</a:t>
            </a:r>
            <a:r>
              <a:rPr sz="1050" b="1" dirty="0">
                <a:solidFill>
                  <a:srgbClr val="403FE8"/>
                </a:solidFill>
                <a:latin typeface="Arial"/>
              </a:rPr>
              <a:t>.  </a:t>
            </a:r>
            <a:r>
              <a:rPr sz="1050" dirty="0">
                <a:solidFill>
                  <a:srgbClr val="434343"/>
                </a:solidFill>
                <a:latin typeface="Arial"/>
              </a:rPr>
              <a:t>Pick a small backlog task; enter Plan Mode; review the plan first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050" b="1" dirty="0">
                <a:solidFill>
                  <a:srgbClr val="403FE8"/>
                </a:solidFill>
                <a:latin typeface="Arial"/>
              </a:rPr>
              <a:t>5</a:t>
            </a:r>
            <a:r>
              <a:rPr sz="1050" b="1" dirty="0">
                <a:solidFill>
                  <a:srgbClr val="403FE8"/>
                </a:solidFill>
                <a:latin typeface="Arial"/>
              </a:rPr>
              <a:t>.  </a:t>
            </a:r>
            <a:r>
              <a:rPr sz="1050" dirty="0">
                <a:solidFill>
                  <a:srgbClr val="434343"/>
                </a:solidFill>
                <a:latin typeface="Arial"/>
              </a:rPr>
              <a:t>Execute with Claude — course-correct, don't accept blindly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050" b="1" dirty="0">
                <a:solidFill>
                  <a:srgbClr val="403FE8"/>
                </a:solidFill>
                <a:latin typeface="Arial"/>
              </a:rPr>
              <a:t>6</a:t>
            </a:r>
            <a:r>
              <a:rPr sz="1050" b="1" dirty="0">
                <a:solidFill>
                  <a:srgbClr val="403FE8"/>
                </a:solidFill>
                <a:latin typeface="Arial"/>
              </a:rPr>
              <a:t>.  </a:t>
            </a:r>
            <a:r>
              <a:rPr sz="1050" dirty="0">
                <a:solidFill>
                  <a:srgbClr val="434343"/>
                </a:solidFill>
                <a:latin typeface="Arial"/>
              </a:rPr>
              <a:t>Write tests — ask for edge cases and error paths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050" b="1" dirty="0">
                <a:solidFill>
                  <a:srgbClr val="403FE8"/>
                </a:solidFill>
                <a:latin typeface="Arial"/>
              </a:rPr>
              <a:t>7</a:t>
            </a:r>
            <a:r>
              <a:rPr sz="1050" b="1" dirty="0">
                <a:solidFill>
                  <a:srgbClr val="403FE8"/>
                </a:solidFill>
                <a:latin typeface="Arial"/>
              </a:rPr>
              <a:t>.  </a:t>
            </a:r>
            <a:r>
              <a:rPr sz="1050" dirty="0">
                <a:solidFill>
                  <a:srgbClr val="434343"/>
                </a:solidFill>
                <a:latin typeface="Arial"/>
              </a:rPr>
              <a:t>Open a PR with a clear description; get a human reviewer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2331720"/>
            <a:ext cx="2788920" cy="22860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35040" y="25146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DONE WHEN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907792"/>
            <a:ext cx="23774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CLAUDE.md committed + passes the smoke test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A mergeable PR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Tests written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≥1 human reviewer engaged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4261104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66666"/>
                </a:solidFill>
                <a:latin typeface="Arial"/>
              </a:rPr>
              <a:t>Counts toward Agentic Developer cert.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 — First Agent-Assisted Task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850605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2176272"/>
            <a:ext cx="457200" cy="64008"/>
          </a:xfrm>
          <a:prstGeom prst="rect">
            <a:avLst/>
          </a:prstGeom>
          <a:solidFill>
            <a:srgbClr val="A9B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8046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Arial"/>
              </a:rPr>
              <a:t>Writing your CLAUDE.md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CD9FF"/>
                </a:solidFill>
                <a:latin typeface="Arial"/>
              </a:rPr>
              <a:t>The single habit the rest of the program builds 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CLAUDE.MD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What it is, and 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02920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•  </a:t>
            </a:r>
            <a:r>
              <a:rPr sz="1150">
                <a:solidFill>
                  <a:srgbClr val="434343"/>
                </a:solidFill>
                <a:latin typeface="Arial"/>
              </a:rPr>
              <a:t>Claude's durable memory for your project — loaded into context automatically at the start of every session.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•  </a:t>
            </a:r>
            <a:r>
              <a:rPr sz="1150">
                <a:solidFill>
                  <a:srgbClr val="434343"/>
                </a:solidFill>
                <a:latin typeface="Arial"/>
              </a:rPr>
              <a:t>A single source of truth for how your repo works, so you don't re-explain it each time.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•  </a:t>
            </a:r>
            <a:r>
              <a:rPr sz="1150">
                <a:solidFill>
                  <a:srgbClr val="434343"/>
                </a:solidFill>
                <a:latin typeface="Arial"/>
              </a:rPr>
              <a:t>Lives in the repo, committed and shared — the whole team (and Claude) works from the same context.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•  </a:t>
            </a:r>
            <a:r>
              <a:rPr sz="1150">
                <a:solidFill>
                  <a:srgbClr val="434343"/>
                </a:solidFill>
                <a:latin typeface="Arial"/>
              </a:rPr>
              <a:t>The foundation for everything later: sharper plans, fewer wrong turns, less "yes-man" drift.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54480"/>
            <a:ext cx="2788920" cy="278892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06440" y="1554480"/>
            <a:ext cx="64008" cy="278892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53328" y="17830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3328" y="2194560"/>
            <a:ext cx="2395728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3135E"/>
                </a:solidFill>
                <a:latin typeface="Arial"/>
              </a:rPr>
              <a:t>Better context in → better code out. A shared CLAUDE.md turns siloed, personal setups into common ground — the shift from individual AI use to a team standard.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 — First Agent-Assisted Task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CLAUDE.MD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What goes in it — the five essentials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81328"/>
            <a:ext cx="8046720" cy="530352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36192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403FE8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481328"/>
            <a:ext cx="22860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Stack &amp;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481328"/>
            <a:ext cx="48920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34343"/>
                </a:solidFill>
                <a:latin typeface="Arial"/>
              </a:rPr>
              <a:t>Languages, frameworks, databases; what the project does in a sentence or two.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84832"/>
            <a:ext cx="804672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139696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403FE8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084832"/>
            <a:ext cx="22860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Conventions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84832"/>
            <a:ext cx="48920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34343"/>
                </a:solidFill>
                <a:latin typeface="Arial"/>
              </a:rPr>
              <a:t>Code style, naming, error handling, logging — the patterns to match.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88336"/>
            <a:ext cx="8046720" cy="530352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274320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403FE8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88336"/>
            <a:ext cx="22860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Key directories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688336"/>
            <a:ext cx="48920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34343"/>
                </a:solidFill>
                <a:latin typeface="Arial"/>
              </a:rPr>
              <a:t>Where things live: entrypoints, domain logic, tests, migrations.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91840"/>
            <a:ext cx="804672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346704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403FE8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291840"/>
            <a:ext cx="22860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Testing approach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291840"/>
            <a:ext cx="48920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34343"/>
                </a:solidFill>
                <a:latin typeface="Arial"/>
              </a:rPr>
              <a:t>How tests are structured and the exact command to run them.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895344"/>
            <a:ext cx="8046720" cy="530352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3950208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403FE8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3895344"/>
            <a:ext cx="22860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895344"/>
            <a:ext cx="48920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34343"/>
                </a:solidFill>
                <a:latin typeface="Arial"/>
              </a:rPr>
              <a:t>How code ships — build/CI, environments, and any gotchas.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590288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Aim for ~100–200 lines. Never include secrets, tokens, or credentials.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 — First Agent-Assisted Task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CLAUDE.MD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The FSL template — start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950208" cy="2999232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" cy="299923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499616"/>
            <a:ext cx="3584448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13135E"/>
                </a:solidFill>
                <a:latin typeface="Consolas"/>
              </a:rPr>
              <a:t># Project — &lt;name&gt;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&lt;what it does — 1-2 lines&gt;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endParaRPr sz="950" b="0">
              <a:solidFill>
                <a:srgbClr val="666666"/>
              </a:solidFill>
              <a:latin typeface="Consolas"/>
            </a:endParaRP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403FE8"/>
                </a:solidFill>
                <a:latin typeface="Consolas"/>
              </a:rPr>
              <a:t>## Stack &amp; overview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434343"/>
                </a:solidFill>
                <a:latin typeface="Consolas"/>
              </a:rPr>
              <a:t>- Language / runtime: &lt;...&gt;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434343"/>
                </a:solidFill>
                <a:latin typeface="Consolas"/>
              </a:rPr>
              <a:t>- Frameworks: &lt;...&gt;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434343"/>
                </a:solidFill>
                <a:latin typeface="Consolas"/>
              </a:rPr>
              <a:t>- Database: &lt;...&gt;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endParaRPr sz="950" b="0">
              <a:solidFill>
                <a:srgbClr val="434343"/>
              </a:solidFill>
              <a:latin typeface="Consolas"/>
            </a:endParaRP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403FE8"/>
                </a:solidFill>
                <a:latin typeface="Consolas"/>
              </a:rPr>
              <a:t>## Commands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434343"/>
                </a:solidFill>
                <a:latin typeface="Consolas"/>
              </a:rPr>
              <a:t>- Build: &lt;cmd&gt;   Test: &lt;cmd&gt;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434343"/>
                </a:solidFill>
                <a:latin typeface="Consolas"/>
              </a:rPr>
              <a:t>- Lint: &lt;cmd&gt;    Run: &lt;cmd&gt;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endParaRPr sz="950" b="0">
              <a:solidFill>
                <a:srgbClr val="434343"/>
              </a:solidFill>
              <a:latin typeface="Consolas"/>
            </a:endParaRP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403FE8"/>
                </a:solidFill>
                <a:latin typeface="Consolas"/>
              </a:rPr>
              <a:t>## Code conventions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434343"/>
                </a:solidFill>
                <a:latin typeface="Consolas"/>
              </a:rPr>
              <a:t>- &lt;error-handling rule&gt;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434343"/>
                </a:solidFill>
                <a:latin typeface="Consolas"/>
              </a:rPr>
              <a:t>- &lt;naming / structure rule&gt;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434343"/>
                </a:solidFill>
                <a:latin typeface="Consolas"/>
              </a:rPr>
              <a:t>- &lt;logging rule&gt;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45152" y="1371600"/>
            <a:ext cx="3950208" cy="2999232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45152" y="1371600"/>
            <a:ext cx="54864" cy="299923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1499616"/>
            <a:ext cx="3584448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403FE8"/>
                </a:solidFill>
                <a:latin typeface="Consolas"/>
              </a:rPr>
              <a:t>## Architecture &amp; key dirs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434343"/>
                </a:solidFill>
                <a:latin typeface="Consolas"/>
              </a:rPr>
              <a:t>- &lt;dir&gt; - &lt;purpose&gt;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434343"/>
                </a:solidFill>
                <a:latin typeface="Consolas"/>
              </a:rPr>
              <a:t>- &lt;dir&gt; - &lt;purpose&gt;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434343"/>
                </a:solidFill>
                <a:latin typeface="Consolas"/>
              </a:rPr>
              <a:t>- &lt;dir&gt; - &lt;purpose&gt;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endParaRPr sz="950" b="0">
              <a:solidFill>
                <a:srgbClr val="434343"/>
              </a:solidFill>
              <a:latin typeface="Consolas"/>
            </a:endParaRP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403FE8"/>
                </a:solidFill>
                <a:latin typeface="Consolas"/>
              </a:rPr>
              <a:t>## Testing approach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434343"/>
                </a:solidFill>
                <a:latin typeface="Consolas"/>
              </a:rPr>
              <a:t>- &lt;how tests are structured&gt;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434343"/>
                </a:solidFill>
                <a:latin typeface="Consolas"/>
              </a:rPr>
              <a:t>- Run &lt;test cmd&gt; before every PR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endParaRPr sz="950" b="0">
              <a:solidFill>
                <a:srgbClr val="434343"/>
              </a:solidFill>
              <a:latin typeface="Consolas"/>
            </a:endParaRP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403FE8"/>
                </a:solidFill>
                <a:latin typeface="Consolas"/>
              </a:rPr>
              <a:t>## Deployment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434343"/>
                </a:solidFill>
                <a:latin typeface="Consolas"/>
              </a:rPr>
              <a:t>- &lt;build / CI / environments&gt;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434343"/>
                </a:solidFill>
                <a:latin typeface="Consolas"/>
              </a:rPr>
              <a:t>- Gotchas: &lt;known issues&gt;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endParaRPr sz="950" b="0">
              <a:solidFill>
                <a:srgbClr val="434343"/>
              </a:solidFill>
              <a:latin typeface="Consolas"/>
            </a:endParaRP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403FE8"/>
                </a:solidFill>
                <a:latin typeface="Consolas"/>
              </a:rPr>
              <a:t>## Do / Don't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434343"/>
                </a:solidFill>
                <a:latin typeface="Consolas"/>
              </a:rPr>
              <a:t>- Do: &lt;...&gt;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434343"/>
                </a:solidFill>
                <a:latin typeface="Consolas"/>
              </a:rPr>
              <a:t>- Don't: &lt;...&gt;  ·  never commit secrets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98848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Copy this, fill the &lt;placeholders&gt;, and delete what doesn't apply — this is your starting point.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 — First Agent-Assisted Task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BEST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Write it so Claude actually uses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3977639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00" b="1">
                <a:solidFill>
                  <a:srgbClr val="403FE8"/>
                </a:solidFill>
                <a:latin typeface="Arial"/>
              </a:rPr>
              <a:t>•  </a:t>
            </a:r>
            <a:r>
              <a:rPr sz="1100">
                <a:solidFill>
                  <a:srgbClr val="434343"/>
                </a:solidFill>
                <a:latin typeface="Arial"/>
              </a:rPr>
              <a:t>Be specific, not generic — "we use X because Y," never "write clean code."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00" b="1">
                <a:solidFill>
                  <a:srgbClr val="403FE8"/>
                </a:solidFill>
                <a:latin typeface="Arial"/>
              </a:rPr>
              <a:t>•  </a:t>
            </a:r>
            <a:r>
              <a:rPr sz="1100">
                <a:solidFill>
                  <a:srgbClr val="434343"/>
                </a:solidFill>
                <a:latin typeface="Arial"/>
              </a:rPr>
              <a:t>Keep it short — 100–200 lines; if it sprawls, split into nested files.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00" b="1">
                <a:solidFill>
                  <a:srgbClr val="403FE8"/>
                </a:solidFill>
                <a:latin typeface="Arial"/>
              </a:rPr>
              <a:t>•  </a:t>
            </a:r>
            <a:r>
              <a:rPr sz="1100">
                <a:solidFill>
                  <a:srgbClr val="434343"/>
                </a:solidFill>
                <a:latin typeface="Arial"/>
              </a:rPr>
              <a:t>Use headings and bullets — scannable beats prose.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00" b="1">
                <a:solidFill>
                  <a:srgbClr val="403FE8"/>
                </a:solidFill>
                <a:latin typeface="Arial"/>
              </a:rPr>
              <a:t>•  </a:t>
            </a:r>
            <a:r>
              <a:rPr sz="1100">
                <a:solidFill>
                  <a:srgbClr val="434343"/>
                </a:solidFill>
                <a:latin typeface="Arial"/>
              </a:rPr>
              <a:t>Give exact, copy-pasteable commands — build, test, lint, run.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508760"/>
            <a:ext cx="388620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00" b="1">
                <a:solidFill>
                  <a:srgbClr val="403FE8"/>
                </a:solidFill>
                <a:latin typeface="Arial"/>
              </a:rPr>
              <a:t>•  </a:t>
            </a:r>
            <a:r>
              <a:rPr sz="1100">
                <a:solidFill>
                  <a:srgbClr val="434343"/>
                </a:solidFill>
                <a:latin typeface="Arial"/>
              </a:rPr>
              <a:t>Point to key files and directories instead of pasting them.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00" b="1">
                <a:solidFill>
                  <a:srgbClr val="403FE8"/>
                </a:solidFill>
                <a:latin typeface="Arial"/>
              </a:rPr>
              <a:t>•  </a:t>
            </a:r>
            <a:r>
              <a:rPr sz="1100">
                <a:solidFill>
                  <a:srgbClr val="434343"/>
                </a:solidFill>
                <a:latin typeface="Arial"/>
              </a:rPr>
              <a:t>Document the why behind a convention, not just the what.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00" b="1">
                <a:solidFill>
                  <a:srgbClr val="403FE8"/>
                </a:solidFill>
                <a:latin typeface="Arial"/>
              </a:rPr>
              <a:t>•  </a:t>
            </a:r>
            <a:r>
              <a:rPr sz="1100">
                <a:solidFill>
                  <a:srgbClr val="434343"/>
                </a:solidFill>
                <a:latin typeface="Arial"/>
              </a:rPr>
              <a:t>Treat it as living — update it the moment a pattern changes.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00" b="1">
                <a:solidFill>
                  <a:srgbClr val="403FE8"/>
                </a:solidFill>
                <a:latin typeface="Arial"/>
              </a:rPr>
              <a:t>•  </a:t>
            </a:r>
            <a:r>
              <a:rPr sz="1100">
                <a:solidFill>
                  <a:srgbClr val="434343"/>
                </a:solidFill>
                <a:latin typeface="Arial"/>
              </a:rPr>
              <a:t>Never commit secrets, tokens, or credentials.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 — First Agent-Assisted Task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BEST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Common pitfalls to avoid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62432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2624328" cy="3200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27632"/>
            <a:ext cx="23042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Too long / bloated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21408"/>
            <a:ext cx="22768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000" b="0" i="0">
                <a:solidFill>
                  <a:srgbClr val="434343"/>
                </a:solidFill>
                <a:latin typeface="Arial"/>
              </a:rPr>
              <a:t>Claude skims — the signal gets lost in the noise.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463040"/>
            <a:ext cx="262432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1840" y="1463040"/>
            <a:ext cx="2624328" cy="3200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1627632"/>
            <a:ext cx="23042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Vague filler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121408"/>
            <a:ext cx="22768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000" b="0" i="0">
                <a:solidFill>
                  <a:srgbClr val="434343"/>
                </a:solidFill>
                <a:latin typeface="Arial"/>
              </a:rPr>
              <a:t>"Write good code" wastes context and changes nothing.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463040"/>
            <a:ext cx="262432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35040" y="1463040"/>
            <a:ext cx="2624328" cy="3200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1627632"/>
            <a:ext cx="23042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Stale 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121408"/>
            <a:ext cx="22768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000" b="0" i="0">
                <a:solidFill>
                  <a:srgbClr val="434343"/>
                </a:solidFill>
                <a:latin typeface="Arial"/>
              </a:rPr>
              <a:t>Worse than none — it actively misleads the agent.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08376"/>
            <a:ext cx="262432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3008376"/>
            <a:ext cx="2624328" cy="3200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3172968"/>
            <a:ext cx="23042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Secrets or internal URLs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66744"/>
            <a:ext cx="22768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000" b="0" i="0">
                <a:solidFill>
                  <a:srgbClr val="434343"/>
                </a:solidFill>
                <a:latin typeface="Arial"/>
              </a:rPr>
              <a:t>It's committed to the repo. Keep them out.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3008376"/>
            <a:ext cx="262432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91840" y="3008376"/>
            <a:ext cx="2624328" cy="3200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74720" y="3172968"/>
            <a:ext cx="23042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Duplicating the README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666744"/>
            <a:ext cx="22768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000" b="0" i="0">
                <a:solidFill>
                  <a:srgbClr val="434343"/>
                </a:solidFill>
                <a:latin typeface="Arial"/>
              </a:rPr>
              <a:t>Link to it; don't paste it in wholesale.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3008376"/>
            <a:ext cx="262432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35040" y="3008376"/>
            <a:ext cx="2624328" cy="3200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0" y="3172968"/>
            <a:ext cx="23042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Dumping whole style guides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666744"/>
            <a:ext cx="22768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000" b="0" i="0">
                <a:solidFill>
                  <a:srgbClr val="434343"/>
                </a:solidFill>
                <a:latin typeface="Arial"/>
              </a:rPr>
              <a:t>Summarize the rules and point to the source.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 — First Agent-Assisted Task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HOW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Lazy-load the README — point, don't import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93192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931920" cy="402336"/>
          </a:xfrm>
          <a:prstGeom prst="roundRect">
            <a:avLst>
              <a:gd name="adj" fmla="val 6000"/>
            </a:avLst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536192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POINTER  =  LAZY  (recommended)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56816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66666"/>
                </a:solidFill>
                <a:latin typeface="Arial"/>
              </a:rPr>
              <a:t>Loads on demand, when Claude reads 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249424"/>
            <a:ext cx="3602736" cy="932688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3232" y="2249424"/>
            <a:ext cx="54864" cy="93268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377440"/>
            <a:ext cx="3236976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1">
                <a:solidFill>
                  <a:srgbClr val="403FE8"/>
                </a:solidFill>
                <a:latin typeface="Consolas"/>
              </a:rPr>
              <a:t>## Docs — read on demand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434343"/>
                </a:solidFill>
                <a:latin typeface="Consolas"/>
              </a:rPr>
              <a:t>- Setup/run -&gt; read README.md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434343"/>
                </a:solidFill>
                <a:latin typeface="Consolas"/>
              </a:rPr>
              <a:t>- Arch -&gt; read docs/arch.md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29184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0" i="0">
                <a:solidFill>
                  <a:srgbClr val="434343"/>
                </a:solidFill>
                <a:latin typeface="Arial"/>
              </a:rPr>
              <a:t>~Zero context cost until used. Best for large or occasional docs.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1463040"/>
            <a:ext cx="393192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663440" y="1463040"/>
            <a:ext cx="3931920" cy="402336"/>
          </a:xfrm>
          <a:prstGeom prst="roundRect">
            <a:avLst>
              <a:gd name="adj" fmla="val 6000"/>
            </a:avLst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64608" y="1536192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@IMPORT  =  EAGER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608" y="1956816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66666"/>
                </a:solidFill>
                <a:latin typeface="Arial"/>
              </a:rPr>
              <a:t>Loads the full file every session at startup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28032" y="2249424"/>
            <a:ext cx="3602736" cy="932688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828032" y="2249424"/>
            <a:ext cx="54864" cy="93268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0" y="2377440"/>
            <a:ext cx="3236976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1">
                <a:solidFill>
                  <a:srgbClr val="403FE8"/>
                </a:solidFill>
                <a:latin typeface="Consolas"/>
              </a:rPr>
              <a:t>@README.md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endParaRPr sz="900" b="1">
              <a:solidFill>
                <a:srgbClr val="403FE8"/>
              </a:solidFill>
              <a:latin typeface="Consolas"/>
            </a:endParaRP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Consolas"/>
              </a:rPr>
              <a:t>(full README in context every time)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8" y="329184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0" i="0">
                <a:solidFill>
                  <a:srgbClr val="434343"/>
                </a:solidFill>
                <a:latin typeface="Arial"/>
              </a:rPr>
              <a:t>Only for short, always-needed content — not a big README.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68496"/>
            <a:ext cx="8046720" cy="658368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3968496"/>
            <a:ext cx="64008" cy="65836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4059936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 i="0">
                <a:solidFill>
                  <a:srgbClr val="13135E"/>
                </a:solidFill>
                <a:latin typeface="Arial"/>
              </a:rPr>
              <a:t>For a README, keep the pointer (lazy) and give a clear trigger — "before X, read Y" — so Claude fetches it at the right moment. There's no special lazy-import syntax; it rides on Claude reading files on demand.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 — First Agent-Assisted Task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HOW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Draft it in minutes, then refine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029200" cy="16662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50" b="1" dirty="0">
                <a:solidFill>
                  <a:srgbClr val="403FE8"/>
                </a:solidFill>
                <a:latin typeface="Arial"/>
              </a:rPr>
              <a:t>1.  </a:t>
            </a:r>
            <a:r>
              <a:rPr sz="1150" dirty="0">
                <a:solidFill>
                  <a:srgbClr val="434343"/>
                </a:solidFill>
                <a:latin typeface="Arial"/>
              </a:rPr>
              <a:t>Run  /</a:t>
            </a:r>
            <a:r>
              <a:rPr sz="1150" dirty="0" err="1">
                <a:solidFill>
                  <a:srgbClr val="434343"/>
                </a:solidFill>
                <a:latin typeface="Arial"/>
              </a:rPr>
              <a:t>init</a:t>
            </a:r>
            <a:r>
              <a:rPr sz="1150" dirty="0">
                <a:solidFill>
                  <a:srgbClr val="434343"/>
                </a:solidFill>
                <a:latin typeface="Arial"/>
              </a:rPr>
              <a:t>  — Claude scans the repo and drafts a starter </a:t>
            </a:r>
            <a:r>
              <a:rPr sz="1150" dirty="0" err="1">
                <a:solidFill>
                  <a:srgbClr val="434343"/>
                </a:solidFill>
                <a:latin typeface="Arial"/>
              </a:rPr>
              <a:t>CLAUDE.md</a:t>
            </a:r>
            <a:r>
              <a:rPr sz="1150" dirty="0">
                <a:solidFill>
                  <a:srgbClr val="434343"/>
                </a:solidFill>
                <a:latin typeface="Arial"/>
              </a:rPr>
              <a:t>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50" b="1" dirty="0">
                <a:solidFill>
                  <a:srgbClr val="403FE8"/>
                </a:solidFill>
                <a:latin typeface="Arial"/>
              </a:rPr>
              <a:t>2.  </a:t>
            </a:r>
            <a:r>
              <a:rPr sz="1150" dirty="0">
                <a:solidFill>
                  <a:srgbClr val="434343"/>
                </a:solidFill>
                <a:latin typeface="Arial"/>
              </a:rPr>
              <a:t>Edit it down — keep what's true and useful; start from the FSL template.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50" b="1" dirty="0">
                <a:solidFill>
                  <a:srgbClr val="403FE8"/>
                </a:solidFill>
                <a:latin typeface="Arial"/>
              </a:rPr>
              <a:t>3.  </a:t>
            </a:r>
            <a:r>
              <a:rPr sz="1150" dirty="0">
                <a:solidFill>
                  <a:srgbClr val="434343"/>
                </a:solidFill>
                <a:latin typeface="Arial"/>
              </a:rPr>
              <a:t>Fix what it missed — add the real commands and conventions.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50" b="1" dirty="0">
                <a:solidFill>
                  <a:srgbClr val="403FE8"/>
                </a:solidFill>
                <a:latin typeface="Arial"/>
              </a:rPr>
              <a:t>4. </a:t>
            </a:r>
            <a:r>
              <a:rPr lang="en-US" sz="1150" dirty="0">
                <a:solidFill>
                  <a:srgbClr val="434343"/>
                </a:solidFill>
                <a:latin typeface="Arial"/>
              </a:rPr>
              <a:t>Capture as you go — say 'Add to </a:t>
            </a:r>
            <a:r>
              <a:rPr lang="en-US" sz="1150" dirty="0" err="1">
                <a:solidFill>
                  <a:srgbClr val="434343"/>
                </a:solidFill>
                <a:latin typeface="Arial"/>
              </a:rPr>
              <a:t>CLAUDE.md</a:t>
            </a:r>
            <a:r>
              <a:rPr lang="en-US" sz="1150" dirty="0">
                <a:solidFill>
                  <a:srgbClr val="434343"/>
                </a:solidFill>
                <a:latin typeface="Arial"/>
              </a:rPr>
              <a:t>: &lt;rule&gt;' and Claude edits it for you (use /memory to review).</a:t>
            </a:r>
            <a:endParaRPr sz="1150" dirty="0">
              <a:solidFill>
                <a:srgbClr val="434343"/>
              </a:solidFill>
              <a:latin typeface="Arial"/>
            </a:endParaRP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50" b="1" dirty="0">
                <a:solidFill>
                  <a:srgbClr val="403FE8"/>
                </a:solidFill>
                <a:latin typeface="Arial"/>
              </a:rPr>
              <a:t>5.  </a:t>
            </a:r>
            <a:r>
              <a:rPr sz="1150" dirty="0">
                <a:solidFill>
                  <a:srgbClr val="434343"/>
                </a:solidFill>
                <a:latin typeface="Arial"/>
              </a:rPr>
              <a:t>Commit it — it's now shared team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08760"/>
            <a:ext cx="2788920" cy="288036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06440" y="1508760"/>
            <a:ext cx="64008" cy="288036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53328" y="16916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HANDY TO KNOW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3328" y="2103120"/>
            <a:ext cx="2395728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00" b="1">
                <a:solidFill>
                  <a:srgbClr val="13135E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Personal overrides → CLAUDE.local.md (git-ignored).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00" b="1">
                <a:solidFill>
                  <a:srgbClr val="13135E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Pull in other docs with @path imports.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00" b="1">
                <a:solidFill>
                  <a:srgbClr val="13135E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Big repo? Add nested CLAUDE.md files per major directory.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 — First Agent-Assisted Task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VALIDATE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Smoke-test before you rely on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434343"/>
                </a:solidFill>
                <a:latin typeface="Arial"/>
              </a:rPr>
              <a:t>Start a fresh session and ask Claude three questions it can only answer from your CLAUDE.md: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669280" cy="4572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08483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403FE8"/>
                </a:solidFill>
                <a:latin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084831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3135E"/>
                </a:solidFill>
                <a:latin typeface="Arial"/>
              </a:rPr>
              <a:t>"How do I run the tests?"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51759"/>
            <a:ext cx="5669280" cy="4572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65175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403FE8"/>
                </a:solidFill>
                <a:latin typeface="Arial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651759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3135E"/>
                </a:solidFill>
                <a:latin typeface="Arial"/>
              </a:rPr>
              <a:t>"Where does &lt;feature&gt; live, and what pattern does it follow?"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18687"/>
            <a:ext cx="5669280" cy="4572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218687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403FE8"/>
                </a:solidFill>
                <a:latin typeface="Arial"/>
              </a:rP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218687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3135E"/>
                </a:solidFill>
                <a:latin typeface="Arial"/>
              </a:rPr>
              <a:t>"How do we deploy?"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084831"/>
            <a:ext cx="2194560" cy="1591056"/>
          </a:xfrm>
          <a:prstGeom prst="roundRect">
            <a:avLst>
              <a:gd name="adj" fmla="val 6000"/>
            </a:avLst>
          </a:prstGeom>
          <a:solidFill>
            <a:srgbClr val="131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01968" y="2286000"/>
            <a:ext cx="182880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If it can't answer, the gap is in your CLAUDE.md. Add it and retry.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03FE8"/>
                </a:solidFill>
                <a:latin typeface="Arial"/>
              </a:rPr>
              <a:t>Passing this 3-question smoke test is part of Lab 1 acceptance.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 — First Agent-Assisted Task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A short, real-world CLAUDE.md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8046720" cy="306324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864" cy="306324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545336"/>
            <a:ext cx="7680960" cy="2807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13135E"/>
                </a:solidFill>
                <a:latin typeface="Consolas"/>
              </a:rPr>
              <a:t># Project — Booking API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Consolas"/>
              </a:rPr>
              <a:t>Go service that books equipment reservations. Legacy .NET being modernized to Go.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endParaRPr sz="1000" b="0">
              <a:solidFill>
                <a:srgbClr val="666666"/>
              </a:solidFill>
              <a:latin typeface="Consolas"/>
            </a:endParaRP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403FE8"/>
                </a:solidFill>
                <a:latin typeface="Consolas"/>
              </a:rPr>
              <a:t>## Commands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434343"/>
                </a:solidFill>
                <a:latin typeface="Consolas"/>
              </a:rPr>
              <a:t>Build: make build   Test: make test   Lint: golangci-lint run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403FE8"/>
                </a:solidFill>
                <a:latin typeface="Consolas"/>
              </a:rPr>
              <a:t>## Conventions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434343"/>
                </a:solidFill>
                <a:latin typeface="Consolas"/>
              </a:rPr>
              <a:t>- Errors: wrap with %w, never swallow; log via internal/log.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434343"/>
                </a:solidFill>
                <a:latin typeface="Consolas"/>
              </a:rPr>
              <a:t>- SQL: parameterized queries only; schema changes in /migrations.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403FE8"/>
                </a:solidFill>
                <a:latin typeface="Consolas"/>
              </a:rPr>
              <a:t>## Key directories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434343"/>
                </a:solidFill>
                <a:latin typeface="Consolas"/>
              </a:rPr>
              <a:t>/cmd entrypoints  ·  /internal domain logic  ·  /migrations schema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403FE8"/>
                </a:solidFill>
                <a:latin typeface="Consolas"/>
              </a:rPr>
              <a:t>## Testing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434343"/>
                </a:solidFill>
                <a:latin typeface="Consolas"/>
              </a:rPr>
              <a:t>Table-driven tests; cover error paths. Run make test before every PR.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403FE8"/>
                </a:solidFill>
                <a:latin typeface="Consolas"/>
              </a:rPr>
              <a:t>## Deployment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434343"/>
                </a:solidFill>
                <a:latin typeface="Consolas"/>
              </a:rPr>
              <a:t>CI builds on merge to main; deploy via the runbook (link in /docs).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 — First Agent-Assisted Task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LAB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Your CLAUDE.md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12064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✓  </a:t>
            </a:r>
            <a:r>
              <a:rPr sz="1150">
                <a:solidFill>
                  <a:srgbClr val="434343"/>
                </a:solidFill>
                <a:latin typeface="Arial"/>
              </a:rPr>
              <a:t>Covers all five essentials (stack, conventions, key dirs, testing, deploy)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✓  </a:t>
            </a:r>
            <a:r>
              <a:rPr sz="1150">
                <a:solidFill>
                  <a:srgbClr val="434343"/>
                </a:solidFill>
                <a:latin typeface="Arial"/>
              </a:rPr>
              <a:t>100–200 lines, scannable — headings + bullets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✓  </a:t>
            </a:r>
            <a:r>
              <a:rPr sz="1150">
                <a:solidFill>
                  <a:srgbClr val="434343"/>
                </a:solidFill>
                <a:latin typeface="Arial"/>
              </a:rPr>
              <a:t>Exact build / test / lint / run commands included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✓  </a:t>
            </a:r>
            <a:r>
              <a:rPr sz="1150">
                <a:solidFill>
                  <a:srgbClr val="434343"/>
                </a:solidFill>
                <a:latin typeface="Arial"/>
              </a:rPr>
              <a:t>No secrets, tokens, or credentials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✓  </a:t>
            </a:r>
            <a:r>
              <a:rPr sz="1150">
                <a:solidFill>
                  <a:srgbClr val="434343"/>
                </a:solidFill>
                <a:latin typeface="Arial"/>
              </a:rPr>
              <a:t>Passes the 3-question smoke test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✓  </a:t>
            </a:r>
            <a:r>
              <a:rPr sz="1150">
                <a:solidFill>
                  <a:srgbClr val="434343"/>
                </a:solidFill>
                <a:latin typeface="Arial"/>
              </a:rPr>
              <a:t>Committed to the repo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554480"/>
            <a:ext cx="2697480" cy="27432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97880" y="1554480"/>
            <a:ext cx="64008" cy="27432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44768" y="175564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THEN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44768" y="214884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3135E"/>
                </a:solidFill>
                <a:latin typeface="Arial"/>
              </a:rPr>
              <a:t>Pick a small backlog task and ship it: Plan Mode → tests → PR → human review. Your CLAUDE.md makes every step sharper.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 — First Agent-Assisted Task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850605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1947672"/>
            <a:ext cx="457200" cy="64008"/>
          </a:xfrm>
          <a:prstGeom prst="rect">
            <a:avLst/>
          </a:prstGeom>
          <a:solidFill>
            <a:srgbClr val="A9B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8046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Arial"/>
              </a:rPr>
              <a:t>Now build yours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4612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CCD9FF"/>
                </a:solidFill>
                <a:latin typeface="Arial"/>
              </a:rPr>
              <a:t>Questions &amp; support: post in your team's AI-training Slack channel — your instructor and the Applied AI Engineer are there.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262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9B7F7"/>
                </a:solidFill>
                <a:latin typeface="Arial"/>
              </a:rPr>
              <a:t>FSL AI Training · Lab 1 — First Agent-Assisted Task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2412</TotalTime>
  <Words>1587</Words>
  <Application>Microsoft Macintosh PowerPoint</Application>
  <PresentationFormat>On-screen Show (16:9)</PresentationFormat>
  <Paragraphs>185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Tajmajer</cp:lastModifiedBy>
  <cp:revision>4</cp:revision>
  <dcterms:created xsi:type="dcterms:W3CDTF">2013-01-27T09:14:16Z</dcterms:created>
  <dcterms:modified xsi:type="dcterms:W3CDTF">2026-07-23T18:08:47Z</dcterms:modified>
  <cp:category/>
</cp:coreProperties>
</file>